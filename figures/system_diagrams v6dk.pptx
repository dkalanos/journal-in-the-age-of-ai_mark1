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62" r:id="rId13"/>
    <p:sldId id="261" r:id="rId7"/>
    <p:sldId id="260" r:id="rId6"/>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47" d="100"/>
          <a:sy n="147" d="100"/>
        </p:scale>
        <p:origin x="696"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5.xml"/><Relationship Id="rId4" Type="http://schemas.openxmlformats.org/officeDocument/2006/relationships/slide" Target="slides/slide6.xml"/><Relationship Id="rId5" Type="http://schemas.openxmlformats.org/officeDocument/2006/relationships/slide" Target="slides/slide7.xml"/><Relationship Id="rId6" Type="http://schemas.openxmlformats.org/officeDocument/2006/relationships/slide" Target="slides/slide4.xml"/><Relationship Id="rId7" Type="http://schemas.openxmlformats.org/officeDocument/2006/relationships/slide" Target="slides/slide3.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8FDFAB-22CB-49B9-8DDA-B4ADD72DD4E8}" type="datetimeFigureOut">
              <a:rPr lang="en-GB" smtClean="0"/>
              <a:t>14/10/2026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87E4A9-7FAB-4B69-92AA-38A660746221}" type="slidenum">
              <a:rPr lang="en-GB" smtClean="0"/>
              <a:t>‹#›</a:t>
            </a:fld>
            <a:endParaRPr lang="en-GB"/>
          </a:p>
        </p:txBody>
      </p:sp>
    </p:spTree>
    <p:extLst>
      <p:ext uri="{BB962C8B-B14F-4D97-AF65-F5344CB8AC3E}">
        <p14:creationId xmlns:p14="http://schemas.microsoft.com/office/powerpoint/2010/main" val="625909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GB"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65912" y="393192"/>
            <a:ext cx="11460175" cy="1005840"/>
          </a:xfrm>
          <a:prstGeom prst="rect">
            <a:avLst/>
          </a:prstGeom>
          <a:noFill/>
        </p:spPr>
        <p:txBody>
          <a:bodyPr wrap="square" lIns="0" tIns="0" rIns="0" bIns="0" anchor="ctr">
            <a:noAutofit/>
          </a:bodyPr>
          <a:lstStyle/>
          <a:p>
            <a:pPr algn="l">
              <a:spcAft>
                <a:spcPts val="0"/>
              </a:spcAft>
            </a:pPr>
            <a:r>
              <a:rPr lang="en-GB" sz="2800" b="1" i="0" dirty="0">
                <a:solidFill>
                  <a:schemeClr val="tx1"/>
                </a:solidFill>
                <a:latin typeface="Times New Roman" panose="02020603050405020304" pitchFamily="18" charset="0"/>
                <a:cs typeface="Times New Roman" panose="02020603050405020304" pitchFamily="18" charset="0"/>
              </a:rPr>
              <a:t>LEGEND</a:t>
            </a:r>
            <a:endParaRPr sz="2800" b="1" i="0" dirty="0">
              <a:solidFill>
                <a:schemeClr val="tx1"/>
              </a:solidFill>
              <a:latin typeface="Times New Roman" panose="02020603050405020304" pitchFamily="18" charset="0"/>
              <a:cs typeface="Times New Roman" panose="02020603050405020304" pitchFamily="18" charset="0"/>
            </a:endParaRPr>
          </a:p>
        </p:txBody>
      </p:sp>
      <p:sp>
        <p:nvSpPr>
          <p:cNvPr id="4" name="legend:frame" descr="frame"/>
          <p:cNvSpPr/>
          <p:nvPr/>
        </p:nvSpPr>
        <p:spPr>
          <a:xfrm>
            <a:off x="462233" y="1783080"/>
            <a:ext cx="11460175" cy="2834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legend:head:Roles "/>
          <p:cNvSpPr txBox="1"/>
          <p:nvPr/>
        </p:nvSpPr>
        <p:spPr>
          <a:xfrm>
            <a:off x="690833" y="1920240"/>
            <a:ext cx="3657600" cy="274320"/>
          </a:xfrm>
          <a:prstGeom prst="rect">
            <a:avLst/>
          </a:prstGeom>
          <a:noFill/>
        </p:spPr>
        <p:txBody>
          <a:bodyPr wrap="square" lIns="0" tIns="0" rIns="0" bIns="0" anchor="ctr">
            <a:noAutofit/>
          </a:bodyPr>
          <a:lstStyle/>
          <a:p>
            <a:pPr algn="l">
              <a:spcAft>
                <a:spcPts val="0"/>
              </a:spcAft>
            </a:pPr>
            <a:r>
              <a:rPr sz="1200" b="1" i="0" dirty="0">
                <a:solidFill>
                  <a:schemeClr val="tx1"/>
                </a:solidFill>
                <a:latin typeface="Times New Roman" panose="02020603050405020304" pitchFamily="18" charset="0"/>
                <a:cs typeface="Times New Roman" panose="02020603050405020304" pitchFamily="18" charset="0"/>
              </a:rPr>
              <a:t>Roles</a:t>
            </a:r>
          </a:p>
        </p:txBody>
      </p:sp>
      <p:sp>
        <p:nvSpPr>
          <p:cNvPr id="6" name="legend:head:States"/>
          <p:cNvSpPr txBox="1"/>
          <p:nvPr/>
        </p:nvSpPr>
        <p:spPr>
          <a:xfrm>
            <a:off x="4622753" y="1920240"/>
            <a:ext cx="3657600" cy="274320"/>
          </a:xfrm>
          <a:prstGeom prst="rect">
            <a:avLst/>
          </a:prstGeom>
          <a:noFill/>
        </p:spPr>
        <p:txBody>
          <a:bodyPr wrap="square" lIns="0" tIns="0" rIns="0" bIns="0" anchor="ctr">
            <a:noAutofit/>
          </a:bodyPr>
          <a:lstStyle/>
          <a:p>
            <a:pPr algn="l">
              <a:spcAft>
                <a:spcPts val="0"/>
              </a:spcAft>
            </a:pPr>
            <a:r>
              <a:rPr sz="1200" b="1" i="0" dirty="0">
                <a:solidFill>
                  <a:schemeClr val="tx1"/>
                </a:solidFill>
                <a:latin typeface="Times New Roman" panose="02020603050405020304" pitchFamily="18" charset="0"/>
                <a:cs typeface="Times New Roman" panose="02020603050405020304" pitchFamily="18" charset="0"/>
              </a:rPr>
              <a:t>States</a:t>
            </a:r>
          </a:p>
        </p:txBody>
      </p:sp>
      <p:sp>
        <p:nvSpPr>
          <p:cNvPr id="7" name="legend:head:Shapes"/>
          <p:cNvSpPr txBox="1"/>
          <p:nvPr/>
        </p:nvSpPr>
        <p:spPr>
          <a:xfrm>
            <a:off x="8554673" y="1920240"/>
            <a:ext cx="3200400" cy="274320"/>
          </a:xfrm>
          <a:prstGeom prst="rect">
            <a:avLst/>
          </a:prstGeom>
          <a:noFill/>
        </p:spPr>
        <p:txBody>
          <a:bodyPr wrap="square" lIns="0" tIns="0" rIns="0" bIns="0" anchor="ctr">
            <a:noAutofit/>
          </a:bodyPr>
          <a:lstStyle/>
          <a:p>
            <a:pPr algn="l">
              <a:spcAft>
                <a:spcPts val="0"/>
              </a:spcAft>
            </a:pPr>
            <a:r>
              <a:rPr sz="1200" b="1" i="0">
                <a:solidFill>
                  <a:schemeClr val="tx1"/>
                </a:solidFill>
                <a:latin typeface="Times New Roman" panose="02020603050405020304" pitchFamily="18" charset="0"/>
                <a:cs typeface="Times New Roman" panose="02020603050405020304" pitchFamily="18" charset="0"/>
              </a:rPr>
              <a:t>Shapes</a:t>
            </a:r>
          </a:p>
        </p:txBody>
      </p:sp>
      <p:sp>
        <p:nvSpPr>
          <p:cNvPr id="8" name="legend:role:journal" descr="frame"/>
          <p:cNvSpPr/>
          <p:nvPr/>
        </p:nvSpPr>
        <p:spPr>
          <a:xfrm>
            <a:off x="690833" y="2368296"/>
            <a:ext cx="237744" cy="237744"/>
          </a:xfrm>
          <a:prstGeom prst="rect">
            <a:avLst/>
          </a:prstGeom>
          <a:solidFill>
            <a:schemeClr val="accent1">
              <a:lumMod val="22000"/>
              <a:lumOff val="78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legend:role:journal:t"/>
          <p:cNvSpPr txBox="1"/>
          <p:nvPr/>
        </p:nvSpPr>
        <p:spPr>
          <a:xfrm>
            <a:off x="1038305" y="2331720"/>
            <a:ext cx="3291840" cy="310896"/>
          </a:xfrm>
          <a:prstGeom prst="rect">
            <a:avLst/>
          </a:prstGeom>
          <a:noFill/>
        </p:spPr>
        <p:txBody>
          <a:bodyPr wrap="square" lIns="0" tIns="0" rIns="0" bIns="0" anchor="ctr">
            <a:noAutofit/>
          </a:bodyPr>
          <a:lstStyle/>
          <a:p>
            <a:pPr algn="l">
              <a:spcAft>
                <a:spcPts val="0"/>
              </a:spcAft>
            </a:pPr>
            <a:r>
              <a:rPr sz="1000" b="1" i="0">
                <a:solidFill>
                  <a:srgbClr val="1E1E24"/>
                </a:solidFill>
                <a:latin typeface="Times New Roman"/>
              </a:rPr>
              <a:t>Journal </a:t>
            </a:r>
            <a:r>
              <a:rPr sz="1000" b="0" i="0">
                <a:solidFill>
                  <a:srgbClr val="1E1E24"/>
                </a:solidFill>
                <a:latin typeface="Times New Roman"/>
              </a:rPr>
              <a:t>— sets the criteria in public; certifies.</a:t>
            </a:r>
            <a:endParaRPr sz="1000" b="0" i="0" dirty="0">
              <a:solidFill>
                <a:schemeClr val="tx2"/>
              </a:solidFill>
              <a:latin typeface="Times New Roman" panose="02020603050405020304" pitchFamily="18" charset="0"/>
              <a:cs typeface="Times New Roman" panose="02020603050405020304" pitchFamily="18" charset="0"/>
            </a:endParaRPr>
          </a:p>
        </p:txBody>
      </p:sp>
      <p:sp>
        <p:nvSpPr>
          <p:cNvPr id="10" name="legend:role:author" descr="frame"/>
          <p:cNvSpPr/>
          <p:nvPr/>
        </p:nvSpPr>
        <p:spPr>
          <a:xfrm>
            <a:off x="690833" y="2734056"/>
            <a:ext cx="237744" cy="237744"/>
          </a:xfrm>
          <a:prstGeom prst="rect">
            <a:avLst/>
          </a:prstGeom>
          <a:solidFill>
            <a:schemeClr val="accent2">
              <a:lumMod val="22000"/>
              <a:lumOff val="78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legend:role:author:t"/>
          <p:cNvSpPr txBox="1"/>
          <p:nvPr/>
        </p:nvSpPr>
        <p:spPr>
          <a:xfrm>
            <a:off x="1038305" y="2697480"/>
            <a:ext cx="3291840" cy="310896"/>
          </a:xfrm>
          <a:prstGeom prst="rect">
            <a:avLst/>
          </a:prstGeom>
          <a:noFill/>
        </p:spPr>
        <p:txBody>
          <a:bodyPr wrap="square" lIns="0" tIns="0" rIns="0" bIns="0" anchor="ctr">
            <a:noAutofit/>
          </a:bodyPr>
          <a:lstStyle/>
          <a:p>
            <a:pPr algn="l">
              <a:spcAft>
                <a:spcPts val="0"/>
              </a:spcAft>
            </a:pPr>
            <a:r>
              <a:rPr sz="1000" b="1" i="0">
                <a:solidFill>
                  <a:srgbClr val="1E1E24"/>
                </a:solidFill>
                <a:latin typeface="Times New Roman"/>
              </a:rPr>
              <a:t>Author + AI </a:t>
            </a:r>
            <a:r>
              <a:rPr sz="1000" b="0" i="0">
                <a:solidFill>
                  <a:srgbClr val="1E1E24"/>
                </a:solidFill>
                <a:latin typeface="Times New Roman"/>
              </a:rPr>
              <a:t>— works however they like; AI keeps the record.</a:t>
            </a:r>
            <a:endParaRPr sz="1000" b="0" i="0" dirty="0">
              <a:solidFill>
                <a:schemeClr val="tx2"/>
              </a:solidFill>
              <a:latin typeface="Times New Roman" panose="02020603050405020304" pitchFamily="18" charset="0"/>
              <a:cs typeface="Times New Roman" panose="02020603050405020304" pitchFamily="18" charset="0"/>
            </a:endParaRPr>
          </a:p>
        </p:txBody>
      </p:sp>
      <p:sp>
        <p:nvSpPr>
          <p:cNvPr id="12" name="legend:role:machine" descr="frame"/>
          <p:cNvSpPr/>
          <p:nvPr/>
        </p:nvSpPr>
        <p:spPr>
          <a:xfrm>
            <a:off x="690833" y="3099816"/>
            <a:ext cx="237744" cy="237744"/>
          </a:xfrm>
          <a:prstGeom prst="rect">
            <a:avLst/>
          </a:prstGeom>
          <a:solidFill>
            <a:schemeClr val="accent3">
              <a:lumMod val="22000"/>
              <a:lumOff val="78000"/>
            </a:schemeClr>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 name="legend:role:machine:t"/>
          <p:cNvSpPr txBox="1"/>
          <p:nvPr/>
        </p:nvSpPr>
        <p:spPr>
          <a:xfrm>
            <a:off x="1038305" y="3063240"/>
            <a:ext cx="3291840" cy="310896"/>
          </a:xfrm>
          <a:prstGeom prst="rect">
            <a:avLst/>
          </a:prstGeom>
          <a:noFill/>
        </p:spPr>
        <p:txBody>
          <a:bodyPr wrap="square" lIns="0" tIns="0" rIns="0" bIns="0" anchor="ctr">
            <a:noAutofit/>
          </a:bodyPr>
          <a:lstStyle/>
          <a:p>
            <a:pPr algn="l">
              <a:spcAft>
                <a:spcPts val="0"/>
              </a:spcAft>
            </a:pPr>
            <a:r>
              <a:rPr sz="1000" b="1" i="0">
                <a:solidFill>
                  <a:srgbClr val="1E1E24"/>
                </a:solidFill>
                <a:latin typeface="Times New Roman"/>
              </a:rPr>
              <a:t>Machine </a:t>
            </a:r>
            <a:r>
              <a:rPr sz="1000" b="0" i="0">
                <a:solidFill>
                  <a:srgbClr val="1E1E24"/>
                </a:solidFill>
                <a:latin typeface="Times New Roman"/>
              </a:rPr>
              <a:t>— verifies; emits findings with pointers, never a decision.</a:t>
            </a:r>
          </a:p>
        </p:txBody>
      </p:sp>
      <p:sp>
        <p:nvSpPr>
          <p:cNvPr id="14" name="legend:role:human" descr="frame"/>
          <p:cNvSpPr/>
          <p:nvPr/>
        </p:nvSpPr>
        <p:spPr>
          <a:xfrm>
            <a:off x="690833" y="3465576"/>
            <a:ext cx="237744" cy="237744"/>
          </a:xfrm>
          <a:prstGeom prst="rect">
            <a:avLst/>
          </a:prstGeom>
          <a:solidFill>
            <a:schemeClr val="accent4">
              <a:lumMod val="22000"/>
              <a:lumOff val="78000"/>
            </a:schemeClr>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 name="legend:role:human:t"/>
          <p:cNvSpPr txBox="1"/>
          <p:nvPr/>
        </p:nvSpPr>
        <p:spPr>
          <a:xfrm>
            <a:off x="1038305" y="3429000"/>
            <a:ext cx="3291840" cy="310896"/>
          </a:xfrm>
          <a:prstGeom prst="rect">
            <a:avLst/>
          </a:prstGeom>
          <a:noFill/>
        </p:spPr>
        <p:txBody>
          <a:bodyPr wrap="square" lIns="0" tIns="0" rIns="0" bIns="0" anchor="ctr">
            <a:noAutofit/>
          </a:bodyPr>
          <a:lstStyle/>
          <a:p>
            <a:pPr algn="l">
              <a:spcAft>
                <a:spcPts val="0"/>
              </a:spcAft>
            </a:pPr>
            <a:r>
              <a:rPr sz="1000" b="1" i="0">
                <a:solidFill>
                  <a:srgbClr val="1E1E24"/>
                </a:solidFill>
                <a:latin typeface="Times New Roman"/>
              </a:rPr>
              <a:t>Named people </a:t>
            </a:r>
            <a:r>
              <a:rPr sz="1000" b="0" i="0">
                <a:solidFill>
                  <a:srgbClr val="1E1E24"/>
                </a:solidFill>
                <a:latin typeface="Times New Roman"/>
              </a:rPr>
              <a:t>— editors and reviewers; decide, and sign.</a:t>
            </a:r>
          </a:p>
        </p:txBody>
      </p:sp>
      <p:sp>
        <p:nvSpPr>
          <p:cNvPr id="16" name="legend:role:caveat" descr="frame"/>
          <p:cNvSpPr/>
          <p:nvPr/>
        </p:nvSpPr>
        <p:spPr>
          <a:xfrm>
            <a:off x="690833" y="3831336"/>
            <a:ext cx="237744" cy="237744"/>
          </a:xfrm>
          <a:prstGeom prst="rect">
            <a:avLst/>
          </a:prstGeom>
          <a:solidFill>
            <a:schemeClr val="accent5">
              <a:lumMod val="50000"/>
              <a:lumOff val="50000"/>
            </a:schemeClr>
          </a:solidFill>
          <a:ln w="9525">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7" name="legend:role:caveat:t"/>
          <p:cNvSpPr txBox="1"/>
          <p:nvPr/>
        </p:nvSpPr>
        <p:spPr>
          <a:xfrm>
            <a:off x="1038305" y="3794760"/>
            <a:ext cx="3291840" cy="310896"/>
          </a:xfrm>
          <a:prstGeom prst="rect">
            <a:avLst/>
          </a:prstGeom>
          <a:noFill/>
        </p:spPr>
        <p:txBody>
          <a:bodyPr wrap="square" lIns="0" tIns="0" rIns="0" bIns="0" anchor="ctr">
            <a:noAutofit/>
          </a:bodyPr>
          <a:lstStyle/>
          <a:p>
            <a:pPr algn="l">
              <a:spcAft>
                <a:spcPts val="0"/>
              </a:spcAft>
            </a:pPr>
            <a:r>
              <a:rPr sz="1000" b="1" i="0">
                <a:solidFill>
                  <a:srgbClr val="1E1E24"/>
                </a:solidFill>
                <a:latin typeface="Times New Roman"/>
              </a:rPr>
              <a:t>Limit </a:t>
            </a:r>
            <a:r>
              <a:rPr sz="1000" b="0" i="0">
                <a:solidFill>
                  <a:srgbClr val="1E1E24"/>
                </a:solidFill>
                <a:latin typeface="Times New Roman"/>
              </a:rPr>
              <a:t>— a stated limit of the design, with its response.</a:t>
            </a:r>
          </a:p>
        </p:txBody>
      </p:sp>
      <p:sp>
        <p:nvSpPr>
          <p:cNvPr id="18" name="legend:role:neutral" descr="frame"/>
          <p:cNvSpPr/>
          <p:nvPr/>
        </p:nvSpPr>
        <p:spPr>
          <a:xfrm>
            <a:off x="690833" y="4197096"/>
            <a:ext cx="237744" cy="237744"/>
          </a:xfrm>
          <a:prstGeom prst="rect">
            <a:avLst/>
          </a:prstGeom>
          <a:solidFill>
            <a:schemeClr val="accent6">
              <a:lumMod val="50000"/>
              <a:lumOff val="50000"/>
            </a:schemeClr>
          </a:solidFill>
          <a:ln w="9525">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9" name="legend:role:neutral:t"/>
          <p:cNvSpPr txBox="1"/>
          <p:nvPr/>
        </p:nvSpPr>
        <p:spPr>
          <a:xfrm>
            <a:off x="1038305" y="4160520"/>
            <a:ext cx="3291840" cy="310896"/>
          </a:xfrm>
          <a:prstGeom prst="rect">
            <a:avLst/>
          </a:prstGeom>
          <a:noFill/>
        </p:spPr>
        <p:txBody>
          <a:bodyPr wrap="square" lIns="0" tIns="0" rIns="0" bIns="0" anchor="ctr">
            <a:noAutofit/>
          </a:bodyPr>
          <a:lstStyle/>
          <a:p>
            <a:pPr algn="l">
              <a:spcAft>
                <a:spcPts val="0"/>
              </a:spcAft>
            </a:pPr>
            <a:r>
              <a:rPr sz="1000" b="1" i="0">
                <a:solidFill>
                  <a:srgbClr val="1E1E24"/>
                </a:solidFill>
                <a:latin typeface="Times New Roman"/>
              </a:rPr>
              <a:t>Neutral </a:t>
            </a:r>
            <a:r>
              <a:rPr sz="1000" b="0" i="0">
                <a:solidFill>
                  <a:srgbClr val="1E1E24"/>
                </a:solidFill>
                <a:latin typeface="Times New Roman"/>
              </a:rPr>
              <a:t>— open, or out of scope.</a:t>
            </a:r>
          </a:p>
        </p:txBody>
      </p:sp>
      <p:sp>
        <p:nvSpPr>
          <p:cNvPr id="20" name="legend:state:built" descr="artifact"/>
          <p:cNvSpPr/>
          <p:nvPr/>
        </p:nvSpPr>
        <p:spPr>
          <a:xfrm>
            <a:off x="4622753" y="2359152"/>
            <a:ext cx="502920" cy="256032"/>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21" name="legend:state:built:t"/>
          <p:cNvSpPr txBox="1"/>
          <p:nvPr/>
        </p:nvSpPr>
        <p:spPr>
          <a:xfrm>
            <a:off x="5244545" y="2331720"/>
            <a:ext cx="3017520" cy="310896"/>
          </a:xfrm>
          <a:prstGeom prst="rect">
            <a:avLst/>
          </a:prstGeom>
          <a:noFill/>
        </p:spPr>
        <p:txBody>
          <a:bodyPr wrap="square" lIns="0" tIns="0" rIns="0" bIns="0" anchor="ctr">
            <a:noAutofit/>
          </a:bodyPr>
          <a:lstStyle/>
          <a:p>
            <a:pPr algn="l">
              <a:spcAft>
                <a:spcPts val="0"/>
              </a:spcAft>
            </a:pPr>
            <a:r>
              <a:rPr sz="1000" b="0" i="0">
                <a:solidFill>
                  <a:srgbClr val="1E1E24"/>
                </a:solidFill>
                <a:latin typeface="Times New Roman"/>
              </a:rPr>
              <a:t>Built: runs in Mark 1 – tinted fill, solid border</a:t>
            </a:r>
          </a:p>
        </p:txBody>
      </p:sp>
      <p:sp>
        <p:nvSpPr>
          <p:cNvPr id="22" name="legend:state:specified" descr="artifact"/>
          <p:cNvSpPr/>
          <p:nvPr/>
        </p:nvSpPr>
        <p:spPr>
          <a:xfrm>
            <a:off x="4622753" y="2724912"/>
            <a:ext cx="502920" cy="256032"/>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23" name="legend:state:specified:t"/>
          <p:cNvSpPr txBox="1"/>
          <p:nvPr/>
        </p:nvSpPr>
        <p:spPr>
          <a:xfrm>
            <a:off x="5244545" y="2697480"/>
            <a:ext cx="3017520" cy="310896"/>
          </a:xfrm>
          <a:prstGeom prst="rect">
            <a:avLst/>
          </a:prstGeom>
          <a:noFill/>
        </p:spPr>
        <p:txBody>
          <a:bodyPr wrap="square" lIns="0" tIns="0" rIns="0" bIns="0" anchor="ctr">
            <a:noAutofit/>
          </a:bodyPr>
          <a:lstStyle/>
          <a:p>
            <a:pPr algn="l">
              <a:spcAft>
                <a:spcPts val="0"/>
              </a:spcAft>
            </a:pPr>
            <a:r>
              <a:rPr sz="1000" b="0" i="0" dirty="0">
                <a:solidFill>
                  <a:schemeClr val="tx2"/>
                </a:solidFill>
                <a:latin typeface="Times New Roman" panose="02020603050405020304" pitchFamily="18" charset="0"/>
                <a:cs typeface="Times New Roman" panose="02020603050405020304" pitchFamily="18" charset="0"/>
              </a:rPr>
              <a:t>Specified, not built – white fill, solid border</a:t>
            </a:r>
          </a:p>
        </p:txBody>
      </p:sp>
      <p:sp>
        <p:nvSpPr>
          <p:cNvPr id="24" name="legend:state:stretch" descr="artifact"/>
          <p:cNvSpPr/>
          <p:nvPr/>
        </p:nvSpPr>
        <p:spPr>
          <a:xfrm>
            <a:off x="4622753" y="3090672"/>
            <a:ext cx="502920" cy="256032"/>
          </a:xfrm>
          <a:prstGeom prst="rect">
            <a:avLst/>
          </a:prstGeom>
          <a:solidFill>
            <a:schemeClr val="bg1"/>
          </a:solidFill>
          <a:ln w="12700">
            <a:solidFill>
              <a:schemeClr val="accent3"/>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25" name="legend:state:stretch:t"/>
          <p:cNvSpPr txBox="1"/>
          <p:nvPr/>
        </p:nvSpPr>
        <p:spPr>
          <a:xfrm>
            <a:off x="5244545" y="3063240"/>
            <a:ext cx="3017520" cy="310896"/>
          </a:xfrm>
          <a:prstGeom prst="rect">
            <a:avLst/>
          </a:prstGeom>
          <a:noFill/>
        </p:spPr>
        <p:txBody>
          <a:bodyPr wrap="square" lIns="0" tIns="0" rIns="0" bIns="0" anchor="ctr">
            <a:noAutofit/>
          </a:bodyPr>
          <a:lstStyle/>
          <a:p>
            <a:pPr algn="l">
              <a:spcAft>
                <a:spcPts val="0"/>
              </a:spcAft>
            </a:pPr>
            <a:r>
              <a:rPr sz="1000" b="0" i="0" dirty="0">
                <a:solidFill>
                  <a:schemeClr val="tx2"/>
                </a:solidFill>
                <a:latin typeface="Times New Roman" panose="02020603050405020304" pitchFamily="18" charset="0"/>
                <a:cs typeface="Times New Roman" panose="02020603050405020304" pitchFamily="18" charset="0"/>
              </a:rPr>
              <a:t>Stretch goal – white fill, dashed border</a:t>
            </a:r>
          </a:p>
        </p:txBody>
      </p:sp>
      <p:sp>
        <p:nvSpPr>
          <p:cNvPr id="31" name="legend:state:note"/>
          <p:cNvSpPr txBox="1"/>
          <p:nvPr/>
        </p:nvSpPr>
        <p:spPr>
          <a:xfrm>
            <a:off x="4622753" y="4178808"/>
            <a:ext cx="3474720" cy="457200"/>
          </a:xfrm>
          <a:prstGeom prst="rect">
            <a:avLst/>
          </a:prstGeom>
          <a:noFill/>
        </p:spPr>
        <p:txBody>
          <a:bodyPr wrap="square" lIns="0" tIns="0" rIns="0" bIns="0" anchor="t">
            <a:noAutofit/>
          </a:bodyPr>
          <a:lstStyle/>
          <a:p>
            <a:pPr algn="l">
              <a:spcAft>
                <a:spcPts val="0"/>
              </a:spcAft>
            </a:pPr>
            <a:r>
              <a:rPr sz="900" b="0" i="1">
                <a:solidFill>
                  <a:srgbClr val="5C6068"/>
                </a:solidFill>
                <a:latin typeface="Times New Roman"/>
              </a:rPr>
              <a:t>Role is also carried by lane position and by shape, so colour is never the only channel; the states survive a greyscale print.</a:t>
            </a:r>
          </a:p>
        </p:txBody>
      </p:sp>
      <p:sp>
        <p:nvSpPr>
          <p:cNvPr id="32" name="legend:shape:artifact" descr="artifact"/>
          <p:cNvSpPr/>
          <p:nvPr/>
        </p:nvSpPr>
        <p:spPr>
          <a:xfrm>
            <a:off x="8554673" y="2304288"/>
            <a:ext cx="548640" cy="274320"/>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33" name="legend:shape:artifact:t"/>
          <p:cNvSpPr txBox="1"/>
          <p:nvPr/>
        </p:nvSpPr>
        <p:spPr>
          <a:xfrm>
            <a:off x="9213041" y="2286000"/>
            <a:ext cx="2514600" cy="310896"/>
          </a:xfrm>
          <a:prstGeom prst="rect">
            <a:avLst/>
          </a:prstGeom>
          <a:noFill/>
        </p:spPr>
        <p:txBody>
          <a:bodyPr wrap="square" lIns="0" tIns="0" rIns="0" bIns="0" anchor="ctr">
            <a:noAutofit/>
          </a:bodyPr>
          <a:lstStyle/>
          <a:p>
            <a:pPr algn="l">
              <a:spcAft>
                <a:spcPts val="0"/>
              </a:spcAft>
            </a:pPr>
            <a:r>
              <a:rPr sz="1000" b="0" i="0">
                <a:solidFill>
                  <a:srgbClr val="1E1E24"/>
                </a:solidFill>
                <a:latin typeface="Times New Roman"/>
              </a:rPr>
              <a:t>Artifact or published object</a:t>
            </a:r>
          </a:p>
        </p:txBody>
      </p:sp>
      <p:sp>
        <p:nvSpPr>
          <p:cNvPr id="34" name="legend:shape:process" descr="process"/>
          <p:cNvSpPr/>
          <p:nvPr/>
        </p:nvSpPr>
        <p:spPr>
          <a:xfrm>
            <a:off x="8554673" y="2628900"/>
            <a:ext cx="548640" cy="274320"/>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35" name="legend:shape:process:t"/>
          <p:cNvSpPr txBox="1"/>
          <p:nvPr/>
        </p:nvSpPr>
        <p:spPr>
          <a:xfrm>
            <a:off x="9213041" y="2610612"/>
            <a:ext cx="2514600" cy="310896"/>
          </a:xfrm>
          <a:prstGeom prst="rect">
            <a:avLst/>
          </a:prstGeom>
          <a:noFill/>
        </p:spPr>
        <p:txBody>
          <a:bodyPr wrap="square" lIns="0" tIns="0" rIns="0" bIns="0" anchor="ctr">
            <a:noAutofit/>
          </a:bodyPr>
          <a:lstStyle/>
          <a:p>
            <a:pPr algn="l">
              <a:spcAft>
                <a:spcPts val="0"/>
              </a:spcAft>
            </a:pPr>
            <a:r>
              <a:rPr sz="1000" b="0" i="0" dirty="0">
                <a:solidFill>
                  <a:schemeClr val="tx2"/>
                </a:solidFill>
                <a:latin typeface="Times New Roman" panose="02020603050405020304" pitchFamily="18" charset="0"/>
                <a:cs typeface="Times New Roman" panose="02020603050405020304" pitchFamily="18" charset="0"/>
              </a:rPr>
              <a:t>Process</a:t>
            </a:r>
          </a:p>
        </p:txBody>
      </p:sp>
      <p:sp>
        <p:nvSpPr>
          <p:cNvPr id="36" name="legend:shape:decision" descr="decision"/>
          <p:cNvSpPr/>
          <p:nvPr/>
        </p:nvSpPr>
        <p:spPr>
          <a:xfrm>
            <a:off x="8554673" y="2953512"/>
            <a:ext cx="548640" cy="274320"/>
          </a:xfrm>
          <a:prstGeom prst="diamond">
            <a:avLst/>
          </a:prstGeom>
          <a:solidFill>
            <a:schemeClr val="bg1"/>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37" name="legend:shape:decision:t"/>
          <p:cNvSpPr txBox="1"/>
          <p:nvPr/>
        </p:nvSpPr>
        <p:spPr>
          <a:xfrm>
            <a:off x="9213041" y="2935224"/>
            <a:ext cx="2514600" cy="310896"/>
          </a:xfrm>
          <a:prstGeom prst="rect">
            <a:avLst/>
          </a:prstGeom>
          <a:noFill/>
        </p:spPr>
        <p:txBody>
          <a:bodyPr wrap="square" lIns="0" tIns="0" rIns="0" bIns="0" anchor="ctr">
            <a:noAutofit/>
          </a:bodyPr>
          <a:lstStyle/>
          <a:p>
            <a:pPr algn="l">
              <a:spcAft>
                <a:spcPts val="0"/>
              </a:spcAft>
            </a:pPr>
            <a:r>
              <a:rPr sz="1000" b="0" i="0" dirty="0">
                <a:solidFill>
                  <a:schemeClr val="tx2"/>
                </a:solidFill>
                <a:latin typeface="Times New Roman" panose="02020603050405020304" pitchFamily="18" charset="0"/>
                <a:cs typeface="Times New Roman" panose="02020603050405020304" pitchFamily="18" charset="0"/>
              </a:rPr>
              <a:t>Decision - a named person only</a:t>
            </a:r>
          </a:p>
        </p:txBody>
      </p:sp>
      <p:sp>
        <p:nvSpPr>
          <p:cNvPr id="38" name="legend:shape:document" descr="document"/>
          <p:cNvSpPr/>
          <p:nvPr/>
        </p:nvSpPr>
        <p:spPr>
          <a:xfrm>
            <a:off x="8554673" y="3278124"/>
            <a:ext cx="548640" cy="274320"/>
          </a:xfrm>
          <a:prstGeom prst="flowChartDocumen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39" name="legend:shape:document:t"/>
          <p:cNvSpPr txBox="1"/>
          <p:nvPr/>
        </p:nvSpPr>
        <p:spPr>
          <a:xfrm>
            <a:off x="9213041" y="3259836"/>
            <a:ext cx="2514600" cy="310896"/>
          </a:xfrm>
          <a:prstGeom prst="rect">
            <a:avLst/>
          </a:prstGeom>
          <a:noFill/>
        </p:spPr>
        <p:txBody>
          <a:bodyPr wrap="square" lIns="0" tIns="0" rIns="0" bIns="0" anchor="ctr">
            <a:noAutofit/>
          </a:bodyPr>
          <a:lstStyle/>
          <a:p>
            <a:pPr algn="l">
              <a:spcAft>
                <a:spcPts val="0"/>
              </a:spcAft>
            </a:pPr>
            <a:r>
              <a:rPr sz="1000" b="0" i="0">
                <a:solidFill>
                  <a:srgbClr val="1E1E24"/>
                </a:solidFill>
                <a:latin typeface="Times New Roman"/>
              </a:rPr>
              <a:t>Findings report; publication; certificate</a:t>
            </a:r>
            <a:endParaRPr sz="1000" b="0" i="0" dirty="0">
              <a:solidFill>
                <a:schemeClr val="tx2"/>
              </a:solidFill>
              <a:latin typeface="Times New Roman" panose="02020603050405020304" pitchFamily="18" charset="0"/>
              <a:cs typeface="Times New Roman" panose="02020603050405020304" pitchFamily="18" charset="0"/>
            </a:endParaRPr>
          </a:p>
        </p:txBody>
      </p:sp>
      <p:sp>
        <p:nvSpPr>
          <p:cNvPr id="40" name="legend:shape:record" descr="record"/>
          <p:cNvSpPr/>
          <p:nvPr/>
        </p:nvSpPr>
        <p:spPr>
          <a:xfrm>
            <a:off x="8554673" y="3602736"/>
            <a:ext cx="548640" cy="274320"/>
          </a:xfrm>
          <a:prstGeom prst="flowChartMultidocumen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41" name="legend:shape:record:t"/>
          <p:cNvSpPr txBox="1"/>
          <p:nvPr/>
        </p:nvSpPr>
        <p:spPr>
          <a:xfrm>
            <a:off x="9213041" y="3584448"/>
            <a:ext cx="2514600" cy="310896"/>
          </a:xfrm>
          <a:prstGeom prst="rect">
            <a:avLst/>
          </a:prstGeom>
          <a:noFill/>
        </p:spPr>
        <p:txBody>
          <a:bodyPr wrap="square" lIns="0" tIns="0" rIns="0" bIns="0" anchor="ctr">
            <a:noAutofit/>
          </a:bodyPr>
          <a:lstStyle/>
          <a:p>
            <a:pPr algn="l">
              <a:spcAft>
                <a:spcPts val="0"/>
              </a:spcAft>
            </a:pPr>
            <a:r>
              <a:rPr sz="1000" b="0" i="0">
                <a:solidFill>
                  <a:schemeClr val="tx2"/>
                </a:solidFill>
                <a:latin typeface="Times New Roman" panose="02020603050405020304" pitchFamily="18" charset="0"/>
                <a:cs typeface="Times New Roman" panose="02020603050405020304" pitchFamily="18" charset="0"/>
              </a:rPr>
              <a:t>The research record</a:t>
            </a:r>
          </a:p>
        </p:txBody>
      </p:sp>
      <p:sp>
        <p:nvSpPr>
          <p:cNvPr id="42" name="legend:shape:judgment" descr="judgment"/>
          <p:cNvSpPr/>
          <p:nvPr/>
        </p:nvSpPr>
        <p:spPr>
          <a:xfrm>
            <a:off x="8554673" y="3927348"/>
            <a:ext cx="548640" cy="274320"/>
          </a:xfrm>
          <a:prstGeom prst="snip2Same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43" name="legend:shape:judgment:t"/>
          <p:cNvSpPr txBox="1"/>
          <p:nvPr/>
        </p:nvSpPr>
        <p:spPr>
          <a:xfrm>
            <a:off x="9213041" y="3909060"/>
            <a:ext cx="2514600" cy="310896"/>
          </a:xfrm>
          <a:prstGeom prst="rect">
            <a:avLst/>
          </a:prstGeom>
          <a:noFill/>
        </p:spPr>
        <p:txBody>
          <a:bodyPr wrap="square" lIns="0" tIns="0" rIns="0" bIns="0" anchor="ctr">
            <a:noAutofit/>
          </a:bodyPr>
          <a:lstStyle/>
          <a:p>
            <a:pPr algn="l">
              <a:spcAft>
                <a:spcPts val="0"/>
              </a:spcAft>
            </a:pPr>
            <a:r>
              <a:rPr sz="1000" b="0" i="0">
                <a:solidFill>
                  <a:schemeClr val="tx2"/>
                </a:solidFill>
                <a:latin typeface="Times New Roman" panose="02020603050405020304" pitchFamily="18" charset="0"/>
                <a:cs typeface="Times New Roman" panose="02020603050405020304" pitchFamily="18" charset="0"/>
              </a:rPr>
              <a:t>Human judgment</a:t>
            </a:r>
          </a:p>
        </p:txBody>
      </p:sp>
      <p:sp>
        <p:nvSpPr>
          <p:cNvPr id="44" name="legend:shape:terminal" descr="terminal"/>
          <p:cNvSpPr/>
          <p:nvPr/>
        </p:nvSpPr>
        <p:spPr>
          <a:xfrm>
            <a:off x="8554673" y="4251960"/>
            <a:ext cx="548640" cy="274320"/>
          </a:xfrm>
          <a:prstGeom prst="flowChartTerminator">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45" name="legend:shape:terminal:t"/>
          <p:cNvSpPr txBox="1"/>
          <p:nvPr/>
        </p:nvSpPr>
        <p:spPr>
          <a:xfrm>
            <a:off x="9213041" y="4233672"/>
            <a:ext cx="2514600" cy="310896"/>
          </a:xfrm>
          <a:prstGeom prst="rect">
            <a:avLst/>
          </a:prstGeom>
          <a:noFill/>
        </p:spPr>
        <p:txBody>
          <a:bodyPr wrap="square" lIns="0" tIns="0" rIns="0" bIns="0" anchor="ctr">
            <a:noAutofit/>
          </a:bodyPr>
          <a:lstStyle/>
          <a:p>
            <a:pPr algn="l">
              <a:spcAft>
                <a:spcPts val="0"/>
              </a:spcAft>
            </a:pPr>
            <a:r>
              <a:rPr sz="1000" b="0" i="0">
                <a:solidFill>
                  <a:schemeClr val="tx2"/>
                </a:solidFill>
                <a:latin typeface="Times New Roman" panose="02020603050405020304" pitchFamily="18" charset="0"/>
                <a:cs typeface="Times New Roman" panose="02020603050405020304" pitchFamily="18" charset="0"/>
              </a:rPr>
              <a:t>Terminal state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28600"/>
            <a:ext cx="11430000" cy="457200"/>
          </a:xfrm>
          <a:prstGeom prst="rect">
            <a:avLst/>
          </a:prstGeom>
          <a:noFill/>
        </p:spPr>
        <p:txBody>
          <a:bodyPr wrap="square" lIns="27432" rIns="27432" tIns="18288" bIns="18288" anchor="t">
            <a:spAutoFit/>
          </a:bodyPr>
          <a:lstStyle/>
          <a:p>
            <a:pPr algn="l"/>
            <a:r>
              <a:rPr sz="2400" b="1" i="0">
                <a:solidFill>
                  <a:srgbClr val="1E1E24"/>
                </a:solidFill>
                <a:latin typeface="Times New Roman"/>
              </a:rPr>
              <a:t>Fig. 1 - The journal, before and after</a:t>
            </a:r>
          </a:p>
        </p:txBody>
      </p:sp>
      <p:sp>
        <p:nvSpPr>
          <p:cNvPr id="3" name="TextBox 2"/>
          <p:cNvSpPr txBox="1"/>
          <p:nvPr/>
        </p:nvSpPr>
        <p:spPr>
          <a:xfrm>
            <a:off x="365760" y="713232"/>
            <a:ext cx="11430000" cy="365760"/>
          </a:xfrm>
          <a:prstGeom prst="rect">
            <a:avLst/>
          </a:prstGeom>
          <a:noFill/>
        </p:spPr>
        <p:txBody>
          <a:bodyPr wrap="square" lIns="27432" rIns="27432" tIns="18288" bIns="18288" anchor="t">
            <a:spAutoFit/>
          </a:bodyPr>
          <a:lstStyle/>
          <a:p>
            <a:pPr algn="l"/>
            <a:r>
              <a:rPr sz="1100" b="0" i="1">
                <a:solidFill>
                  <a:srgbClr val="5C6068"/>
                </a:solidFill>
                <a:latin typeface="Times New Roman"/>
              </a:rPr>
              <a:t>The same institution, with the print-era arrangements replaced by arrangements for a world in which keeping, inspecting, and reading records at scale are cheap.</a:t>
            </a:r>
          </a:p>
        </p:txBody>
      </p:sp>
      <p:sp>
        <p:nvSpPr>
          <p:cNvPr id="4" name="TextBox 3"/>
          <p:cNvSpPr txBox="1"/>
          <p:nvPr/>
        </p:nvSpPr>
        <p:spPr>
          <a:xfrm>
            <a:off x="1828800" y="1097280"/>
            <a:ext cx="3566160" cy="274320"/>
          </a:xfrm>
          <a:prstGeom prst="rect">
            <a:avLst/>
          </a:prstGeom>
          <a:noFill/>
        </p:spPr>
        <p:txBody>
          <a:bodyPr wrap="square" lIns="27432" rIns="27432" tIns="18288" bIns="18288" anchor="t">
            <a:spAutoFit/>
          </a:bodyPr>
          <a:lstStyle/>
          <a:p>
            <a:pPr algn="l"/>
            <a:r>
              <a:rPr sz="1000" b="1" i="0">
                <a:solidFill>
                  <a:srgbClr val="5C6068"/>
                </a:solidFill>
                <a:latin typeface="Times New Roman"/>
              </a:rPr>
              <a:t>Today — arrangements for print-era costs</a:t>
            </a:r>
          </a:p>
        </p:txBody>
      </p:sp>
      <p:sp>
        <p:nvSpPr>
          <p:cNvPr id="5" name="TextBox 4"/>
          <p:cNvSpPr txBox="1"/>
          <p:nvPr/>
        </p:nvSpPr>
        <p:spPr>
          <a:xfrm>
            <a:off x="5486400" y="1097280"/>
            <a:ext cx="1417320" cy="274320"/>
          </a:xfrm>
          <a:prstGeom prst="rect">
            <a:avLst/>
          </a:prstGeom>
          <a:noFill/>
        </p:spPr>
        <p:txBody>
          <a:bodyPr wrap="square" lIns="27432" rIns="27432" tIns="18288" bIns="18288" anchor="t">
            <a:spAutoFit/>
          </a:bodyPr>
          <a:lstStyle/>
          <a:p>
            <a:pPr algn="ctr"/>
            <a:r>
              <a:rPr sz="1000" b="1" i="0">
                <a:solidFill>
                  <a:srgbClr val="5C6068"/>
                </a:solidFill>
                <a:latin typeface="Times New Roman"/>
              </a:rPr>
              <a:t>The cost that fell</a:t>
            </a:r>
          </a:p>
        </p:txBody>
      </p:sp>
      <p:sp>
        <p:nvSpPr>
          <p:cNvPr id="6" name="TextBox 5"/>
          <p:cNvSpPr txBox="1"/>
          <p:nvPr/>
        </p:nvSpPr>
        <p:spPr>
          <a:xfrm>
            <a:off x="6995160" y="1097280"/>
            <a:ext cx="4846320" cy="274320"/>
          </a:xfrm>
          <a:prstGeom prst="rect">
            <a:avLst/>
          </a:prstGeom>
          <a:noFill/>
        </p:spPr>
        <p:txBody>
          <a:bodyPr wrap="square" lIns="27432" rIns="27432" tIns="18288" bIns="18288" anchor="t">
            <a:spAutoFit/>
          </a:bodyPr>
          <a:lstStyle/>
          <a:p>
            <a:pPr algn="l"/>
            <a:r>
              <a:rPr sz="1000" b="1" i="0">
                <a:solidFill>
                  <a:srgbClr val="5C6068"/>
                </a:solidFill>
                <a:latin typeface="Times New Roman"/>
              </a:rPr>
              <a:t>After — the same journal, redesigned</a:t>
            </a:r>
          </a:p>
        </p:txBody>
      </p:sp>
      <p:sp>
        <p:nvSpPr>
          <p:cNvPr id="7" name="TextBox 6"/>
          <p:cNvSpPr txBox="1"/>
          <p:nvPr/>
        </p:nvSpPr>
        <p:spPr>
          <a:xfrm>
            <a:off x="365760" y="1417320"/>
            <a:ext cx="1417320" cy="548640"/>
          </a:xfrm>
          <a:prstGeom prst="rect">
            <a:avLst/>
          </a:prstGeom>
          <a:noFill/>
        </p:spPr>
        <p:txBody>
          <a:bodyPr wrap="square" lIns="27432" rIns="27432" tIns="18288" bIns="18288" anchor="ctr">
            <a:spAutoFit/>
          </a:bodyPr>
          <a:lstStyle/>
          <a:p>
            <a:pPr algn="l"/>
            <a:r>
              <a:rPr sz="950" b="1" i="0">
                <a:solidFill>
                  <a:srgbClr val="1E1E24"/>
                </a:solidFill>
                <a:latin typeface="Times New Roman"/>
              </a:rPr>
              <a:t>The journal publishes, in advance</a:t>
            </a:r>
          </a:p>
        </p:txBody>
      </p:sp>
      <p:sp>
        <p:nvSpPr>
          <p:cNvPr id="8" name="Rectangle 7"/>
          <p:cNvSpPr/>
          <p:nvPr/>
        </p:nvSpPr>
        <p:spPr>
          <a:xfrm>
            <a:off x="1828800" y="1417320"/>
            <a:ext cx="3566160" cy="548640"/>
          </a:xfrm>
          <a:prstGeom prst="rect">
            <a:avLst/>
          </a:prstGeom>
          <a:solidFill>
            <a:srgbClr val="EEEFF1"/>
          </a:solidFill>
          <a:ln w="12700">
            <a:solidFill>
              <a:srgbClr val="9A9EA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0" i="0">
                <a:solidFill>
                  <a:srgbClr val="1E1E24"/>
                </a:solidFill>
                <a:latin typeface="Times New Roman"/>
              </a:rPr>
              <a:t>Formatting instructions and a statement of scope.</a:t>
            </a:r>
          </a:p>
        </p:txBody>
      </p:sp>
      <p:sp>
        <p:nvSpPr>
          <p:cNvPr id="9" name="Right Arrow 8"/>
          <p:cNvSpPr/>
          <p:nvPr/>
        </p:nvSpPr>
        <p:spPr>
          <a:xfrm>
            <a:off x="5897880" y="1645920"/>
            <a:ext cx="594360" cy="91440"/>
          </a:xfrm>
          <a:prstGeom prst="rightArrow">
            <a:avLst/>
          </a:prstGeom>
          <a:solidFill>
            <a:srgbClr val="9A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995160" y="1417320"/>
            <a:ext cx="4846320" cy="548640"/>
          </a:xfrm>
          <a:prstGeom prst="rect">
            <a:avLst/>
          </a:prstGeom>
          <a:solidFill>
            <a:schemeClr val="accent1">
              <a:lumMod val="22000"/>
              <a:lumOff val="78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1" i="0">
                <a:solidFill>
                  <a:srgbClr val="1E1E24"/>
                </a:solidFill>
                <a:latin typeface="Times New Roman"/>
              </a:rPr>
              <a:t>Five objects, versioned: </a:t>
            </a:r>
            <a:r>
              <a:rPr sz="850" b="0" i="0">
                <a:solidFill>
                  <a:srgbClr val="1E1E24"/>
                </a:solidFill>
                <a:latin typeface="Times New Roman"/>
              </a:rPr>
              <a:t>the record protocol (shared across journals), the checks, the standard they apply, the mapping from findings to actions, and this community's interest criteria.</a:t>
            </a:r>
          </a:p>
        </p:txBody>
      </p:sp>
      <p:sp>
        <p:nvSpPr>
          <p:cNvPr id="11" name="TextBox 10"/>
          <p:cNvSpPr txBox="1"/>
          <p:nvPr/>
        </p:nvSpPr>
        <p:spPr>
          <a:xfrm>
            <a:off x="365760" y="2020824"/>
            <a:ext cx="1417320" cy="548640"/>
          </a:xfrm>
          <a:prstGeom prst="rect">
            <a:avLst/>
          </a:prstGeom>
          <a:noFill/>
        </p:spPr>
        <p:txBody>
          <a:bodyPr wrap="square" lIns="27432" rIns="27432" tIns="18288" bIns="18288" anchor="ctr">
            <a:spAutoFit/>
          </a:bodyPr>
          <a:lstStyle/>
          <a:p>
            <a:pPr algn="l"/>
            <a:r>
              <a:rPr sz="950" b="1" i="0">
                <a:solidFill>
                  <a:srgbClr val="1E1E24"/>
                </a:solidFill>
                <a:latin typeface="Times New Roman"/>
              </a:rPr>
              <a:t>The author submits</a:t>
            </a:r>
          </a:p>
        </p:txBody>
      </p:sp>
      <p:sp>
        <p:nvSpPr>
          <p:cNvPr id="12" name="Rectangle 11"/>
          <p:cNvSpPr/>
          <p:nvPr/>
        </p:nvSpPr>
        <p:spPr>
          <a:xfrm>
            <a:off x="1828800" y="2020824"/>
            <a:ext cx="3566160" cy="548640"/>
          </a:xfrm>
          <a:prstGeom prst="rect">
            <a:avLst/>
          </a:prstGeom>
          <a:solidFill>
            <a:srgbClr val="EEEFF1"/>
          </a:solidFill>
          <a:ln w="12700">
            <a:solidFill>
              <a:srgbClr val="9A9EA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0" i="0">
                <a:solidFill>
                  <a:srgbClr val="1E1E24"/>
                </a:solidFill>
                <a:latin typeface="Times New Roman"/>
              </a:rPr>
              <a:t>A manuscript. Data stay with the author, taken on trust; citations point to sources few reviewers check; replication packages, where required, come after acceptance.</a:t>
            </a:r>
          </a:p>
        </p:txBody>
      </p:sp>
      <p:sp>
        <p:nvSpPr>
          <p:cNvPr id="13" name="TextBox 12"/>
          <p:cNvSpPr txBox="1"/>
          <p:nvPr/>
        </p:nvSpPr>
        <p:spPr>
          <a:xfrm>
            <a:off x="5486400" y="2020824"/>
            <a:ext cx="1417320" cy="548640"/>
          </a:xfrm>
          <a:prstGeom prst="rect">
            <a:avLst/>
          </a:prstGeom>
          <a:noFill/>
        </p:spPr>
        <p:txBody>
          <a:bodyPr wrap="square" lIns="27432" rIns="27432" tIns="18288" bIns="18288" anchor="ctr">
            <a:spAutoFit/>
          </a:bodyPr>
          <a:lstStyle/>
          <a:p>
            <a:pPr algn="ctr"/>
            <a:r>
              <a:rPr sz="850" b="0" i="1">
                <a:solidFill>
                  <a:srgbClr val="5C6068"/>
                </a:solidFill>
                <a:latin typeface="Times New Roman"/>
              </a:rPr>
              <a:t>keeping a complete record</a:t>
            </a:r>
          </a:p>
        </p:txBody>
      </p:sp>
      <p:sp>
        <p:nvSpPr>
          <p:cNvPr id="14" name="Right Arrow 13"/>
          <p:cNvSpPr/>
          <p:nvPr/>
        </p:nvSpPr>
        <p:spPr>
          <a:xfrm>
            <a:off x="5897880" y="2423160"/>
            <a:ext cx="594360" cy="91440"/>
          </a:xfrm>
          <a:prstGeom prst="rightArrow">
            <a:avLst/>
          </a:prstGeom>
          <a:solidFill>
            <a:srgbClr val="9A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2020824"/>
            <a:ext cx="4846320" cy="548640"/>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1" i="0">
                <a:solidFill>
                  <a:srgbClr val="1E1E24"/>
                </a:solidFill>
                <a:latin typeface="Times New Roman"/>
              </a:rPr>
              <a:t>The research record: </a:t>
            </a:r>
            <a:r>
              <a:rPr sz="850" b="0" i="0">
                <a:solidFill>
                  <a:srgbClr val="1E1E24"/>
                </a:solidFill>
                <a:latin typeface="Times New Roman"/>
              </a:rPr>
              <a:t>paper, appendix, the author's AI appendix, materials, provenance, declarations, kept by AI as the work happens. Working history at the author's choice.</a:t>
            </a:r>
          </a:p>
        </p:txBody>
      </p:sp>
      <p:sp>
        <p:nvSpPr>
          <p:cNvPr id="16" name="TextBox 15"/>
          <p:cNvSpPr txBox="1"/>
          <p:nvPr/>
        </p:nvSpPr>
        <p:spPr>
          <a:xfrm>
            <a:off x="365760" y="2624328"/>
            <a:ext cx="1417320" cy="548640"/>
          </a:xfrm>
          <a:prstGeom prst="rect">
            <a:avLst/>
          </a:prstGeom>
          <a:noFill/>
        </p:spPr>
        <p:txBody>
          <a:bodyPr wrap="square" lIns="27432" rIns="27432" tIns="18288" bIns="18288" anchor="ctr">
            <a:spAutoFit/>
          </a:bodyPr>
          <a:lstStyle/>
          <a:p>
            <a:pPr algn="l"/>
            <a:r>
              <a:rPr sz="950" b="1" i="0">
                <a:solidFill>
                  <a:srgbClr val="1E1E24"/>
                </a:solidFill>
                <a:latin typeface="Times New Roman"/>
              </a:rPr>
              <a:t>The paper is</a:t>
            </a:r>
          </a:p>
        </p:txBody>
      </p:sp>
      <p:sp>
        <p:nvSpPr>
          <p:cNvPr id="17" name="Rectangle 16"/>
          <p:cNvSpPr/>
          <p:nvPr/>
        </p:nvSpPr>
        <p:spPr>
          <a:xfrm>
            <a:off x="1828800" y="2624328"/>
            <a:ext cx="3566160" cy="548640"/>
          </a:xfrm>
          <a:prstGeom prst="rect">
            <a:avLst/>
          </a:prstGeom>
          <a:solidFill>
            <a:srgbClr val="EEEFF1"/>
          </a:solidFill>
          <a:ln w="12700">
            <a:solidFill>
              <a:srgbClr val="9A9EA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0" i="0">
                <a:solidFill>
                  <a:srgbClr val="1E1E24"/>
                </a:solidFill>
                <a:latin typeface="Times New Roman"/>
              </a:rPr>
              <a:t>One linear narrative, fixed length, compressed methods, a reference list standing in for the sources; an online appendix few read and fewer check.</a:t>
            </a:r>
          </a:p>
        </p:txBody>
      </p:sp>
      <p:sp>
        <p:nvSpPr>
          <p:cNvPr id="18" name="TextBox 17"/>
          <p:cNvSpPr txBox="1"/>
          <p:nvPr/>
        </p:nvSpPr>
        <p:spPr>
          <a:xfrm>
            <a:off x="5486400" y="2624328"/>
            <a:ext cx="1417320" cy="548640"/>
          </a:xfrm>
          <a:prstGeom prst="rect">
            <a:avLst/>
          </a:prstGeom>
          <a:noFill/>
        </p:spPr>
        <p:txBody>
          <a:bodyPr wrap="square" lIns="27432" rIns="27432" tIns="18288" bIns="18288" anchor="ctr">
            <a:spAutoFit/>
          </a:bodyPr>
          <a:lstStyle/>
          <a:p>
            <a:pPr algn="ctr"/>
            <a:r>
              <a:rPr sz="850" b="0" i="1">
                <a:solidFill>
                  <a:srgbClr val="5C6068"/>
                </a:solidFill>
                <a:latin typeface="Times New Roman"/>
              </a:rPr>
              <a:t>pages (the internet)</a:t>
            </a:r>
          </a:p>
        </p:txBody>
      </p:sp>
      <p:sp>
        <p:nvSpPr>
          <p:cNvPr id="19" name="Right Arrow 18"/>
          <p:cNvSpPr/>
          <p:nvPr/>
        </p:nvSpPr>
        <p:spPr>
          <a:xfrm>
            <a:off x="5897880" y="3026664"/>
            <a:ext cx="594360" cy="91440"/>
          </a:xfrm>
          <a:prstGeom prst="rightArrow">
            <a:avLst/>
          </a:prstGeom>
          <a:solidFill>
            <a:srgbClr val="9A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995160" y="2624328"/>
            <a:ext cx="4846320" cy="548640"/>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1" i="0">
                <a:solidFill>
                  <a:srgbClr val="1E1E24"/>
                </a:solidFill>
                <a:latin typeface="Times New Roman"/>
              </a:rPr>
              <a:t>Three layers: </a:t>
            </a:r>
            <a:r>
              <a:rPr sz="850" b="0" i="0">
                <a:solidFill>
                  <a:srgbClr val="1E1E24"/>
                </a:solidFill>
                <a:latin typeface="Times New Roman"/>
              </a:rPr>
              <a:t>a paper of any length, for people; an appendix of proofs, procedures, and full tables, for the reader who checks; the author's AI appendix, in a published form, for the reader that evaluates. Paper, appendix, and record correspond, checkably.</a:t>
            </a:r>
          </a:p>
        </p:txBody>
      </p:sp>
      <p:sp>
        <p:nvSpPr>
          <p:cNvPr id="21" name="TextBox 20"/>
          <p:cNvSpPr txBox="1"/>
          <p:nvPr/>
        </p:nvSpPr>
        <p:spPr>
          <a:xfrm>
            <a:off x="365760" y="3227832"/>
            <a:ext cx="1417320" cy="548640"/>
          </a:xfrm>
          <a:prstGeom prst="rect">
            <a:avLst/>
          </a:prstGeom>
          <a:noFill/>
        </p:spPr>
        <p:txBody>
          <a:bodyPr wrap="square" lIns="27432" rIns="27432" tIns="18288" bIns="18288" anchor="ctr">
            <a:spAutoFit/>
          </a:bodyPr>
          <a:lstStyle/>
          <a:p>
            <a:pPr algn="l"/>
            <a:r>
              <a:rPr sz="950" b="1" i="0">
                <a:solidFill>
                  <a:srgbClr val="1E1E24"/>
                </a:solidFill>
                <a:latin typeface="Times New Roman"/>
              </a:rPr>
              <a:t>Who verifies</a:t>
            </a:r>
          </a:p>
        </p:txBody>
      </p:sp>
      <p:sp>
        <p:nvSpPr>
          <p:cNvPr id="22" name="Rectangle 21"/>
          <p:cNvSpPr/>
          <p:nvPr/>
        </p:nvSpPr>
        <p:spPr>
          <a:xfrm>
            <a:off x="1828800" y="3227832"/>
            <a:ext cx="3566160" cy="548640"/>
          </a:xfrm>
          <a:prstGeom prst="rect">
            <a:avLst/>
          </a:prstGeom>
          <a:solidFill>
            <a:srgbClr val="EEEFF1"/>
          </a:solidFill>
          <a:ln w="12700">
            <a:solidFill>
              <a:srgbClr val="9A9EA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0" i="0">
                <a:solidFill>
                  <a:srgbClr val="1E1E24"/>
                </a:solidFill>
                <a:latin typeface="Times New Roman"/>
              </a:rPr>
              <a:t>Reviewers, unpaid, by reading. Much of what a paper rests on cannot practically be checked.</a:t>
            </a:r>
          </a:p>
        </p:txBody>
      </p:sp>
      <p:sp>
        <p:nvSpPr>
          <p:cNvPr id="23" name="TextBox 22"/>
          <p:cNvSpPr txBox="1"/>
          <p:nvPr/>
        </p:nvSpPr>
        <p:spPr>
          <a:xfrm>
            <a:off x="5486400" y="3227832"/>
            <a:ext cx="1417320" cy="548640"/>
          </a:xfrm>
          <a:prstGeom prst="rect">
            <a:avLst/>
          </a:prstGeom>
          <a:noFill/>
        </p:spPr>
        <p:txBody>
          <a:bodyPr wrap="square" lIns="27432" rIns="27432" tIns="18288" bIns="18288" anchor="ctr">
            <a:spAutoFit/>
          </a:bodyPr>
          <a:lstStyle/>
          <a:p>
            <a:pPr algn="ctr"/>
            <a:r>
              <a:rPr sz="850" b="0" i="1">
                <a:solidFill>
                  <a:srgbClr val="5C6068"/>
                </a:solidFill>
                <a:latin typeface="Times New Roman"/>
              </a:rPr>
              <a:t>inspecting and re-executing a record</a:t>
            </a:r>
          </a:p>
        </p:txBody>
      </p:sp>
      <p:sp>
        <p:nvSpPr>
          <p:cNvPr id="24" name="Right Arrow 23"/>
          <p:cNvSpPr/>
          <p:nvPr/>
        </p:nvSpPr>
        <p:spPr>
          <a:xfrm>
            <a:off x="5897880" y="3630168"/>
            <a:ext cx="594360" cy="91440"/>
          </a:xfrm>
          <a:prstGeom prst="rightArrow">
            <a:avLst/>
          </a:prstGeom>
          <a:solidFill>
            <a:srgbClr val="9A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95160" y="3227832"/>
            <a:ext cx="4846320" cy="548640"/>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1" i="0">
                <a:solidFill>
                  <a:srgbClr val="1E1E24"/>
                </a:solidFill>
                <a:latin typeface="Times New Roman"/>
              </a:rPr>
              <a:t>The machine, at three levels: </a:t>
            </a:r>
            <a:r>
              <a:rPr sz="850" b="0" i="0">
                <a:solidFill>
                  <a:srgbClr val="1E1E24"/>
                </a:solidFill>
                <a:latin typeface="Times New Roman"/>
              </a:rPr>
              <a:t>form and correspondence (integrity); warrant against the standard, the literature, and re-execution. Findings with pointers, never a verdict. Authors run the same checks first.</a:t>
            </a:r>
          </a:p>
        </p:txBody>
      </p:sp>
      <p:sp>
        <p:nvSpPr>
          <p:cNvPr id="26" name="TextBox 25"/>
          <p:cNvSpPr txBox="1"/>
          <p:nvPr/>
        </p:nvSpPr>
        <p:spPr>
          <a:xfrm>
            <a:off x="365760" y="3831336"/>
            <a:ext cx="1417320" cy="548640"/>
          </a:xfrm>
          <a:prstGeom prst="rect">
            <a:avLst/>
          </a:prstGeom>
          <a:noFill/>
        </p:spPr>
        <p:txBody>
          <a:bodyPr wrap="square" lIns="27432" rIns="27432" tIns="18288" bIns="18288" anchor="ctr">
            <a:spAutoFit/>
          </a:bodyPr>
          <a:lstStyle/>
          <a:p>
            <a:pPr algn="l"/>
            <a:r>
              <a:rPr sz="950" b="1" i="0">
                <a:solidFill>
                  <a:srgbClr val="1E1E24"/>
                </a:solidFill>
                <a:latin typeface="Times New Roman"/>
              </a:rPr>
              <a:t>Who decides, and how</a:t>
            </a:r>
          </a:p>
        </p:txBody>
      </p:sp>
      <p:sp>
        <p:nvSpPr>
          <p:cNvPr id="27" name="Rectangle 26"/>
          <p:cNvSpPr/>
          <p:nvPr/>
        </p:nvSpPr>
        <p:spPr>
          <a:xfrm>
            <a:off x="1828800" y="3831336"/>
            <a:ext cx="3566160" cy="548640"/>
          </a:xfrm>
          <a:prstGeom prst="rect">
            <a:avLst/>
          </a:prstGeom>
          <a:solidFill>
            <a:srgbClr val="EEEFF1"/>
          </a:solidFill>
          <a:ln w="12700">
            <a:solidFill>
              <a:srgbClr val="9A9EA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0" i="0">
                <a:solidFill>
                  <a:srgbClr val="1E1E24"/>
                </a:solidFill>
                <a:latin typeface="Times New Roman"/>
              </a:rPr>
              <a:t>A desk decision: rarely explained and difficult to contest.</a:t>
            </a:r>
          </a:p>
        </p:txBody>
      </p:sp>
      <p:sp>
        <p:nvSpPr>
          <p:cNvPr id="28" name="TextBox 27"/>
          <p:cNvSpPr txBox="1"/>
          <p:nvPr/>
        </p:nvSpPr>
        <p:spPr>
          <a:xfrm>
            <a:off x="5486400" y="3831336"/>
            <a:ext cx="1417320" cy="548640"/>
          </a:xfrm>
          <a:prstGeom prst="rect">
            <a:avLst/>
          </a:prstGeom>
          <a:noFill/>
        </p:spPr>
        <p:txBody>
          <a:bodyPr wrap="square" lIns="27432" rIns="27432" tIns="18288" bIns="18288" anchor="ctr">
            <a:spAutoFit/>
          </a:bodyPr>
          <a:lstStyle/>
          <a:p>
            <a:pPr algn="ctr"/>
            <a:r>
              <a:rPr sz="850" b="0" i="1">
                <a:solidFill>
                  <a:srgbClr val="5C6068"/>
                </a:solidFill>
                <a:latin typeface="Times New Roman"/>
              </a:rPr>
              <a:t>reading at scale</a:t>
            </a:r>
          </a:p>
        </p:txBody>
      </p:sp>
      <p:sp>
        <p:nvSpPr>
          <p:cNvPr id="29" name="Right Arrow 28"/>
          <p:cNvSpPr/>
          <p:nvPr/>
        </p:nvSpPr>
        <p:spPr>
          <a:xfrm>
            <a:off x="5897880" y="4233672"/>
            <a:ext cx="594360" cy="91440"/>
          </a:xfrm>
          <a:prstGeom prst="rightArrow">
            <a:avLst/>
          </a:prstGeom>
          <a:solidFill>
            <a:srgbClr val="9A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995160" y="3831336"/>
            <a:ext cx="4846320" cy="548640"/>
          </a:xfrm>
          <a:prstGeom prst="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1" i="0">
                <a:solidFill>
                  <a:srgbClr val="1E1E24"/>
                </a:solidFill>
                <a:latin typeface="Times New Roman"/>
              </a:rPr>
              <a:t>Four signed decisions </a:t>
            </a:r>
            <a:r>
              <a:rPr sz="850" b="0" i="0">
                <a:solidFill>
                  <a:srgbClr val="1E1E24"/>
                </a:solidFill>
                <a:latin typeface="Times New Roman"/>
              </a:rPr>
              <a:t>by named people: intake by a published mapping; new, on the evidence map; interest, under published criteria; certify. Departures recorded; their rate published.</a:t>
            </a:r>
          </a:p>
        </p:txBody>
      </p:sp>
      <p:sp>
        <p:nvSpPr>
          <p:cNvPr id="31" name="TextBox 30"/>
          <p:cNvSpPr txBox="1"/>
          <p:nvPr/>
        </p:nvSpPr>
        <p:spPr>
          <a:xfrm>
            <a:off x="365760" y="4434840"/>
            <a:ext cx="1417320" cy="548640"/>
          </a:xfrm>
          <a:prstGeom prst="rect">
            <a:avLst/>
          </a:prstGeom>
          <a:noFill/>
        </p:spPr>
        <p:txBody>
          <a:bodyPr wrap="square" lIns="27432" rIns="27432" tIns="18288" bIns="18288" anchor="ctr">
            <a:spAutoFit/>
          </a:bodyPr>
          <a:lstStyle/>
          <a:p>
            <a:pPr algn="l"/>
            <a:r>
              <a:rPr sz="950" b="1" i="0">
                <a:solidFill>
                  <a:srgbClr val="1E1E24"/>
                </a:solidFill>
                <a:latin typeface="Times New Roman"/>
              </a:rPr>
              <a:t>Reviewers</a:t>
            </a:r>
          </a:p>
        </p:txBody>
      </p:sp>
      <p:sp>
        <p:nvSpPr>
          <p:cNvPr id="32" name="Rectangle 31"/>
          <p:cNvSpPr/>
          <p:nvPr/>
        </p:nvSpPr>
        <p:spPr>
          <a:xfrm>
            <a:off x="1828800" y="4434840"/>
            <a:ext cx="3566160" cy="548640"/>
          </a:xfrm>
          <a:prstGeom prst="rect">
            <a:avLst/>
          </a:prstGeom>
          <a:solidFill>
            <a:srgbClr val="EEEFF1"/>
          </a:solidFill>
          <a:ln w="12700">
            <a:solidFill>
              <a:srgbClr val="9A9EA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0" i="0">
                <a:solidFill>
                  <a:srgbClr val="1E1E24"/>
                </a:solidFill>
                <a:latin typeface="Times New Roman"/>
              </a:rPr>
              <a:t>Verify and judge at once, re-reading the whole paper every round.</a:t>
            </a:r>
          </a:p>
        </p:txBody>
      </p:sp>
      <p:sp>
        <p:nvSpPr>
          <p:cNvPr id="33" name="Right Arrow 32"/>
          <p:cNvSpPr/>
          <p:nvPr/>
        </p:nvSpPr>
        <p:spPr>
          <a:xfrm>
            <a:off x="5897880" y="4663440"/>
            <a:ext cx="594360" cy="91440"/>
          </a:xfrm>
          <a:prstGeom prst="rightArrow">
            <a:avLst/>
          </a:prstGeom>
          <a:solidFill>
            <a:srgbClr val="9A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995160" y="4434840"/>
            <a:ext cx="4846320" cy="548640"/>
          </a:xfrm>
          <a:prstGeom prst="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1" i="0">
                <a:solidFill>
                  <a:srgbClr val="1E1E24"/>
                </a:solidFill>
                <a:latin typeface="Times New Roman"/>
              </a:rPr>
              <a:t>Judge only. </a:t>
            </a:r>
            <a:r>
              <a:rPr sz="850" b="0" i="0">
                <a:solidFill>
                  <a:srgbClr val="1E1E24"/>
                </a:solidFill>
                <a:latin typeface="Times New Roman"/>
              </a:rPr>
              <a:t>They receive the paper and appendix, the findings report, and the evidence map, and are not asked to verify.</a:t>
            </a:r>
          </a:p>
        </p:txBody>
      </p:sp>
      <p:sp>
        <p:nvSpPr>
          <p:cNvPr id="35" name="TextBox 34"/>
          <p:cNvSpPr txBox="1"/>
          <p:nvPr/>
        </p:nvSpPr>
        <p:spPr>
          <a:xfrm>
            <a:off x="365760" y="5038344"/>
            <a:ext cx="1417320" cy="548640"/>
          </a:xfrm>
          <a:prstGeom prst="rect">
            <a:avLst/>
          </a:prstGeom>
          <a:noFill/>
        </p:spPr>
        <p:txBody>
          <a:bodyPr wrap="square" lIns="27432" rIns="27432" tIns="18288" bIns="18288" anchor="ctr">
            <a:spAutoFit/>
          </a:bodyPr>
          <a:lstStyle/>
          <a:p>
            <a:pPr algn="l"/>
            <a:r>
              <a:rPr sz="950" b="1" i="0">
                <a:solidFill>
                  <a:srgbClr val="1E1E24"/>
                </a:solidFill>
                <a:latin typeface="Times New Roman"/>
              </a:rPr>
              <a:t>The journal publishes and certifies</a:t>
            </a:r>
          </a:p>
        </p:txBody>
      </p:sp>
      <p:sp>
        <p:nvSpPr>
          <p:cNvPr id="36" name="Rectangle 35"/>
          <p:cNvSpPr/>
          <p:nvPr/>
        </p:nvSpPr>
        <p:spPr>
          <a:xfrm>
            <a:off x="1828800" y="5038344"/>
            <a:ext cx="3566160" cy="548640"/>
          </a:xfrm>
          <a:prstGeom prst="rect">
            <a:avLst/>
          </a:prstGeom>
          <a:solidFill>
            <a:srgbClr val="EEEFF1"/>
          </a:solidFill>
          <a:ln w="12700">
            <a:solidFill>
              <a:srgbClr val="9A9EA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0" i="0">
                <a:solidFill>
                  <a:srgbClr val="1E1E24"/>
                </a:solidFill>
                <a:latin typeface="Times New Roman"/>
              </a:rPr>
              <a:t>“Published in Journal X”: one undifferentiated signal of quality and importance.</a:t>
            </a:r>
          </a:p>
        </p:txBody>
      </p:sp>
      <p:sp>
        <p:nvSpPr>
          <p:cNvPr id="37" name="Right Arrow 36"/>
          <p:cNvSpPr/>
          <p:nvPr/>
        </p:nvSpPr>
        <p:spPr>
          <a:xfrm>
            <a:off x="5897880" y="5266944"/>
            <a:ext cx="594360" cy="91440"/>
          </a:xfrm>
          <a:prstGeom prst="rightArrow">
            <a:avLst/>
          </a:prstGeom>
          <a:solidFill>
            <a:srgbClr val="9A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995160" y="5038344"/>
            <a:ext cx="4846320" cy="548640"/>
          </a:xfrm>
          <a:prstGeom prst="rect">
            <a:avLst/>
          </a:prstGeom>
          <a:solidFill>
            <a:schemeClr val="accent1">
              <a:lumMod val="22000"/>
              <a:lumOff val="78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1" i="0">
                <a:solidFill>
                  <a:srgbClr val="1E1E24"/>
                </a:solidFill>
                <a:latin typeface="Times New Roman"/>
              </a:rPr>
              <a:t>A publication and a certificate, or nothing: </a:t>
            </a:r>
            <a:r>
              <a:rPr sz="850" b="0" i="0">
                <a:solidFill>
                  <a:srgbClr val="1E1E24"/>
                </a:solidFill>
                <a:latin typeface="Times New Roman"/>
              </a:rPr>
              <a:t>the article — paper and appendix — with a DOI; and a signed certificate: meets standard vX; new, in this kind; of interest to this community; signed by these three named people.</a:t>
            </a:r>
          </a:p>
        </p:txBody>
      </p:sp>
      <p:sp>
        <p:nvSpPr>
          <p:cNvPr id="39" name="TextBox 38"/>
          <p:cNvSpPr txBox="1"/>
          <p:nvPr/>
        </p:nvSpPr>
        <p:spPr>
          <a:xfrm>
            <a:off x="365760" y="5641848"/>
            <a:ext cx="1417320" cy="548640"/>
          </a:xfrm>
          <a:prstGeom prst="rect">
            <a:avLst/>
          </a:prstGeom>
          <a:noFill/>
        </p:spPr>
        <p:txBody>
          <a:bodyPr wrap="square" lIns="27432" rIns="27432" tIns="18288" bIns="18288" anchor="ctr">
            <a:spAutoFit/>
          </a:bodyPr>
          <a:lstStyle/>
          <a:p>
            <a:pPr algn="l"/>
            <a:r>
              <a:rPr sz="950" b="1" i="0">
                <a:solidFill>
                  <a:srgbClr val="1E1E24"/>
                </a:solidFill>
                <a:latin typeface="Times New Roman"/>
              </a:rPr>
              <a:t>Between journals</a:t>
            </a:r>
          </a:p>
        </p:txBody>
      </p:sp>
      <p:sp>
        <p:nvSpPr>
          <p:cNvPr id="40" name="Rectangle 39"/>
          <p:cNvSpPr/>
          <p:nvPr/>
        </p:nvSpPr>
        <p:spPr>
          <a:xfrm>
            <a:off x="1828800" y="5641848"/>
            <a:ext cx="3566160" cy="548640"/>
          </a:xfrm>
          <a:prstGeom prst="rect">
            <a:avLst/>
          </a:prstGeom>
          <a:solidFill>
            <a:srgbClr val="EEEFF1"/>
          </a:solidFill>
          <a:ln w="12700">
            <a:solidFill>
              <a:srgbClr val="9A9EA6"/>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0" i="0">
                <a:solidFill>
                  <a:srgbClr val="1E1E24"/>
                </a:solidFill>
                <a:latin typeface="Times New Roman"/>
              </a:rPr>
              <a:t>Little travels, and every rejection is a private anchor on the next reading; the same reviewers may read the paper again, without the earlier record.</a:t>
            </a:r>
          </a:p>
        </p:txBody>
      </p:sp>
      <p:sp>
        <p:nvSpPr>
          <p:cNvPr id="41" name="Right Arrow 40"/>
          <p:cNvSpPr/>
          <p:nvPr/>
        </p:nvSpPr>
        <p:spPr>
          <a:xfrm>
            <a:off x="5897880" y="5870448"/>
            <a:ext cx="594360" cy="91440"/>
          </a:xfrm>
          <a:prstGeom prst="rightArrow">
            <a:avLst/>
          </a:prstGeom>
          <a:solidFill>
            <a:srgbClr val="9A9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995160" y="5641848"/>
            <a:ext cx="4846320" cy="548640"/>
          </a:xfrm>
          <a:prstGeom prst="rect">
            <a:avLst/>
          </a:prstGeom>
          <a:solidFill>
            <a:schemeClr val="accent1">
              <a:lumMod val="22000"/>
              <a:lumOff val="78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850" b="1" i="0">
                <a:solidFill>
                  <a:srgbClr val="1E1E24"/>
                </a:solidFill>
                <a:latin typeface="Times New Roman"/>
              </a:rPr>
              <a:t>The record travels, always. </a:t>
            </a:r>
            <a:r>
              <a:rPr sz="850" b="0" i="0">
                <a:solidFill>
                  <a:srgbClr val="1E1E24"/>
                </a:solidFill>
                <a:latin typeface="Times New Roman"/>
              </a:rPr>
              <a:t>Everything else only at the author's choice, and reviewers' reports only with their reviewers' consent.</a:t>
            </a:r>
          </a:p>
        </p:txBody>
      </p:sp>
      <p:sp>
        <p:nvSpPr>
          <p:cNvPr id="43" name="TextBox 42"/>
          <p:cNvSpPr txBox="1"/>
          <p:nvPr/>
        </p:nvSpPr>
        <p:spPr>
          <a:xfrm>
            <a:off x="365760" y="6263640"/>
            <a:ext cx="11430000" cy="365760"/>
          </a:xfrm>
          <a:prstGeom prst="rect">
            <a:avLst/>
          </a:prstGeom>
          <a:noFill/>
        </p:spPr>
        <p:txBody>
          <a:bodyPr wrap="square" lIns="27432" rIns="27432" tIns="18288" bIns="18288" anchor="t">
            <a:spAutoFit/>
          </a:bodyPr>
          <a:lstStyle/>
          <a:p>
            <a:pPr algn="l"/>
            <a:r>
              <a:rPr sz="900" b="1" i="0">
                <a:solidFill>
                  <a:srgbClr val="1E1E24"/>
                </a:solidFill>
                <a:latin typeface="Times New Roman"/>
              </a:rPr>
              <a:t>What does not change: </a:t>
            </a:r>
            <a:r>
              <a:rPr sz="900" b="0" i="0">
                <a:solidFill>
                  <a:srgbClr val="1E1E24"/>
                </a:solidFill>
                <a:latin typeface="Times New Roman"/>
              </a:rPr>
              <a:t>the author works however they like; what a community finds interesting is decided by its members; people read the paper.</a:t>
            </a:r>
          </a:p>
        </p:txBody>
      </p:sp>
      <p:sp>
        <p:nvSpPr>
          <p:cNvPr id="44" name="Rectangle 43"/>
          <p:cNvSpPr/>
          <p:nvPr/>
        </p:nvSpPr>
        <p:spPr>
          <a:xfrm>
            <a:off x="365760" y="6446520"/>
            <a:ext cx="201168" cy="164592"/>
          </a:xfrm>
          <a:prstGeom prst="rect">
            <a:avLst/>
          </a:prstGeom>
          <a:solidFill>
            <a:schemeClr val="accent1">
              <a:lumMod val="22000"/>
              <a:lumOff val="78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t" lIns="64008" rIns="64008" tIns="36576" bIns="36576" wrap="square"/>
          <a:lstStyle/>
          <a:p>
            <a:pPr algn="l"/>
            <a:r>
              <a:rPr sz="900" b="0" i="0">
                <a:solidFill>
                  <a:srgbClr val="1E1E24"/>
                </a:solidFill>
                <a:latin typeface="Times New Roman"/>
              </a:rPr>
              <a:t/>
            </a:r>
          </a:p>
        </p:txBody>
      </p:sp>
      <p:sp>
        <p:nvSpPr>
          <p:cNvPr id="45" name="TextBox 44"/>
          <p:cNvSpPr txBox="1"/>
          <p:nvPr/>
        </p:nvSpPr>
        <p:spPr>
          <a:xfrm>
            <a:off x="603504" y="6419088"/>
            <a:ext cx="1097280" cy="228600"/>
          </a:xfrm>
          <a:prstGeom prst="rect">
            <a:avLst/>
          </a:prstGeom>
          <a:noFill/>
        </p:spPr>
        <p:txBody>
          <a:bodyPr wrap="square" lIns="27432" rIns="27432" tIns="18288" bIns="18288" anchor="t">
            <a:spAutoFit/>
          </a:bodyPr>
          <a:lstStyle/>
          <a:p>
            <a:pPr algn="l"/>
            <a:r>
              <a:rPr sz="850" b="0" i="0">
                <a:solidFill>
                  <a:srgbClr val="1E1E24"/>
                </a:solidFill>
                <a:latin typeface="Times New Roman"/>
              </a:rPr>
              <a:t>Journal</a:t>
            </a:r>
          </a:p>
        </p:txBody>
      </p:sp>
      <p:sp>
        <p:nvSpPr>
          <p:cNvPr id="46" name="Rectangle 45"/>
          <p:cNvSpPr/>
          <p:nvPr/>
        </p:nvSpPr>
        <p:spPr>
          <a:xfrm>
            <a:off x="1691640" y="6446520"/>
            <a:ext cx="201168" cy="164592"/>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t" lIns="64008" rIns="64008" tIns="36576" bIns="36576" wrap="square"/>
          <a:lstStyle/>
          <a:p>
            <a:pPr algn="l"/>
            <a:r>
              <a:rPr sz="900" b="0" i="0">
                <a:solidFill>
                  <a:srgbClr val="1E1E24"/>
                </a:solidFill>
                <a:latin typeface="Times New Roman"/>
              </a:rPr>
              <a:t/>
            </a:r>
          </a:p>
        </p:txBody>
      </p:sp>
      <p:sp>
        <p:nvSpPr>
          <p:cNvPr id="47" name="TextBox 46"/>
          <p:cNvSpPr txBox="1"/>
          <p:nvPr/>
        </p:nvSpPr>
        <p:spPr>
          <a:xfrm>
            <a:off x="1929384" y="6419088"/>
            <a:ext cx="1097280" cy="228600"/>
          </a:xfrm>
          <a:prstGeom prst="rect">
            <a:avLst/>
          </a:prstGeom>
          <a:noFill/>
        </p:spPr>
        <p:txBody>
          <a:bodyPr wrap="square" lIns="27432" rIns="27432" tIns="18288" bIns="18288" anchor="t">
            <a:spAutoFit/>
          </a:bodyPr>
          <a:lstStyle/>
          <a:p>
            <a:pPr algn="l"/>
            <a:r>
              <a:rPr sz="850" b="0" i="0">
                <a:solidFill>
                  <a:srgbClr val="1E1E24"/>
                </a:solidFill>
                <a:latin typeface="Times New Roman"/>
              </a:rPr>
              <a:t>Author + AI</a:t>
            </a:r>
          </a:p>
        </p:txBody>
      </p:sp>
      <p:sp>
        <p:nvSpPr>
          <p:cNvPr id="48" name="Rectangle 47"/>
          <p:cNvSpPr/>
          <p:nvPr/>
        </p:nvSpPr>
        <p:spPr>
          <a:xfrm>
            <a:off x="3017520" y="6446520"/>
            <a:ext cx="201168" cy="164592"/>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t" lIns="64008" rIns="64008" tIns="36576" bIns="36576" wrap="square"/>
          <a:lstStyle/>
          <a:p>
            <a:pPr algn="l"/>
            <a:r>
              <a:rPr sz="900" b="0" i="0">
                <a:solidFill>
                  <a:srgbClr val="1E1E24"/>
                </a:solidFill>
                <a:latin typeface="Times New Roman"/>
              </a:rPr>
              <a:t/>
            </a:r>
          </a:p>
        </p:txBody>
      </p:sp>
      <p:sp>
        <p:nvSpPr>
          <p:cNvPr id="49" name="TextBox 48"/>
          <p:cNvSpPr txBox="1"/>
          <p:nvPr/>
        </p:nvSpPr>
        <p:spPr>
          <a:xfrm>
            <a:off x="3255263" y="6419088"/>
            <a:ext cx="1097280" cy="228600"/>
          </a:xfrm>
          <a:prstGeom prst="rect">
            <a:avLst/>
          </a:prstGeom>
          <a:noFill/>
        </p:spPr>
        <p:txBody>
          <a:bodyPr wrap="square" lIns="27432" rIns="27432" tIns="18288" bIns="18288" anchor="t">
            <a:spAutoFit/>
          </a:bodyPr>
          <a:lstStyle/>
          <a:p>
            <a:pPr algn="l"/>
            <a:r>
              <a:rPr sz="850" b="0" i="0">
                <a:solidFill>
                  <a:srgbClr val="1E1E24"/>
                </a:solidFill>
                <a:latin typeface="Times New Roman"/>
              </a:rPr>
              <a:t>Machine</a:t>
            </a:r>
          </a:p>
        </p:txBody>
      </p:sp>
      <p:sp>
        <p:nvSpPr>
          <p:cNvPr id="50" name="Rectangle 49"/>
          <p:cNvSpPr/>
          <p:nvPr/>
        </p:nvSpPr>
        <p:spPr>
          <a:xfrm>
            <a:off x="4343400" y="6446520"/>
            <a:ext cx="201168" cy="164592"/>
          </a:xfrm>
          <a:prstGeom prst="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t" lIns="64008" rIns="64008" tIns="36576" bIns="36576" wrap="square"/>
          <a:lstStyle/>
          <a:p>
            <a:pPr algn="l"/>
            <a:r>
              <a:rPr sz="900" b="0" i="0">
                <a:solidFill>
                  <a:srgbClr val="1E1E24"/>
                </a:solidFill>
                <a:latin typeface="Times New Roman"/>
              </a:rPr>
              <a:t/>
            </a:r>
          </a:p>
        </p:txBody>
      </p:sp>
      <p:sp>
        <p:nvSpPr>
          <p:cNvPr id="51" name="TextBox 50"/>
          <p:cNvSpPr txBox="1"/>
          <p:nvPr/>
        </p:nvSpPr>
        <p:spPr>
          <a:xfrm>
            <a:off x="4581144" y="6419088"/>
            <a:ext cx="1097280" cy="228600"/>
          </a:xfrm>
          <a:prstGeom prst="rect">
            <a:avLst/>
          </a:prstGeom>
          <a:noFill/>
        </p:spPr>
        <p:txBody>
          <a:bodyPr wrap="square" lIns="27432" rIns="27432" tIns="18288" bIns="18288" anchor="t">
            <a:spAutoFit/>
          </a:bodyPr>
          <a:lstStyle/>
          <a:p>
            <a:pPr algn="l"/>
            <a:r>
              <a:rPr sz="850" b="0" i="0">
                <a:solidFill>
                  <a:srgbClr val="1E1E24"/>
                </a:solidFill>
                <a:latin typeface="Times New Roman"/>
              </a:rPr>
              <a:t>Named people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4:R:frame" descr="frame"/>
          <p:cNvSpPr/>
          <p:nvPr/>
        </p:nvSpPr>
        <p:spPr>
          <a:xfrm>
            <a:off x="365760" y="1188720"/>
            <a:ext cx="3840480" cy="3474720"/>
          </a:xfrm>
          <a:prstGeom prst="roundRect">
            <a:avLst/>
          </a:prstGeom>
          <a:solidFill>
            <a:schemeClr val="accent2">
              <a:lumMod val="7000"/>
              <a:lumOff val="93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 name="title"/>
          <p:cNvSpPr txBox="1"/>
          <p:nvPr/>
        </p:nvSpPr>
        <p:spPr>
          <a:xfrm>
            <a:off x="365760" y="292608"/>
            <a:ext cx="11460175" cy="457200"/>
          </a:xfrm>
          <a:prstGeom prst="rect">
            <a:avLst/>
          </a:prstGeom>
          <a:noFill/>
        </p:spPr>
        <p:txBody>
          <a:bodyPr wrap="square" lIns="0" tIns="0" rIns="0" bIns="0" anchor="ctr">
            <a:noAutofit/>
          </a:bodyPr>
          <a:lstStyle/>
          <a:p>
            <a:pPr algn="l">
              <a:spcAft>
                <a:spcPts val="0"/>
              </a:spcAft>
            </a:pPr>
            <a:r>
              <a:rPr sz="2400" b="1" i="0">
                <a:solidFill>
                  <a:srgbClr val="1E1E24"/>
                </a:solidFill>
                <a:latin typeface="Times New Roman"/>
              </a:rPr>
              <a:t>Fig. 2 - The research record and its three layers</a:t>
            </a:r>
            <a:endParaRPr sz="2400" b="1" i="0" dirty="0">
              <a:solidFill>
                <a:schemeClr val="tx1"/>
              </a:solidFill>
              <a:latin typeface="Times New Roman" panose="02020603050405020304" pitchFamily="18" charset="0"/>
              <a:cs typeface="Times New Roman" panose="02020603050405020304" pitchFamily="18" charset="0"/>
            </a:endParaRPr>
          </a:p>
        </p:txBody>
      </p:sp>
      <p:sp>
        <p:nvSpPr>
          <p:cNvPr id="3" name="subtitle"/>
          <p:cNvSpPr txBox="1"/>
          <p:nvPr/>
        </p:nvSpPr>
        <p:spPr>
          <a:xfrm>
            <a:off x="365760" y="768096"/>
            <a:ext cx="11460175" cy="274320"/>
          </a:xfrm>
          <a:prstGeom prst="rect">
            <a:avLst/>
          </a:prstGeom>
          <a:noFill/>
        </p:spPr>
        <p:txBody>
          <a:bodyPr wrap="square" lIns="0" tIns="0" rIns="0" bIns="0" anchor="ctr">
            <a:noAutofit/>
          </a:bodyPr>
          <a:lstStyle/>
          <a:p>
            <a:pPr algn="l">
              <a:spcAft>
                <a:spcPts val="0"/>
              </a:spcAft>
            </a:pPr>
            <a:r>
              <a:rPr sz="1100" b="0" i="1">
                <a:solidFill>
                  <a:srgbClr val="1E1E24"/>
                </a:solidFill>
                <a:latin typeface="Times New Roman"/>
              </a:rPr>
              <a:t>The paper has three layers, one for each reader; the correspondence between paper, appendix, and record is a checkable object.</a:t>
            </a:r>
            <a:endParaRPr sz="1100" b="0" i="1" dirty="0">
              <a:solidFill>
                <a:schemeClr val="tx2"/>
              </a:solidFill>
              <a:latin typeface="Times New Roman" panose="02020603050405020304" pitchFamily="18" charset="0"/>
              <a:cs typeface="Times New Roman" panose="02020603050405020304" pitchFamily="18" charset="0"/>
            </a:endParaRPr>
          </a:p>
        </p:txBody>
      </p:sp>
      <p:sp>
        <p:nvSpPr>
          <p:cNvPr id="5" name="S4:R:head"/>
          <p:cNvSpPr txBox="1"/>
          <p:nvPr/>
        </p:nvSpPr>
        <p:spPr>
          <a:xfrm>
            <a:off x="453542" y="1152144"/>
            <a:ext cx="3566160" cy="274320"/>
          </a:xfrm>
          <a:prstGeom prst="rect">
            <a:avLst/>
          </a:prstGeom>
          <a:noFill/>
        </p:spPr>
        <p:txBody>
          <a:bodyPr wrap="square" lIns="0" tIns="0" rIns="0" bIns="0" anchor="ctr">
            <a:noAutofit/>
          </a:bodyPr>
          <a:lstStyle/>
          <a:p>
            <a:pPr algn="ctr">
              <a:spcAft>
                <a:spcPts val="0"/>
              </a:spcAft>
            </a:pPr>
            <a:r>
              <a:rPr sz="1100" b="1" i="0">
                <a:solidFill>
                  <a:srgbClr val="1E1E24"/>
                </a:solidFill>
                <a:latin typeface="Times New Roman"/>
              </a:rPr>
              <a:t>The research record: what the author submits</a:t>
            </a:r>
            <a:endParaRPr sz="1100" b="1" i="0" dirty="0">
              <a:solidFill>
                <a:schemeClr val="tx1"/>
              </a:solidFill>
              <a:latin typeface="Times New Roman" panose="02020603050405020304" pitchFamily="18" charset="0"/>
              <a:cs typeface="Times New Roman" panose="02020603050405020304" pitchFamily="18" charset="0"/>
            </a:endParaRPr>
          </a:p>
        </p:txBody>
      </p:sp>
      <p:sp>
        <p:nvSpPr>
          <p:cNvPr id="6" name="S4:R1" descr="artifact"/>
          <p:cNvSpPr/>
          <p:nvPr/>
        </p:nvSpPr>
        <p:spPr>
          <a:xfrm>
            <a:off x="494691" y="1453896"/>
            <a:ext cx="3566160" cy="347472"/>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noAutofit/>
          </a:bodyPr>
          <a:lstStyle/>
          <a:p>
            <a:pPr algn="l">
              <a:spcAft>
                <a:spcPts val="0"/>
              </a:spcAft>
            </a:pPr>
            <a:r>
              <a:rPr sz="900" b="1" i="0">
                <a:solidFill>
                  <a:srgbClr val="1E1E24"/>
                </a:solidFill>
                <a:latin typeface="Times New Roman"/>
              </a:rPr>
              <a:t>Paper: </a:t>
            </a:r>
            <a:r>
              <a:rPr sz="900" b="0" i="0">
                <a:solidFill>
                  <a:srgbClr val="1E1E24"/>
                </a:solidFill>
                <a:latin typeface="Times New Roman"/>
              </a:rPr>
              <a:t>for people; it opens with a notice that an AI appendix exists, and where. The question, what was done, what it means; any length.</a:t>
            </a:r>
            <a:endParaRPr sz="950" b="0" i="0" dirty="0">
              <a:solidFill>
                <a:schemeClr val="tx1"/>
              </a:solidFill>
              <a:latin typeface="Times New Roman" panose="02020603050405020304" pitchFamily="18" charset="0"/>
              <a:cs typeface="Times New Roman" panose="02020603050405020304" pitchFamily="18" charset="0"/>
            </a:endParaRPr>
          </a:p>
        </p:txBody>
      </p:sp>
      <p:sp>
        <p:nvSpPr>
          <p:cNvPr id="7" name="S4:R2" descr="artifact"/>
          <p:cNvSpPr/>
          <p:nvPr/>
        </p:nvSpPr>
        <p:spPr>
          <a:xfrm>
            <a:off x="494691" y="2359152"/>
            <a:ext cx="3566160" cy="685800"/>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noAutofit/>
          </a:bodyPr>
          <a:lstStyle/>
          <a:p>
            <a:pPr algn="l">
              <a:spcAft>
                <a:spcPts val="0"/>
              </a:spcAft>
            </a:pPr>
            <a:r>
              <a:rPr sz="800" b="1" i="0">
                <a:solidFill>
                  <a:srgbClr val="1E1E24"/>
                </a:solidFill>
                <a:latin typeface="Times New Roman"/>
              </a:rPr>
              <a:t>AI appendix: </a:t>
            </a:r>
            <a:r>
              <a:rPr sz="800" b="0" i="0">
                <a:solidFill>
                  <a:srgbClr val="1E1E24"/>
                </a:solidFill>
                <a:latin typeface="Times New Roman"/>
              </a:rPr>
              <a:t>the author's statement to the machine, for the reader that evaluates. Six parts in a published form: definitions of record; the procedure, re-executable; the claims list, each claim pointed to its evidence; the authors' stance; reproduction anchors; scope and do-nots. Written with any tool, the reference generator among them, and edited freely; if none arrives, the journal's generator produces one.</a:t>
            </a:r>
            <a:endParaRPr sz="950" b="0" i="0" dirty="0">
              <a:solidFill>
                <a:schemeClr val="tx1"/>
              </a:solidFill>
              <a:latin typeface="Times New Roman" panose="02020603050405020304" pitchFamily="18" charset="0"/>
              <a:cs typeface="Times New Roman" panose="02020603050405020304" pitchFamily="18" charset="0"/>
            </a:endParaRPr>
          </a:p>
        </p:txBody>
      </p:sp>
      <p:sp>
        <p:nvSpPr>
          <p:cNvPr id="8" name="S4:R3" descr="artifact"/>
          <p:cNvSpPr/>
          <p:nvPr/>
        </p:nvSpPr>
        <p:spPr>
          <a:xfrm>
            <a:off x="494691" y="3090672"/>
            <a:ext cx="3566160" cy="347472"/>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noAutofit/>
          </a:bodyPr>
          <a:lstStyle/>
          <a:p>
            <a:pPr algn="l">
              <a:spcAft>
                <a:spcPts val="0"/>
              </a:spcAft>
            </a:pPr>
            <a:r>
              <a:rPr sz="900" b="1" i="0">
                <a:solidFill>
                  <a:srgbClr val="1E1E24"/>
                </a:solidFill>
                <a:latin typeface="Times New Roman"/>
              </a:rPr>
              <a:t>Materials: </a:t>
            </a:r>
            <a:r>
              <a:rPr sz="900" b="0" i="0">
                <a:solidFill>
                  <a:srgbClr val="1E1E24"/>
                </a:solidFill>
                <a:latin typeface="Times New Roman"/>
              </a:rPr>
              <a:t>data, code, outputs, or field materials, each in a declared access tier (public, restricted, described-only).</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9" name="S4:R4" descr="artifact"/>
          <p:cNvSpPr/>
          <p:nvPr/>
        </p:nvSpPr>
        <p:spPr>
          <a:xfrm>
            <a:off x="494691" y="3483864"/>
            <a:ext cx="3566160" cy="621792"/>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noAutofit/>
          </a:bodyPr>
          <a:lstStyle/>
          <a:p>
            <a:pPr algn="l">
              <a:spcAft>
                <a:spcPts val="0"/>
              </a:spcAft>
            </a:pPr>
            <a:r>
              <a:rPr sz="900" b="1" i="0">
                <a:solidFill>
                  <a:srgbClr val="1E1E24"/>
                </a:solidFill>
                <a:latin typeface="Times New Roman"/>
              </a:rPr>
              <a:t>Provenance: </a:t>
            </a:r>
            <a:r>
              <a:rPr sz="900" b="0" i="0">
                <a:solidFill>
                  <a:srgbClr val="1E1E24"/>
                </a:solidFill>
                <a:latin typeface="Times New Roman"/>
              </a:rPr>
              <a:t>what produced each result — code and data (empirical); the derivation (formal); seeds and runs (simulation); the audit trail from observation to interpretation (qualitative); the argument structure (verbal theory); corpus and inclusion criteria (review).</a:t>
            </a:r>
            <a:endParaRPr sz="950" b="0" i="0" dirty="0">
              <a:solidFill>
                <a:schemeClr val="tx1"/>
              </a:solidFill>
              <a:latin typeface="Times New Roman" panose="02020603050405020304" pitchFamily="18" charset="0"/>
              <a:cs typeface="Times New Roman" panose="02020603050405020304" pitchFamily="18" charset="0"/>
            </a:endParaRPr>
          </a:p>
        </p:txBody>
      </p:sp>
      <p:sp>
        <p:nvSpPr>
          <p:cNvPr id="10" name="S4:R5" descr="artifact"/>
          <p:cNvSpPr/>
          <p:nvPr/>
        </p:nvSpPr>
        <p:spPr>
          <a:xfrm>
            <a:off x="494691" y="4151376"/>
            <a:ext cx="3566160" cy="347472"/>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tIns="27432" bIns="27432" rtlCol="0" anchor="ctr">
            <a:noAutofit/>
          </a:bodyPr>
          <a:lstStyle/>
          <a:p>
            <a:pPr algn="ctr">
              <a:spcAft>
                <a:spcPts val="0"/>
              </a:spcAft>
            </a:pPr>
            <a:r>
              <a:rPr sz="900" b="1" i="0">
                <a:solidFill>
                  <a:srgbClr val="1E1E24"/>
                </a:solidFill>
                <a:latin typeface="Times New Roman"/>
              </a:rPr>
              <a:t>Declarations: </a:t>
            </a:r>
            <a:r>
              <a:rPr sz="900" b="0" i="0">
                <a:solidFill>
                  <a:srgbClr val="1E1E24"/>
                </a:solidFill>
                <a:latin typeface="Times New Roman"/>
              </a:rPr>
              <a:t>modality · standard version · access tier · how AI was used. Working history at the author's choice.</a:t>
            </a:r>
            <a:endParaRPr sz="950" b="1" i="0" dirty="0">
              <a:solidFill>
                <a:schemeClr val="tx1"/>
              </a:solidFill>
              <a:latin typeface="Times New Roman" panose="02020603050405020304" pitchFamily="18" charset="0"/>
              <a:cs typeface="Times New Roman" panose="02020603050405020304" pitchFamily="18" charset="0"/>
            </a:endParaRPr>
          </a:p>
        </p:txBody>
      </p:sp>
      <p:sp>
        <p:nvSpPr>
          <p:cNvPr id="11" name="S4:C" descr="process"/>
          <p:cNvSpPr/>
          <p:nvPr/>
        </p:nvSpPr>
        <p:spPr>
          <a:xfrm>
            <a:off x="4617720" y="1042416"/>
            <a:ext cx="3291840" cy="2340864"/>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54864" rtlCol="0" anchor="ctr">
            <a:noAutofit/>
          </a:bodyPr>
          <a:lstStyle/>
          <a:p>
            <a:pPr algn="ctr">
              <a:spcAft>
                <a:spcPts val="0"/>
              </a:spcAft>
            </a:pPr>
            <a:r>
              <a:rPr sz="900" b="1" i="0">
                <a:solidFill>
                  <a:srgbClr val="1E1E24"/>
                </a:solidFill>
                <a:latin typeface="Times New Roman"/>
              </a:rPr>
              <a:t>Level 2 · Correspondence (internal)</a:t>
            </a:r>
            <a:endParaRPr sz="950" b="1" i="0" dirty="0">
              <a:solidFill>
                <a:schemeClr val="tx1"/>
              </a:solidFill>
              <a:latin typeface="Times New Roman" panose="02020603050405020304" pitchFamily="18" charset="0"/>
              <a:cs typeface="Times New Roman" panose="02020603050405020304" pitchFamily="18" charset="0"/>
            </a:endParaRPr>
          </a:p>
          <a:p>
            <a:pPr algn="ctr"/>
            <a:r>
              <a:rPr sz="900" b="0" i="0">
                <a:solidFill>
                  <a:srgbClr val="1E1E24"/>
                </a:solidFill>
                <a:latin typeface="Times New Roman"/>
              </a:rPr>
              <a:t>Does the paper match the appendix, and the appendix the record? Read through the AI appendix, where each claim points.</a:t>
            </a:r>
          </a:p>
          <a:p>
            <a:pPr algn="ctr"/>
            <a:r>
              <a:rPr sz="900" b="1" i="0">
                <a:solidFill>
                  <a:srgbClr val="1E1E24"/>
                </a:solidFill>
                <a:latin typeface="Times New Roman"/>
              </a:rPr>
              <a:t>(a) Completeness: </a:t>
            </a:r>
            <a:r>
              <a:rPr sz="900" b="0" i="0">
                <a:solidFill>
                  <a:srgbClr val="1E1E24"/>
                </a:solidFill>
                <a:latin typeface="Times New Roman"/>
              </a:rPr>
              <a:t>every claim the paper rests on is in the appendix, and so in the claims list.</a:t>
            </a:r>
          </a:p>
          <a:p>
            <a:pPr algn="ctr"/>
            <a:r>
              <a:rPr sz="900" b="1" i="0">
                <a:solidFill>
                  <a:srgbClr val="1E1E24"/>
                </a:solidFill>
                <a:latin typeface="Times New Roman"/>
              </a:rPr>
              <a:t>(b) Resolution: </a:t>
            </a:r>
            <a:r>
              <a:rPr sz="900" b="0" i="0">
                <a:solidFill>
                  <a:srgbClr val="1E1E24"/>
                </a:solidFill>
                <a:latin typeface="Times New Roman"/>
              </a:rPr>
              <a:t>each pointer resolves to evidence that says what the claim says.</a:t>
            </a:r>
          </a:p>
          <a:p>
            <a:pPr algn="ctr"/>
            <a:r>
              <a:rPr sz="900" b="1" i="0">
                <a:solidFill>
                  <a:srgbClr val="1E1E24"/>
                </a:solidFill>
                <a:latin typeface="Times New Roman"/>
              </a:rPr>
              <a:t>(c) Anchors: </a:t>
            </a:r>
            <a:r>
              <a:rPr sz="900" b="0" i="0">
                <a:solidFill>
                  <a:srgbClr val="1E1E24"/>
                </a:solidFill>
                <a:latin typeface="Times New Roman"/>
              </a:rPr>
              <a:t>the reproduction anchors reproduce (deterministic).</a:t>
            </a:r>
          </a:p>
          <a:p>
            <a:pPr algn="ctr"/>
            <a:r>
              <a:rPr sz="900" b="0" i="0">
                <a:solidFill>
                  <a:srgbClr val="1E1E24"/>
                </a:solidFill>
                <a:latin typeface="Times New Roman"/>
              </a:rPr>
              <a:t>Whether the AI appendix matches the reference generator's output is recorded on the report as a fact, not a finding.</a:t>
            </a:r>
          </a:p>
          <a:p>
            <a:pPr algn="ctr"/>
            <a:r>
              <a:rPr sz="900" b="0" i="1">
                <a:solidFill>
                  <a:srgbClr val="1E1E24"/>
                </a:solidFill>
                <a:latin typeface="Times New Roman"/>
              </a:rPr>
              <a:t>Checkable from the record alone. Fix: correct the paper or the appendix to match the record, or the record, then re-run.</a:t>
            </a:r>
          </a:p>
        </p:txBody>
      </p:sp>
      <p:sp>
        <p:nvSpPr>
          <p:cNvPr id="12" name="S4:C2" descr="process"/>
          <p:cNvSpPr/>
          <p:nvPr/>
        </p:nvSpPr>
        <p:spPr>
          <a:xfrm>
            <a:off x="4617720" y="3566160"/>
            <a:ext cx="3291840" cy="1005840"/>
          </a:xfrm>
          <a:prstGeom prst="roundRect">
            <a:avLst/>
          </a:prstGeom>
          <a:solidFill>
            <a:schemeClr val="accent3">
              <a:lumMod val="22000"/>
              <a:lumOff val="78000"/>
            </a:schemeClr>
          </a:solidFill>
          <a:ln w="1270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l">
              <a:spcAft>
                <a:spcPts val="0"/>
              </a:spcAft>
            </a:pPr>
            <a:r>
              <a:rPr sz="950" b="1" i="0">
                <a:solidFill>
                  <a:srgbClr val="1E1E24"/>
                </a:solidFill>
                <a:latin typeface="Times New Roman"/>
              </a:rPr>
              <a:t>Diff between rounds: </a:t>
            </a:r>
            <a:r>
              <a:rPr sz="950" b="0" i="0">
                <a:solidFill>
                  <a:srgbClr val="1E1E24"/>
                </a:solidFill>
                <a:latin typeface="Times New Roman"/>
              </a:rPr>
              <a:t>what changed in the record between review rounds, and who changed each file, author or AI, as the declaration states. What reviewers read from the second round.</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13" name="S4:W" descr="process"/>
          <p:cNvSpPr/>
          <p:nvPr/>
        </p:nvSpPr>
        <p:spPr>
          <a:xfrm>
            <a:off x="8321040" y="1060704"/>
            <a:ext cx="3504895" cy="2322576"/>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109728" tIns="73152" rIns="109728" bIns="54864" rtlCol="0" anchor="ctr">
            <a:noAutofit/>
          </a:bodyPr>
          <a:lstStyle/>
          <a:p>
            <a:pPr algn="ctr">
              <a:spcAft>
                <a:spcPts val="0"/>
              </a:spcAft>
            </a:pPr>
            <a:r>
              <a:rPr sz="950" b="1" i="0">
                <a:solidFill>
                  <a:srgbClr val="1E1E24"/>
                </a:solidFill>
                <a:latin typeface="Times New Roman"/>
              </a:rPr>
              <a:t>Level 3 · Warrant (external)</a:t>
            </a:r>
          </a:p>
          <a:p>
            <a:pPr algn="ctr"/>
            <a:r>
              <a:rPr sz="950" b="0" i="0">
                <a:solidFill>
                  <a:srgbClr val="1E1E24"/>
                </a:solidFill>
                <a:latin typeface="Times New Roman"/>
              </a:rPr>
              <a:t>Do the claims match the evidence offered, judged against what the record does not supply?</a:t>
            </a:r>
          </a:p>
          <a:p>
            <a:pPr algn="ctr"/>
            <a:r>
              <a:rPr sz="950" b="1" i="0">
                <a:solidFill>
                  <a:srgbClr val="1E1E24"/>
                </a:solidFill>
                <a:latin typeface="Times New Roman"/>
              </a:rPr>
              <a:t>The standard for the modality: </a:t>
            </a:r>
            <a:r>
              <a:rPr sz="950" b="0" i="0">
                <a:solidFill>
                  <a:srgbClr val="1E1E24"/>
                </a:solidFill>
                <a:latin typeface="Times New Roman"/>
              </a:rPr>
              <a:t>what a causal claim, a proposition, a qualitative interpretation needs (SIEVE modules: statistical, internal, construct, external validity; contribution; modality soundness).</a:t>
            </a:r>
          </a:p>
          <a:p>
            <a:pPr algn="ctr"/>
            <a:r>
              <a:rPr sz="950" b="1" i="0">
                <a:solidFill>
                  <a:srgbClr val="1E1E24"/>
                </a:solidFill>
                <a:latin typeface="Times New Roman"/>
              </a:rPr>
              <a:t>The literature: </a:t>
            </a:r>
            <a:r>
              <a:rPr sz="950" b="0" i="0">
                <a:solidFill>
                  <a:srgbClr val="1E1E24"/>
                </a:solidFill>
                <a:latin typeface="Times New Roman"/>
              </a:rPr>
              <a:t>does the contribution claim survive the nearest prior work? Output: the evidence map.</a:t>
            </a:r>
          </a:p>
          <a:p>
            <a:pPr algn="ctr"/>
            <a:r>
              <a:rPr sz="950" b="1" i="0">
                <a:solidFill>
                  <a:srgbClr val="1E1E24"/>
                </a:solidFill>
                <a:latin typeface="Times New Roman"/>
              </a:rPr>
              <a:t>Re-execution under perturbation: </a:t>
            </a:r>
            <a:r>
              <a:rPr sz="950" b="0" i="0">
                <a:solidFill>
                  <a:srgbClr val="1E1E24"/>
                </a:solidFill>
                <a:latin typeface="Times New Roman"/>
              </a:rPr>
              <a:t>do the results survive the robustness checks the standard names?</a:t>
            </a:r>
          </a:p>
          <a:p>
            <a:pPr algn="ctr"/>
            <a:r>
              <a:rPr sz="950" b="0" i="1">
                <a:solidFill>
                  <a:srgbClr val="1E1E24"/>
                </a:solidFill>
                <a:latin typeface="Times New Roman"/>
              </a:rPr>
              <a:t>Fix: strengthen the evidence or weaken the claims.</a:t>
            </a:r>
          </a:p>
        </p:txBody>
      </p:sp>
      <p:sp>
        <p:nvSpPr>
          <p:cNvPr id="14" name="S4:SLOP" descr="note"/>
          <p:cNvSpPr/>
          <p:nvPr/>
        </p:nvSpPr>
        <p:spPr>
          <a:xfrm>
            <a:off x="8321040" y="3566160"/>
            <a:ext cx="3504895" cy="1353312"/>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noAutofit/>
          </a:bodyPr>
          <a:lstStyle/>
          <a:p>
            <a:pPr algn="l">
              <a:spcAft>
                <a:spcPts val="0"/>
              </a:spcAft>
            </a:pPr>
            <a:r>
              <a:rPr sz="950" b="1" i="0">
                <a:solidFill>
                  <a:srgbClr val="1E1E24"/>
                </a:solidFill>
                <a:latin typeface="Times New Roman"/>
              </a:rPr>
              <a:t>Slop is a claim that goes beyond its evidence. </a:t>
            </a:r>
            <a:r>
              <a:rPr sz="950" b="0" i="0">
                <a:solidFill>
                  <a:srgbClr val="1E1E24"/>
                </a:solidFill>
                <a:latin typeface="Times New Roman"/>
              </a:rPr>
              <a:t>It is not: (a) unconventional work — strong evidence, unfamiliar approach; (b) wrong work — reasonable evidence, later overturned; (c) unimportant work — well supported, little valued.</a:t>
            </a:r>
          </a:p>
          <a:p>
            <a:pPr algn="l"/>
            <a:r>
              <a:rPr sz="950" b="0" i="0">
                <a:solidFill>
                  <a:srgbClr val="1E1E24"/>
                </a:solidFill>
                <a:latin typeface="Times New Roman"/>
              </a:rPr>
              <a:t>Internal checks cannot tell a Potemkin village from a town; Level 3 is built to, and names what it cannot reach: data that never existed.</a:t>
            </a:r>
          </a:p>
        </p:txBody>
      </p:sp>
      <p:cxnSp>
        <p:nvCxnSpPr>
          <p:cNvPr id="15" name="S4:R&gt;C"/>
          <p:cNvCxnSpPr>
            <a:cxnSpLocks/>
            <a:stCxn id="4" idx="3"/>
            <a:endCxn id="11" idx="1"/>
          </p:cNvCxnSpPr>
          <p:nvPr/>
        </p:nvCxnSpPr>
        <p:spPr>
          <a:xfrm flipV="1">
            <a:off x="4206240" y="2212848"/>
            <a:ext cx="411480" cy="676656"/>
          </a:xfrm>
          <a:prstGeom prst="bentConnector3">
            <a:avLst>
              <a:gd name="adj1" fmla="val 50000"/>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S4:R&gt;C:label"/>
          <p:cNvSpPr txBox="1"/>
          <p:nvPr/>
        </p:nvSpPr>
        <p:spPr>
          <a:xfrm>
            <a:off x="4215000" y="2921254"/>
            <a:ext cx="400000" cy="329184"/>
          </a:xfrm>
          <a:prstGeom prst="rect">
            <a:avLst/>
          </a:prstGeom>
          <a:noFill/>
        </p:spPr>
        <p:txBody>
          <a:bodyPr wrap="square" lIns="0" tIns="0" rIns="0" bIns="0" anchor="ctr">
            <a:noAutofit/>
          </a:bodyPr>
          <a:lstStyle/>
          <a:p>
            <a:pPr algn="ctr">
              <a:spcAft>
                <a:spcPts val="0"/>
              </a:spcAft>
            </a:pPr>
            <a:r>
              <a:rPr sz="800" b="0" i="0" dirty="0">
                <a:solidFill>
                  <a:schemeClr val="tx2"/>
                </a:solidFill>
                <a:latin typeface="Times New Roman" panose="02020603050405020304" pitchFamily="18" charset="0"/>
                <a:cs typeface="Times New Roman" panose="02020603050405020304" pitchFamily="18" charset="0"/>
              </a:rPr>
              <a:t>the record</a:t>
            </a:r>
          </a:p>
        </p:txBody>
      </p:sp>
      <p:cxnSp>
        <p:nvCxnSpPr>
          <p:cNvPr id="17" name="S4:C&gt;W"/>
          <p:cNvCxnSpPr>
            <a:cxnSpLocks/>
            <a:stCxn id="11" idx="3"/>
            <a:endCxn id="13" idx="1"/>
          </p:cNvCxnSpPr>
          <p:nvPr/>
        </p:nvCxnSpPr>
        <p:spPr>
          <a:xfrm>
            <a:off x="7909560" y="2212848"/>
            <a:ext cx="411480" cy="9144"/>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S4:C&gt;W:label"/>
          <p:cNvSpPr txBox="1"/>
          <p:nvPr/>
        </p:nvSpPr>
        <p:spPr>
          <a:xfrm>
            <a:off x="7840980" y="2039112"/>
            <a:ext cx="548640" cy="182880"/>
          </a:xfrm>
          <a:prstGeom prst="rect">
            <a:avLst/>
          </a:prstGeom>
          <a:noFill/>
        </p:spPr>
        <p:txBody>
          <a:bodyPr wrap="square" lIns="0" tIns="0" rIns="0" bIns="0" anchor="ctr">
            <a:noAutofit/>
          </a:bodyPr>
          <a:lstStyle/>
          <a:p>
            <a:pPr algn="ctr">
              <a:spcAft>
                <a:spcPts val="0"/>
              </a:spcAft>
            </a:pPr>
            <a:r>
              <a:rPr sz="850" b="0" i="0">
                <a:solidFill>
                  <a:schemeClr val="tx2"/>
                </a:solidFill>
                <a:latin typeface="Times New Roman" panose="02020603050405020304" pitchFamily="18" charset="0"/>
                <a:cs typeface="Times New Roman" panose="02020603050405020304" pitchFamily="18" charset="0"/>
              </a:rPr>
              <a:t>then</a:t>
            </a:r>
          </a:p>
        </p:txBody>
      </p:sp>
      <p:sp>
        <p:nvSpPr>
          <p:cNvPr id="19" name="S4:MOD:head"/>
          <p:cNvSpPr txBox="1"/>
          <p:nvPr/>
        </p:nvSpPr>
        <p:spPr>
          <a:xfrm>
            <a:off x="365760" y="4736592"/>
            <a:ext cx="11460175" cy="219456"/>
          </a:xfrm>
          <a:prstGeom prst="rect">
            <a:avLst/>
          </a:prstGeom>
          <a:noFill/>
        </p:spPr>
        <p:txBody>
          <a:bodyPr wrap="square" lIns="0" tIns="0" rIns="0" bIns="0" anchor="ctr">
            <a:noAutofit/>
          </a:bodyPr>
          <a:lstStyle/>
          <a:p>
            <a:pPr algn="l">
              <a:spcAft>
                <a:spcPts val="0"/>
              </a:spcAft>
            </a:pPr>
            <a:r>
              <a:rPr sz="1000" b="1" i="0">
                <a:solidFill>
                  <a:srgbClr val="1E1E24"/>
                </a:solidFill>
                <a:latin typeface="Times New Roman"/>
              </a:rPr>
              <a:t>Modalities: </a:t>
            </a:r>
            <a:r>
              <a:rPr sz="1000" b="0" i="0">
                <a:solidFill>
                  <a:srgbClr val="1E1E24"/>
                </a:solidFill>
                <a:latin typeface="Times New Roman"/>
              </a:rPr>
              <a:t>formal built for Stage 1; empirical in Stage 2; the rest specified by protocol.</a:t>
            </a:r>
            <a:endParaRPr sz="1000" i="0" dirty="0">
              <a:solidFill>
                <a:schemeClr val="tx2"/>
              </a:solidFill>
              <a:latin typeface="Times New Roman" panose="02020603050405020304" pitchFamily="18" charset="0"/>
              <a:cs typeface="Times New Roman" panose="02020603050405020304" pitchFamily="18" charset="0"/>
            </a:endParaRPr>
          </a:p>
        </p:txBody>
      </p:sp>
      <p:sp>
        <p:nvSpPr>
          <p:cNvPr id="20" name="S4:MOD0" descr="artifact"/>
          <p:cNvSpPr/>
          <p:nvPr/>
        </p:nvSpPr>
        <p:spPr>
          <a:xfrm>
            <a:off x="365760" y="4992624"/>
            <a:ext cx="1818589" cy="365760"/>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1000" b="1" i="0">
                <a:solidFill>
                  <a:srgbClr val="1E1E24"/>
                </a:solidFill>
                <a:latin typeface="Times New Roman"/>
              </a:rPr>
              <a:t>Formal theory  built for Stage 1</a:t>
            </a:r>
          </a:p>
        </p:txBody>
      </p:sp>
      <p:sp>
        <p:nvSpPr>
          <p:cNvPr id="21" name="S4:MOD1" descr="artifact"/>
          <p:cNvSpPr/>
          <p:nvPr/>
        </p:nvSpPr>
        <p:spPr>
          <a:xfrm>
            <a:off x="2294077" y="4992624"/>
            <a:ext cx="1818589" cy="365760"/>
          </a:xfrm>
          <a:prstGeom prst="rect">
            <a:avLst/>
          </a:prstGeom>
          <a:solidFill>
            <a:srgbClr val="FFFFFF"/>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1000" b="1" i="0">
                <a:solidFill>
                  <a:srgbClr val="1E1E24"/>
                </a:solidFill>
                <a:latin typeface="Times New Roman"/>
              </a:rPr>
              <a:t>Empirical  Stage 2</a:t>
            </a:r>
          </a:p>
        </p:txBody>
      </p:sp>
      <p:sp>
        <p:nvSpPr>
          <p:cNvPr id="22" name="S4:MOD2" descr="artifact"/>
          <p:cNvSpPr/>
          <p:nvPr/>
        </p:nvSpPr>
        <p:spPr>
          <a:xfrm>
            <a:off x="4222394" y="4992624"/>
            <a:ext cx="1818589" cy="365760"/>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00" b="1" i="0" dirty="0">
                <a:solidFill>
                  <a:schemeClr val="tx1"/>
                </a:solidFill>
                <a:latin typeface="Times New Roman" panose="02020603050405020304" pitchFamily="18" charset="0"/>
                <a:cs typeface="Times New Roman" panose="02020603050405020304" pitchFamily="18" charset="0"/>
              </a:rPr>
              <a:t>Simulation</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23" name="S4:MOD3" descr="artifact"/>
          <p:cNvSpPr/>
          <p:nvPr/>
        </p:nvSpPr>
        <p:spPr>
          <a:xfrm>
            <a:off x="6150712" y="4992624"/>
            <a:ext cx="1818589" cy="365760"/>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00" b="1" i="0" dirty="0">
                <a:solidFill>
                  <a:schemeClr val="tx1"/>
                </a:solidFill>
                <a:latin typeface="Times New Roman" panose="02020603050405020304" pitchFamily="18" charset="0"/>
                <a:cs typeface="Times New Roman" panose="02020603050405020304" pitchFamily="18" charset="0"/>
              </a:rPr>
              <a:t>Qualitative</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25" name="S4:MOD5" descr="artifact"/>
          <p:cNvSpPr/>
          <p:nvPr/>
        </p:nvSpPr>
        <p:spPr>
          <a:xfrm>
            <a:off x="8075219" y="4992624"/>
            <a:ext cx="1818589" cy="365760"/>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00" b="1" i="0" dirty="0">
                <a:solidFill>
                  <a:schemeClr val="tx1"/>
                </a:solidFill>
                <a:latin typeface="Times New Roman" panose="02020603050405020304" pitchFamily="18" charset="0"/>
                <a:cs typeface="Times New Roman" panose="02020603050405020304" pitchFamily="18" charset="0"/>
              </a:rPr>
              <a:t>Survey / review</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26" name="S4:LIM" descr="note"/>
          <p:cNvSpPr/>
          <p:nvPr/>
        </p:nvSpPr>
        <p:spPr>
          <a:xfrm>
            <a:off x="365760" y="5431536"/>
            <a:ext cx="4846320" cy="603504"/>
          </a:xfrm>
          <a:prstGeom prst="rect">
            <a:avLst/>
          </a:prstGeom>
          <a:solidFill>
            <a:schemeClr val="bg1"/>
          </a:solidFill>
          <a:ln w="12700">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wrap="square" lIns="109728" tIns="36576" rIns="274320" bIns="36576" rtlCol="0" anchor="ctr">
            <a:noAutofit/>
          </a:bodyPr>
          <a:lstStyle/>
          <a:p>
            <a:pPr algn="l">
              <a:spcAft>
                <a:spcPts val="0"/>
              </a:spcAft>
            </a:pPr>
            <a:r>
              <a:rPr sz="950" b="1" i="0">
                <a:solidFill>
                  <a:srgbClr val="1E1E24"/>
                </a:solidFill>
                <a:latin typeface="Times New Roman"/>
              </a:rPr>
              <a:t>Limit: the record cannot prove human direction. </a:t>
            </a:r>
            <a:r>
              <a:rPr sz="950" b="0" i="0">
                <a:solidFill>
                  <a:srgbClr val="1E1E24"/>
                </a:solidFill>
                <a:latin typeface="Times New Roman"/>
              </a:rPr>
              <a:t>Anything checkable could be generated; the AI-use declaration and the working history rest on good faith and reputation, as authorship statements do.</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28" name="S4:NOV" descr="note"/>
          <p:cNvSpPr/>
          <p:nvPr/>
        </p:nvSpPr>
        <p:spPr>
          <a:xfrm>
            <a:off x="5349240" y="5431536"/>
            <a:ext cx="6476695" cy="603504"/>
          </a:xfrm>
          <a:prstGeom prst="rect">
            <a:avLst/>
          </a:prstGeom>
          <a:solidFill>
            <a:schemeClr val="bg1"/>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noAutofit/>
          </a:bodyPr>
          <a:lstStyle/>
          <a:p>
            <a:pPr algn="l">
              <a:spcAft>
                <a:spcPts val="0"/>
              </a:spcAft>
            </a:pPr>
            <a:r>
              <a:rPr sz="850" b="1" i="0">
                <a:solidFill>
                  <a:srgbClr val="1E1E24"/>
                </a:solidFill>
                <a:latin typeface="Times New Roman"/>
              </a:rPr>
              <a:t>What is new, taken together: </a:t>
            </a:r>
            <a:r>
              <a:rPr sz="850" b="0" i="0">
                <a:solidFill>
                  <a:srgbClr val="1E1E24"/>
                </a:solidFill>
                <a:latin typeface="Times New Roman"/>
              </a:rPr>
              <a:t>a claims list as a schema; a standard AI appendix, the author's, under a published specification; paper-to-appendix-to-record correspondence checked by published code under a published standard; a published mapping from findings to actions; one indivisible certificate signed by named people, issued with the publication. Registered Reports, Code Ocean, Statcheck, and eLife each did one of these.</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29" name="legend:role:journal" descr="frame"/>
          <p:cNvSpPr/>
          <p:nvPr/>
        </p:nvSpPr>
        <p:spPr>
          <a:xfrm>
            <a:off x="365760" y="6355080"/>
            <a:ext cx="146304" cy="146304"/>
          </a:xfrm>
          <a:prstGeom prst="rect">
            <a:avLst/>
          </a:prstGeom>
          <a:solidFill>
            <a:schemeClr val="accent1">
              <a:lumMod val="22000"/>
              <a:lumOff val="78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0" name="legend:role:journal:t"/>
          <p:cNvSpPr txBox="1"/>
          <p:nvPr/>
        </p:nvSpPr>
        <p:spPr>
          <a:xfrm>
            <a:off x="557784" y="6309360"/>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Journal</a:t>
            </a:r>
          </a:p>
        </p:txBody>
      </p:sp>
      <p:sp>
        <p:nvSpPr>
          <p:cNvPr id="31" name="legend:role:author" descr="frame"/>
          <p:cNvSpPr/>
          <p:nvPr/>
        </p:nvSpPr>
        <p:spPr>
          <a:xfrm>
            <a:off x="1123798" y="6355080"/>
            <a:ext cx="146304" cy="146304"/>
          </a:xfrm>
          <a:prstGeom prst="rect">
            <a:avLst/>
          </a:prstGeom>
          <a:solidFill>
            <a:schemeClr val="accent2">
              <a:lumMod val="22000"/>
              <a:lumOff val="78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2" name="legend:role:author:t"/>
          <p:cNvSpPr txBox="1"/>
          <p:nvPr/>
        </p:nvSpPr>
        <p:spPr>
          <a:xfrm>
            <a:off x="1315822" y="6309360"/>
            <a:ext cx="664769"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Author + AI</a:t>
            </a:r>
          </a:p>
        </p:txBody>
      </p:sp>
      <p:sp>
        <p:nvSpPr>
          <p:cNvPr id="33" name="legend:role:machine" descr="frame"/>
          <p:cNvSpPr/>
          <p:nvPr/>
        </p:nvSpPr>
        <p:spPr>
          <a:xfrm>
            <a:off x="2090318" y="6355080"/>
            <a:ext cx="146304" cy="146304"/>
          </a:xfrm>
          <a:prstGeom prst="rect">
            <a:avLst/>
          </a:prstGeom>
          <a:solidFill>
            <a:schemeClr val="accent3">
              <a:lumMod val="22000"/>
              <a:lumOff val="78000"/>
            </a:schemeClr>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4" name="legend:role:machine:t"/>
          <p:cNvSpPr txBox="1"/>
          <p:nvPr/>
        </p:nvSpPr>
        <p:spPr>
          <a:xfrm>
            <a:off x="2282342" y="6309360"/>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Machine</a:t>
            </a:r>
          </a:p>
        </p:txBody>
      </p:sp>
      <p:sp>
        <p:nvSpPr>
          <p:cNvPr id="35" name="legend:role:human" descr="frame"/>
          <p:cNvSpPr/>
          <p:nvPr/>
        </p:nvSpPr>
        <p:spPr>
          <a:xfrm>
            <a:off x="2848356" y="6355080"/>
            <a:ext cx="146304" cy="146304"/>
          </a:xfrm>
          <a:prstGeom prst="rect">
            <a:avLst/>
          </a:prstGeom>
          <a:solidFill>
            <a:schemeClr val="accent4">
              <a:lumMod val="22000"/>
              <a:lumOff val="78000"/>
            </a:schemeClr>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6" name="legend:role:human:t"/>
          <p:cNvSpPr txBox="1"/>
          <p:nvPr/>
        </p:nvSpPr>
        <p:spPr>
          <a:xfrm>
            <a:off x="3040380" y="6309360"/>
            <a:ext cx="716890"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Named people</a:t>
            </a:r>
          </a:p>
        </p:txBody>
      </p:sp>
      <p:sp>
        <p:nvSpPr>
          <p:cNvPr id="37" name="legend:state:built" descr="artifact"/>
          <p:cNvSpPr/>
          <p:nvPr/>
        </p:nvSpPr>
        <p:spPr>
          <a:xfrm>
            <a:off x="3976726" y="6350508"/>
            <a:ext cx="310896" cy="155448"/>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38" name="legend:state:built:t"/>
          <p:cNvSpPr txBox="1"/>
          <p:nvPr/>
        </p:nvSpPr>
        <p:spPr>
          <a:xfrm>
            <a:off x="4342486" y="6309360"/>
            <a:ext cx="873252" cy="237744"/>
          </a:xfrm>
          <a:prstGeom prst="rect">
            <a:avLst/>
          </a:prstGeom>
          <a:noFill/>
        </p:spPr>
        <p:txBody>
          <a:bodyPr wrap="square" lIns="0" tIns="0" rIns="0" bIns="0" anchor="ctr">
            <a:noAutofit/>
          </a:bodyPr>
          <a:lstStyle/>
          <a:p>
            <a:pPr algn="l">
              <a:spcAft>
                <a:spcPts val="0"/>
              </a:spcAft>
            </a:pPr>
            <a:r>
              <a:rPr sz="850" b="0" i="0">
                <a:solidFill>
                  <a:srgbClr val="1E1E24"/>
                </a:solidFill>
                <a:latin typeface="Times New Roman"/>
              </a:rPr>
              <a:t>runs in Mark 1</a:t>
            </a:r>
          </a:p>
        </p:txBody>
      </p:sp>
      <p:sp>
        <p:nvSpPr>
          <p:cNvPr id="39" name="legend:state:specified" descr="artifact"/>
          <p:cNvSpPr/>
          <p:nvPr/>
        </p:nvSpPr>
        <p:spPr>
          <a:xfrm>
            <a:off x="5325466" y="6350508"/>
            <a:ext cx="310896" cy="155448"/>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40" name="legend:state:specified:t"/>
          <p:cNvSpPr txBox="1"/>
          <p:nvPr/>
        </p:nvSpPr>
        <p:spPr>
          <a:xfrm>
            <a:off x="5691226" y="6309360"/>
            <a:ext cx="821131"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specified only</a:t>
            </a:r>
          </a:p>
        </p:txBody>
      </p:sp>
      <p:sp>
        <p:nvSpPr>
          <p:cNvPr id="41" name="legend:state:stretch" descr="artifact"/>
          <p:cNvSpPr/>
          <p:nvPr/>
        </p:nvSpPr>
        <p:spPr>
          <a:xfrm>
            <a:off x="6622085" y="6350508"/>
            <a:ext cx="310896" cy="155448"/>
          </a:xfrm>
          <a:prstGeom prst="rect">
            <a:avLst/>
          </a:prstGeom>
          <a:solidFill>
            <a:schemeClr val="bg1"/>
          </a:solidFill>
          <a:ln w="12700">
            <a:solidFill>
              <a:schemeClr val="accent3"/>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42" name="legend:state:stretch:t"/>
          <p:cNvSpPr txBox="1"/>
          <p:nvPr/>
        </p:nvSpPr>
        <p:spPr>
          <a:xfrm>
            <a:off x="6987845" y="6309360"/>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stretch</a:t>
            </a:r>
          </a:p>
        </p:txBody>
      </p:sp>
      <p:sp>
        <p:nvSpPr>
          <p:cNvPr id="46" name="legend:decision"/>
          <p:cNvSpPr/>
          <p:nvPr/>
        </p:nvSpPr>
        <p:spPr>
          <a:xfrm>
            <a:off x="8819388" y="6327648"/>
            <a:ext cx="237744" cy="201168"/>
          </a:xfrm>
          <a:prstGeom prst="diamond">
            <a:avLst/>
          </a:prstGeom>
          <a:solidFill>
            <a:schemeClr val="bg1"/>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7" name="legend:decision:t"/>
          <p:cNvSpPr txBox="1"/>
          <p:nvPr/>
        </p:nvSpPr>
        <p:spPr>
          <a:xfrm>
            <a:off x="9111996" y="6309360"/>
            <a:ext cx="1290218"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decision: a person only</a:t>
            </a:r>
          </a:p>
        </p:txBody>
      </p:sp>
      <p:sp>
        <p:nvSpPr>
          <p:cNvPr id="24" name="S4:MOD4" descr="artifact"/>
          <p:cNvSpPr/>
          <p:nvPr/>
        </p:nvSpPr>
        <p:spPr>
          <a:xfrm>
            <a:off x="9999726" y="4992624"/>
            <a:ext cx="1818589" cy="365760"/>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1000" b="1" i="0">
                <a:solidFill>
                  <a:srgbClr val="1E1E24"/>
                </a:solidFill>
                <a:latin typeface="Times New Roman"/>
              </a:rPr>
              <a:t>Verbal theory</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48" name="Rectangle 47"/>
          <p:cNvSpPr/>
          <p:nvPr/>
        </p:nvSpPr>
        <p:spPr>
          <a:xfrm>
            <a:off x="493776" y="1847088"/>
            <a:ext cx="3566160" cy="466344"/>
          </a:xfrm>
          <a:prstGeom prst="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lIns="64008" rIns="64008" tIns="27432" bIns="27432" wrap="square"/>
          <a:lstStyle/>
          <a:p>
            <a:pPr algn="l"/>
            <a:r>
              <a:rPr sz="850" b="1" i="0">
                <a:solidFill>
                  <a:srgbClr val="1E1E24"/>
                </a:solidFill>
                <a:latin typeface="Times New Roman"/>
              </a:rPr>
              <a:t>Appendix: </a:t>
            </a:r>
            <a:r>
              <a:rPr sz="850" b="0" i="0">
                <a:solidFill>
                  <a:srgbClr val="1E1E24"/>
                </a:solidFill>
                <a:latin typeface="Times New Roman"/>
              </a:rPr>
              <a:t>for the reader who checks. Proofs and derivations, procedures, full tables and robustness, data description; a short statement of scope and the choices made.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S3:L1:bg" descr="frame"/>
          <p:cNvSpPr/>
          <p:nvPr/>
        </p:nvSpPr>
        <p:spPr>
          <a:xfrm>
            <a:off x="365760" y="4526280"/>
            <a:ext cx="7680960" cy="822960"/>
          </a:xfrm>
          <a:prstGeom prst="rect">
            <a:avLst/>
          </a:prstGeom>
          <a:solidFill>
            <a:schemeClr val="accent3">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2" name="S3:L2:bg" descr="frame"/>
          <p:cNvSpPr/>
          <p:nvPr/>
        </p:nvSpPr>
        <p:spPr>
          <a:xfrm>
            <a:off x="365760" y="3657600"/>
            <a:ext cx="7680960" cy="822960"/>
          </a:xfrm>
          <a:prstGeom prst="rect">
            <a:avLst/>
          </a:prstGeom>
          <a:solidFill>
            <a:schemeClr val="accent3">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S3:L3:bg" descr="frame"/>
          <p:cNvSpPr/>
          <p:nvPr/>
        </p:nvSpPr>
        <p:spPr>
          <a:xfrm>
            <a:off x="365760" y="2788920"/>
            <a:ext cx="7680960" cy="822960"/>
          </a:xfrm>
          <a:prstGeom prst="rect">
            <a:avLst/>
          </a:prstGeom>
          <a:solidFill>
            <a:schemeClr val="accent3">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S3:L4:bg" descr="frame"/>
          <p:cNvSpPr/>
          <p:nvPr/>
        </p:nvSpPr>
        <p:spPr>
          <a:xfrm>
            <a:off x="365760" y="1536192"/>
            <a:ext cx="7680960" cy="822960"/>
          </a:xfrm>
          <a:prstGeom prst="rect">
            <a:avLst/>
          </a:prstGeom>
          <a:solidFill>
            <a:schemeClr val="accent4">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 name="title"/>
          <p:cNvSpPr txBox="1"/>
          <p:nvPr/>
        </p:nvSpPr>
        <p:spPr>
          <a:xfrm>
            <a:off x="365760" y="292608"/>
            <a:ext cx="11460175" cy="457200"/>
          </a:xfrm>
          <a:prstGeom prst="rect">
            <a:avLst/>
          </a:prstGeom>
          <a:noFill/>
        </p:spPr>
        <p:txBody>
          <a:bodyPr wrap="square" lIns="0" tIns="0" rIns="0" bIns="0" anchor="ctr">
            <a:noAutofit/>
          </a:bodyPr>
          <a:lstStyle/>
          <a:p>
            <a:pPr algn="l">
              <a:spcAft>
                <a:spcPts val="0"/>
              </a:spcAft>
            </a:pPr>
            <a:r>
              <a:rPr sz="2400" b="1" i="0">
                <a:solidFill>
                  <a:srgbClr val="1E1E24"/>
                </a:solidFill>
                <a:latin typeface="Times New Roman"/>
              </a:rPr>
              <a:t>Fig. 3 - Levels of assessment: what is checked, against what, and who decides</a:t>
            </a:r>
            <a:endParaRPr sz="2400" b="1" i="0" dirty="0">
              <a:solidFill>
                <a:schemeClr val="tx1"/>
              </a:solidFill>
              <a:latin typeface="Times New Roman" panose="02020603050405020304" pitchFamily="18" charset="0"/>
              <a:cs typeface="Times New Roman" panose="02020603050405020304" pitchFamily="18" charset="0"/>
            </a:endParaRPr>
          </a:p>
        </p:txBody>
      </p:sp>
      <p:sp>
        <p:nvSpPr>
          <p:cNvPr id="3" name="subtitle"/>
          <p:cNvSpPr txBox="1"/>
          <p:nvPr/>
        </p:nvSpPr>
        <p:spPr>
          <a:xfrm>
            <a:off x="365760" y="768096"/>
            <a:ext cx="11460175" cy="274320"/>
          </a:xfrm>
          <a:prstGeom prst="rect">
            <a:avLst/>
          </a:prstGeom>
          <a:noFill/>
        </p:spPr>
        <p:txBody>
          <a:bodyPr wrap="square" lIns="0" tIns="0" rIns="0" bIns="0" anchor="ctr">
            <a:noAutofit/>
          </a:bodyPr>
          <a:lstStyle/>
          <a:p>
            <a:pPr algn="l">
              <a:spcAft>
                <a:spcPts val="0"/>
              </a:spcAft>
            </a:pPr>
            <a:r>
              <a:rPr sz="1100" b="0" i="1">
                <a:solidFill>
                  <a:srgbClr val="1E1E24"/>
                </a:solidFill>
                <a:latin typeface="Times New Roman"/>
              </a:rPr>
              <a:t>Checks internal to the record verify integrity; checks that reach outside it verify warrant. Findings at Levels 1–3; signed decisions above the line.</a:t>
            </a:r>
            <a:endParaRPr sz="1100" b="0" i="1" dirty="0">
              <a:solidFill>
                <a:schemeClr val="tx2"/>
              </a:solidFill>
              <a:latin typeface="Times New Roman" panose="02020603050405020304" pitchFamily="18" charset="0"/>
              <a:cs typeface="Times New Roman" panose="02020603050405020304" pitchFamily="18" charset="0"/>
            </a:endParaRPr>
          </a:p>
        </p:txBody>
      </p:sp>
      <p:sp>
        <p:nvSpPr>
          <p:cNvPr id="4" name="S3:hdr:Level"/>
          <p:cNvSpPr txBox="1"/>
          <p:nvPr/>
        </p:nvSpPr>
        <p:spPr>
          <a:xfrm>
            <a:off x="438912" y="1188720"/>
            <a:ext cx="1133856" cy="274320"/>
          </a:xfrm>
          <a:prstGeom prst="rect">
            <a:avLst/>
          </a:prstGeom>
          <a:noFill/>
        </p:spPr>
        <p:txBody>
          <a:bodyPr wrap="square" lIns="0" tIns="0" rIns="0" bIns="0" anchor="b">
            <a:noAutofit/>
          </a:bodyPr>
          <a:lstStyle/>
          <a:p>
            <a:pPr algn="l">
              <a:spcAft>
                <a:spcPts val="0"/>
              </a:spcAft>
            </a:pPr>
            <a:r>
              <a:rPr sz="900" b="1" i="0">
                <a:solidFill>
                  <a:schemeClr val="accent6"/>
                </a:solidFill>
                <a:latin typeface="Times New Roman" panose="02020603050405020304" pitchFamily="18" charset="0"/>
                <a:cs typeface="Times New Roman" panose="02020603050405020304" pitchFamily="18" charset="0"/>
              </a:rPr>
              <a:t>Level</a:t>
            </a:r>
          </a:p>
        </p:txBody>
      </p:sp>
      <p:sp>
        <p:nvSpPr>
          <p:cNvPr id="5" name="S3:hdr:The qu"/>
          <p:cNvSpPr txBox="1"/>
          <p:nvPr/>
        </p:nvSpPr>
        <p:spPr>
          <a:xfrm>
            <a:off x="1719072" y="1188720"/>
            <a:ext cx="2551176" cy="274320"/>
          </a:xfrm>
          <a:prstGeom prst="rect">
            <a:avLst/>
          </a:prstGeom>
          <a:noFill/>
        </p:spPr>
        <p:txBody>
          <a:bodyPr wrap="square" lIns="0" tIns="0" rIns="0" bIns="0" anchor="b">
            <a:noAutofit/>
          </a:bodyPr>
          <a:lstStyle/>
          <a:p>
            <a:pPr algn="l">
              <a:spcAft>
                <a:spcPts val="0"/>
              </a:spcAft>
            </a:pPr>
            <a:r>
              <a:rPr sz="900" b="1" i="0">
                <a:solidFill>
                  <a:schemeClr val="accent6"/>
                </a:solidFill>
                <a:latin typeface="Times New Roman" panose="02020603050405020304" pitchFamily="18" charset="0"/>
                <a:cs typeface="Times New Roman" panose="02020603050405020304" pitchFamily="18" charset="0"/>
              </a:rPr>
              <a:t>The question</a:t>
            </a:r>
          </a:p>
        </p:txBody>
      </p:sp>
      <p:sp>
        <p:nvSpPr>
          <p:cNvPr id="6" name="S3:hdr:Who"/>
          <p:cNvSpPr txBox="1"/>
          <p:nvPr/>
        </p:nvSpPr>
        <p:spPr>
          <a:xfrm>
            <a:off x="4416552" y="1188720"/>
            <a:ext cx="813816" cy="274320"/>
          </a:xfrm>
          <a:prstGeom prst="rect">
            <a:avLst/>
          </a:prstGeom>
          <a:noFill/>
        </p:spPr>
        <p:txBody>
          <a:bodyPr wrap="square" lIns="0" tIns="0" rIns="0" bIns="0" anchor="b">
            <a:noAutofit/>
          </a:bodyPr>
          <a:lstStyle/>
          <a:p>
            <a:pPr algn="l">
              <a:spcAft>
                <a:spcPts val="0"/>
              </a:spcAft>
            </a:pPr>
            <a:r>
              <a:rPr sz="900" b="1" i="0">
                <a:solidFill>
                  <a:schemeClr val="accent6"/>
                </a:solidFill>
                <a:latin typeface="Times New Roman" panose="02020603050405020304" pitchFamily="18" charset="0"/>
                <a:cs typeface="Times New Roman" panose="02020603050405020304" pitchFamily="18" charset="0"/>
              </a:rPr>
              <a:t>Who</a:t>
            </a:r>
          </a:p>
        </p:txBody>
      </p:sp>
      <p:sp>
        <p:nvSpPr>
          <p:cNvPr id="7" name="S3:hdr:Output"/>
          <p:cNvSpPr txBox="1"/>
          <p:nvPr/>
        </p:nvSpPr>
        <p:spPr>
          <a:xfrm>
            <a:off x="5376672" y="1188720"/>
            <a:ext cx="1179576" cy="274320"/>
          </a:xfrm>
          <a:prstGeom prst="rect">
            <a:avLst/>
          </a:prstGeom>
          <a:noFill/>
        </p:spPr>
        <p:txBody>
          <a:bodyPr wrap="square" lIns="0" tIns="0" rIns="0" bIns="0" anchor="b">
            <a:noAutofit/>
          </a:bodyPr>
          <a:lstStyle/>
          <a:p>
            <a:pPr algn="l">
              <a:spcAft>
                <a:spcPts val="0"/>
              </a:spcAft>
            </a:pPr>
            <a:r>
              <a:rPr sz="900" b="1" i="0" dirty="0">
                <a:solidFill>
                  <a:schemeClr val="accent6"/>
                </a:solidFill>
                <a:latin typeface="Times New Roman" panose="02020603050405020304" pitchFamily="18" charset="0"/>
                <a:cs typeface="Times New Roman" panose="02020603050405020304" pitchFamily="18" charset="0"/>
              </a:rPr>
              <a:t>Output</a:t>
            </a:r>
          </a:p>
        </p:txBody>
      </p:sp>
      <p:sp>
        <p:nvSpPr>
          <p:cNvPr id="8" name="S3:hdr:A fail"/>
          <p:cNvSpPr txBox="1"/>
          <p:nvPr/>
        </p:nvSpPr>
        <p:spPr>
          <a:xfrm>
            <a:off x="6702552" y="1188720"/>
            <a:ext cx="1271016" cy="274320"/>
          </a:xfrm>
          <a:prstGeom prst="rect">
            <a:avLst/>
          </a:prstGeom>
          <a:noFill/>
        </p:spPr>
        <p:txBody>
          <a:bodyPr wrap="square" lIns="0" tIns="0" rIns="0" bIns="0" anchor="b">
            <a:noAutofit/>
          </a:bodyPr>
          <a:lstStyle/>
          <a:p>
            <a:pPr algn="l">
              <a:spcAft>
                <a:spcPts val="0"/>
              </a:spcAft>
            </a:pPr>
            <a:r>
              <a:rPr lang="en-GB" sz="900" b="1" i="0" dirty="0">
                <a:solidFill>
                  <a:schemeClr val="accent6"/>
                </a:solidFill>
                <a:latin typeface="Times New Roman" panose="02020603050405020304" pitchFamily="18" charset="0"/>
                <a:cs typeface="Times New Roman" panose="02020603050405020304" pitchFamily="18" charset="0"/>
              </a:rPr>
              <a:t>What follows</a:t>
            </a:r>
            <a:endParaRPr sz="900" b="1" i="0" dirty="0">
              <a:solidFill>
                <a:schemeClr val="accent6"/>
              </a:solidFill>
              <a:latin typeface="Times New Roman" panose="02020603050405020304" pitchFamily="18" charset="0"/>
              <a:cs typeface="Times New Roman" panose="02020603050405020304" pitchFamily="18" charset="0"/>
            </a:endParaRPr>
          </a:p>
        </p:txBody>
      </p:sp>
      <p:sp>
        <p:nvSpPr>
          <p:cNvPr id="10" name="S3:L4" descr="judgment"/>
          <p:cNvSpPr/>
          <p:nvPr/>
        </p:nvSpPr>
        <p:spPr>
          <a:xfrm>
            <a:off x="438912" y="1645920"/>
            <a:ext cx="1133856" cy="603504"/>
          </a:xfrm>
          <a:prstGeom prst="snip2SameRect">
            <a:avLst/>
          </a:prstGeom>
          <a:solidFill>
            <a:schemeClr val="accent4">
              <a:lumMod val="22000"/>
              <a:lumOff val="78000"/>
            </a:schemeClr>
          </a:solidFill>
          <a:ln w="12700">
            <a:solidFill>
              <a:schemeClr val="accent4"/>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50" b="1" i="0">
                <a:solidFill>
                  <a:srgbClr val="1E1E24"/>
                </a:solidFill>
                <a:latin typeface="Times New Roman"/>
              </a:rPr>
              <a:t>4 · New, then interesting</a:t>
            </a:r>
          </a:p>
        </p:txBody>
      </p:sp>
      <p:sp>
        <p:nvSpPr>
          <p:cNvPr id="12" name="S3:L4:c1"/>
          <p:cNvSpPr txBox="1"/>
          <p:nvPr/>
        </p:nvSpPr>
        <p:spPr>
          <a:xfrm>
            <a:off x="1719072" y="1591056"/>
            <a:ext cx="2551176" cy="713232"/>
          </a:xfrm>
          <a:prstGeom prst="rect">
            <a:avLst/>
          </a:prstGeom>
          <a:noFill/>
        </p:spPr>
        <p:txBody>
          <a:bodyPr wrap="square" lIns="0" tIns="0" rIns="0" bIns="0" anchor="ctr">
            <a:noAutofit/>
          </a:bodyPr>
          <a:lstStyle/>
          <a:p>
            <a:pPr algn="l">
              <a:spcAft>
                <a:spcPts val="0"/>
              </a:spcAft>
            </a:pPr>
            <a:r>
              <a:rPr sz="850" b="1" i="0">
                <a:solidFill>
                  <a:srgbClr val="1E1E24"/>
                </a:solidFill>
                <a:latin typeface="Times New Roman"/>
              </a:rPr>
              <a:t>New: </a:t>
            </a:r>
            <a:r>
              <a:rPr sz="850" b="0" i="0">
                <a:solidFill>
                  <a:srgbClr val="1E1E24"/>
                </a:solidFill>
                <a:latin typeface="Times New Roman"/>
              </a:rPr>
              <a:t>does the paper add to what is known: an answer to a question already posed, a question not posed before, a reading of results in hand, or new evidence on a claim already stated? Judged on the question the paper states.</a:t>
            </a:r>
            <a:endParaRPr sz="900" b="0" i="0" dirty="0">
              <a:solidFill>
                <a:schemeClr val="tx1"/>
              </a:solidFill>
              <a:latin typeface="Times New Roman" panose="02020603050405020304" pitchFamily="18" charset="0"/>
              <a:cs typeface="Times New Roman" panose="02020603050405020304" pitchFamily="18" charset="0"/>
            </a:endParaRPr>
          </a:p>
          <a:p>
            <a:pPr algn="l"/>
            <a:r>
              <a:rPr sz="850" b="1" i="0">
                <a:solidFill>
                  <a:srgbClr val="1E1E24"/>
                </a:solidFill>
                <a:latin typeface="Times New Roman"/>
              </a:rPr>
              <a:t>Interesting: </a:t>
            </a:r>
            <a:r>
              <a:rPr sz="850" b="0" i="0">
                <a:solidFill>
                  <a:srgbClr val="1E1E24"/>
                </a:solidFill>
                <a:latin typeface="Times New Roman"/>
              </a:rPr>
              <a:t>should this community attend to it now (Davis 1971)?</a:t>
            </a:r>
          </a:p>
        </p:txBody>
      </p:sp>
      <p:sp>
        <p:nvSpPr>
          <p:cNvPr id="13" name="S3:L4:c2"/>
          <p:cNvSpPr txBox="1"/>
          <p:nvPr/>
        </p:nvSpPr>
        <p:spPr>
          <a:xfrm>
            <a:off x="4416552" y="1591056"/>
            <a:ext cx="81381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New: one editor, on the map. Interesting: the editor and two named reviewers.</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14" name="S3:L4:c3"/>
          <p:cNvSpPr txBox="1"/>
          <p:nvPr/>
        </p:nvSpPr>
        <p:spPr>
          <a:xfrm>
            <a:off x="5376672" y="1591056"/>
            <a:ext cx="117957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Two signed judgments under published criteria; then the publication and the certificate, or nothing.</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15" name="S3:L4:c4"/>
          <p:cNvSpPr txBox="1"/>
          <p:nvPr/>
        </p:nvSpPr>
        <p:spPr>
          <a:xfrm>
            <a:off x="6702552" y="1591056"/>
            <a:ext cx="127101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Published and certified, or returned with nothing travelling. No partial certificate.</a:t>
            </a:r>
          </a:p>
        </p:txBody>
      </p:sp>
      <p:sp>
        <p:nvSpPr>
          <p:cNvPr id="17" name="S3:L3" descr="process"/>
          <p:cNvSpPr/>
          <p:nvPr/>
        </p:nvSpPr>
        <p:spPr>
          <a:xfrm>
            <a:off x="438912" y="2898648"/>
            <a:ext cx="1133856" cy="603504"/>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50" b="0" i="0">
                <a:solidFill>
                  <a:schemeClr val="tx1"/>
                </a:solidFill>
                <a:latin typeface="Times New Roman" panose="02020603050405020304" pitchFamily="18" charset="0"/>
                <a:cs typeface="Times New Roman" panose="02020603050405020304" pitchFamily="18" charset="0"/>
              </a:rPr>
              <a:t>3 · Warrant</a:t>
            </a:r>
          </a:p>
        </p:txBody>
      </p:sp>
      <p:sp>
        <p:nvSpPr>
          <p:cNvPr id="18" name="S3:L3:c1"/>
          <p:cNvSpPr txBox="1"/>
          <p:nvPr/>
        </p:nvSpPr>
        <p:spPr>
          <a:xfrm>
            <a:off x="1719072" y="2843784"/>
            <a:ext cx="255117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Do the claims match the evidence offered, judged against what the record does not supply: the published standard for the modality, the literature (the evidence map), re-execution under perturbation? External: verifies warrant.</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19" name="S3:L3:c2"/>
          <p:cNvSpPr txBox="1"/>
          <p:nvPr/>
        </p:nvSpPr>
        <p:spPr>
          <a:xfrm>
            <a:off x="4416552" y="2843784"/>
            <a:ext cx="813816" cy="713232"/>
          </a:xfrm>
          <a:prstGeom prst="rect">
            <a:avLst/>
          </a:prstGeom>
          <a:noFill/>
        </p:spPr>
        <p:txBody>
          <a:bodyPr wrap="square" lIns="0" tIns="0" rIns="0" bIns="0" anchor="ctr">
            <a:noAutofit/>
          </a:bodyPr>
          <a:lstStyle/>
          <a:p>
            <a:pPr algn="ctr">
              <a:spcAft>
                <a:spcPts val="0"/>
              </a:spcAft>
            </a:pPr>
            <a:r>
              <a:rPr sz="900" b="0" i="0">
                <a:solidFill>
                  <a:srgbClr val="1E1E24"/>
                </a:solidFill>
                <a:latin typeface="Times New Roman"/>
              </a:rPr>
              <a:t>Machine, reaching outside the record (SIEVE modules)</a:t>
            </a:r>
          </a:p>
        </p:txBody>
      </p:sp>
      <p:sp>
        <p:nvSpPr>
          <p:cNvPr id="20" name="S3:L3:c3"/>
          <p:cNvSpPr txBox="1"/>
          <p:nvPr/>
        </p:nvSpPr>
        <p:spPr>
          <a:xfrm>
            <a:off x="5376672" y="2843784"/>
            <a:ext cx="117957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Findings with a pointer to the record and to the standard applied; the evidence map.</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21" name="S3:L3:c4"/>
          <p:cNvSpPr txBox="1"/>
          <p:nvPr/>
        </p:nvSpPr>
        <p:spPr>
          <a:xfrm>
            <a:off x="6702552" y="2843784"/>
            <a:ext cx="127101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Strengthen the evidence or weaken the claims. Above the published threshold: return without review.</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23" name="S3:L2" descr="process"/>
          <p:cNvSpPr/>
          <p:nvPr/>
        </p:nvSpPr>
        <p:spPr>
          <a:xfrm>
            <a:off x="438912" y="3767328"/>
            <a:ext cx="1133856" cy="603504"/>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50" b="0" i="0">
                <a:solidFill>
                  <a:schemeClr val="tx1"/>
                </a:solidFill>
                <a:latin typeface="Times New Roman" panose="02020603050405020304" pitchFamily="18" charset="0"/>
                <a:cs typeface="Times New Roman" panose="02020603050405020304" pitchFamily="18" charset="0"/>
              </a:rPr>
              <a:t>2 · Correspondence</a:t>
            </a:r>
          </a:p>
        </p:txBody>
      </p:sp>
      <p:sp>
        <p:nvSpPr>
          <p:cNvPr id="24" name="S3:L2:c1"/>
          <p:cNvSpPr txBox="1"/>
          <p:nvPr/>
        </p:nvSpPr>
        <p:spPr>
          <a:xfrm>
            <a:off x="1719072" y="3712464"/>
            <a:ext cx="255117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Does the paper match the appendix, and the appendix the record, read through the AI appendix? Completeness, resolution, anchors. Internal: verifies integrity.</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25" name="S3:L2:c2"/>
          <p:cNvSpPr txBox="1"/>
          <p:nvPr/>
        </p:nvSpPr>
        <p:spPr>
          <a:xfrm>
            <a:off x="4416552" y="3712464"/>
            <a:ext cx="813816" cy="713232"/>
          </a:xfrm>
          <a:prstGeom prst="rect">
            <a:avLst/>
          </a:prstGeom>
          <a:noFill/>
        </p:spPr>
        <p:txBody>
          <a:bodyPr wrap="square" lIns="0" tIns="0" rIns="0" bIns="0" anchor="ctr">
            <a:noAutofit/>
          </a:bodyPr>
          <a:lstStyle/>
          <a:p>
            <a:pPr algn="ctr">
              <a:spcAft>
                <a:spcPts val="0"/>
              </a:spcAft>
            </a:pPr>
            <a:r>
              <a:rPr sz="900" b="0" i="0">
                <a:solidFill>
                  <a:schemeClr val="tx1"/>
                </a:solidFill>
                <a:latin typeface="Times New Roman" panose="02020603050405020304" pitchFamily="18" charset="0"/>
                <a:cs typeface="Times New Roman" panose="02020603050405020304" pitchFamily="18" charset="0"/>
              </a:rPr>
              <a:t>Machine</a:t>
            </a:r>
          </a:p>
        </p:txBody>
      </p:sp>
      <p:sp>
        <p:nvSpPr>
          <p:cNvPr id="26" name="S3:L2:c3"/>
          <p:cNvSpPr txBox="1"/>
          <p:nvPr/>
        </p:nvSpPr>
        <p:spPr>
          <a:xfrm>
            <a:off x="5376672" y="3712464"/>
            <a:ext cx="117957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Findings checkable from the record alone.</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27" name="S3:L2:c4"/>
          <p:cNvSpPr txBox="1"/>
          <p:nvPr/>
        </p:nvSpPr>
        <p:spPr>
          <a:xfrm>
            <a:off x="6702552" y="3712464"/>
            <a:ext cx="1271016" cy="713232"/>
          </a:xfrm>
          <a:prstGeom prst="rect">
            <a:avLst/>
          </a:prstGeom>
          <a:noFill/>
        </p:spPr>
        <p:txBody>
          <a:bodyPr wrap="square" lIns="0" tIns="0" rIns="0" bIns="0" anchor="ctr">
            <a:noAutofit/>
          </a:bodyPr>
          <a:lstStyle/>
          <a:p>
            <a:pPr algn="l">
              <a:spcAft>
                <a:spcPts val="0"/>
              </a:spcAft>
            </a:pPr>
            <a:r>
              <a:rPr sz="800" b="0" i="0">
                <a:solidFill>
                  <a:srgbClr val="1E1E24"/>
                </a:solidFill>
                <a:latin typeface="Times New Roman"/>
              </a:rPr>
              <a:t>Unresolved pointer or empty evidence: return for corrections, no new work (match paper, appendix, record). Partial evidence goes to review with the finding.</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29" name="S3:L1" descr="process"/>
          <p:cNvSpPr/>
          <p:nvPr/>
        </p:nvSpPr>
        <p:spPr>
          <a:xfrm>
            <a:off x="438912" y="4636008"/>
            <a:ext cx="1133856" cy="603504"/>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50" b="0" i="0">
                <a:solidFill>
                  <a:schemeClr val="tx1"/>
                </a:solidFill>
                <a:latin typeface="Times New Roman" panose="02020603050405020304" pitchFamily="18" charset="0"/>
                <a:cs typeface="Times New Roman" panose="02020603050405020304" pitchFamily="18" charset="0"/>
              </a:rPr>
              <a:t>1 · Form</a:t>
            </a:r>
          </a:p>
        </p:txBody>
      </p:sp>
      <p:sp>
        <p:nvSpPr>
          <p:cNvPr id="30" name="S3:L1:c1"/>
          <p:cNvSpPr txBox="1"/>
          <p:nvPr/>
        </p:nvSpPr>
        <p:spPr>
          <a:xfrm>
            <a:off x="1719072" y="4581144"/>
            <a:ext cx="255117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Does the record conform to the published protocol for its declared type: parts present, the paper's front notice, declarations made, the AI appendix in the published form or produced on intake? Internal.</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31" name="S3:L1:c2"/>
          <p:cNvSpPr txBox="1"/>
          <p:nvPr/>
        </p:nvSpPr>
        <p:spPr>
          <a:xfrm>
            <a:off x="4416552" y="4581144"/>
            <a:ext cx="813816" cy="713232"/>
          </a:xfrm>
          <a:prstGeom prst="rect">
            <a:avLst/>
          </a:prstGeom>
          <a:noFill/>
        </p:spPr>
        <p:txBody>
          <a:bodyPr wrap="square" lIns="0" tIns="0" rIns="0" bIns="0" anchor="ctr">
            <a:noAutofit/>
          </a:bodyPr>
          <a:lstStyle/>
          <a:p>
            <a:pPr algn="ctr">
              <a:spcAft>
                <a:spcPts val="0"/>
              </a:spcAft>
            </a:pPr>
            <a:r>
              <a:rPr lang="en-GB" sz="900" b="0" i="0" dirty="0">
                <a:solidFill>
                  <a:schemeClr val="tx1"/>
                </a:solidFill>
                <a:latin typeface="Times New Roman" panose="02020603050405020304" pitchFamily="18" charset="0"/>
                <a:cs typeface="Times New Roman" panose="02020603050405020304" pitchFamily="18" charset="0"/>
              </a:rPr>
              <a:t>Machine</a:t>
            </a:r>
          </a:p>
        </p:txBody>
      </p:sp>
      <p:sp>
        <p:nvSpPr>
          <p:cNvPr id="32" name="S3:L1:c3"/>
          <p:cNvSpPr txBox="1"/>
          <p:nvPr/>
        </p:nvSpPr>
        <p:spPr>
          <a:xfrm>
            <a:off x="5376672" y="4581144"/>
            <a:ext cx="1179576" cy="713232"/>
          </a:xfrm>
          <a:prstGeom prst="rect">
            <a:avLst/>
          </a:prstGeom>
          <a:noFill/>
        </p:spPr>
        <p:txBody>
          <a:bodyPr wrap="square" lIns="0" tIns="0" rIns="0" bIns="0" anchor="ctr">
            <a:noAutofit/>
          </a:bodyPr>
          <a:lstStyle/>
          <a:p>
            <a:pPr algn="l">
              <a:spcAft>
                <a:spcPts val="0"/>
              </a:spcAft>
            </a:pPr>
            <a:r>
              <a:rPr sz="900" b="0" i="0">
                <a:solidFill>
                  <a:srgbClr val="1E1E24"/>
                </a:solidFill>
                <a:latin typeface="Times New Roman"/>
              </a:rPr>
              <a:t>Findings; nothing is rejected on form.</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33" name="S3:L1:c4"/>
          <p:cNvSpPr txBox="1"/>
          <p:nvPr/>
        </p:nvSpPr>
        <p:spPr>
          <a:xfrm>
            <a:off x="6702552" y="4617720"/>
            <a:ext cx="1271016" cy="713232"/>
          </a:xfrm>
          <a:prstGeom prst="rect">
            <a:avLst/>
          </a:prstGeom>
          <a:noFill/>
        </p:spPr>
        <p:txBody>
          <a:bodyPr wrap="square" lIns="0" tIns="0" rIns="0" bIns="0" anchor="ctr">
            <a:noAutofit/>
          </a:bodyPr>
          <a:lstStyle/>
          <a:p>
            <a:pPr algn="l"/>
            <a:r>
              <a:rPr sz="900" b="0" i="0">
                <a:solidFill>
                  <a:srgbClr val="1E1E24"/>
                </a:solidFill>
                <a:latin typeface="Times New Roman"/>
              </a:rPr>
              <a:t>The author's AI brings the record to the protocol. Return for corrections.</a:t>
            </a:r>
          </a:p>
        </p:txBody>
      </p:sp>
      <p:sp>
        <p:nvSpPr>
          <p:cNvPr id="34" name="S3:DL:a" descr="frame"/>
          <p:cNvSpPr/>
          <p:nvPr/>
        </p:nvSpPr>
        <p:spPr>
          <a:xfrm>
            <a:off x="365760" y="2633472"/>
            <a:ext cx="9144" cy="91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5" name="S3:DL:b" descr="frame"/>
          <p:cNvSpPr/>
          <p:nvPr/>
        </p:nvSpPr>
        <p:spPr>
          <a:xfrm>
            <a:off x="8046720" y="2633472"/>
            <a:ext cx="9144" cy="91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cxnSp>
        <p:nvCxnSpPr>
          <p:cNvPr id="36" name="S3:DL"/>
          <p:cNvCxnSpPr>
            <a:stCxn id="34" idx="3"/>
            <a:endCxn id="35" idx="1"/>
          </p:cNvCxnSpPr>
          <p:nvPr/>
        </p:nvCxnSpPr>
        <p:spPr>
          <a:xfrm>
            <a:off x="374904" y="2638044"/>
            <a:ext cx="7671816" cy="0"/>
          </a:xfrm>
          <a:prstGeom prst="line">
            <a:avLst/>
          </a:prstGeom>
          <a:ln w="12700">
            <a:solidFill>
              <a:schemeClr val="accent5"/>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7" name="S3:DL:label"/>
          <p:cNvSpPr txBox="1"/>
          <p:nvPr/>
        </p:nvSpPr>
        <p:spPr>
          <a:xfrm>
            <a:off x="457200" y="2404872"/>
            <a:ext cx="7498080" cy="201168"/>
          </a:xfrm>
          <a:prstGeom prst="rect">
            <a:avLst/>
          </a:prstGeom>
          <a:solidFill>
            <a:schemeClr val="bg1"/>
          </a:solidFill>
        </p:spPr>
        <p:txBody>
          <a:bodyPr wrap="square" lIns="0" tIns="0" rIns="0" bIns="0" anchor="ctr">
            <a:noAutofit/>
          </a:bodyPr>
          <a:lstStyle/>
          <a:p>
            <a:pPr algn="ctr">
              <a:spcAft>
                <a:spcPts val="0"/>
              </a:spcAft>
            </a:pPr>
            <a:r>
              <a:rPr sz="900" b="0" i="0">
                <a:solidFill>
                  <a:srgbClr val="1E1E24"/>
                </a:solidFill>
                <a:latin typeface="Times New Roman"/>
              </a:rPr>
              <a:t>Above the line, named people decide and sign. Below it, the machine emits findings with pointers, never a verdict.</a:t>
            </a:r>
            <a:endParaRPr sz="900" b="1" i="0" dirty="0">
              <a:solidFill>
                <a:schemeClr val="accent5"/>
              </a:solidFill>
              <a:latin typeface="Times New Roman" panose="02020603050405020304" pitchFamily="18" charset="0"/>
              <a:cs typeface="Times New Roman" panose="02020603050405020304" pitchFamily="18" charset="0"/>
            </a:endParaRPr>
          </a:p>
        </p:txBody>
      </p:sp>
      <p:sp>
        <p:nvSpPr>
          <p:cNvPr id="38" name="S3:COD" descr="note"/>
          <p:cNvSpPr/>
          <p:nvPr/>
        </p:nvSpPr>
        <p:spPr>
          <a:xfrm>
            <a:off x="365760" y="5468112"/>
            <a:ext cx="7680960" cy="640080"/>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noAutofit/>
          </a:bodyPr>
          <a:lstStyle/>
          <a:p>
            <a:pPr algn="l">
              <a:spcAft>
                <a:spcPts val="0"/>
              </a:spcAft>
            </a:pPr>
            <a:r>
              <a:rPr sz="950" b="0" i="0">
                <a:solidFill>
                  <a:srgbClr val="1E1E24"/>
                </a:solidFill>
                <a:latin typeface="Times New Roman"/>
              </a:rPr>
              <a:t>Findings describe the paper; actions are what the journal does next. The published mapping links them, a named editor applies it, and departures are recorded with their reason. An AI-written paper passes Levels 1–2 by construction; Level 3 is where the AI-age work is done.</a:t>
            </a:r>
          </a:p>
        </p:txBody>
      </p:sp>
      <p:sp>
        <p:nvSpPr>
          <p:cNvPr id="40" name="S3:T1" descr="process"/>
          <p:cNvSpPr/>
          <p:nvPr/>
        </p:nvSpPr>
        <p:spPr>
          <a:xfrm>
            <a:off x="8321040" y="1536192"/>
            <a:ext cx="3504895" cy="914400"/>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l"/>
            <a:r>
              <a:rPr sz="950" b="1" i="0">
                <a:solidFill>
                  <a:srgbClr val="1E1E24"/>
                </a:solidFill>
                <a:latin typeface="Times New Roman"/>
              </a:rPr>
              <a:t>Verification — </a:t>
            </a:r>
            <a:r>
              <a:rPr sz="950" b="0" i="0">
                <a:solidFill>
                  <a:srgbClr val="1E1E24"/>
                </a:solidFill>
                <a:latin typeface="Times New Roman"/>
              </a:rPr>
              <a:t>the machine checks the record, internally for integrity and externally for warrant, links each finding to evidence and to the standard applied, and versions it with the model that produced it.</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41" name="S3:T2" descr="judgment"/>
          <p:cNvSpPr/>
          <p:nvPr/>
        </p:nvSpPr>
        <p:spPr>
          <a:xfrm>
            <a:off x="8321040" y="2743200"/>
            <a:ext cx="3504895" cy="914400"/>
          </a:xfrm>
          <a:prstGeom prst="snip2Same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l">
              <a:spcAft>
                <a:spcPts val="0"/>
              </a:spcAft>
            </a:pPr>
            <a:r>
              <a:rPr sz="950" b="1" i="0">
                <a:solidFill>
                  <a:srgbClr val="1E1E24"/>
                </a:solidFill>
                <a:latin typeface="Times New Roman"/>
              </a:rPr>
              <a:t>Judgment — </a:t>
            </a:r>
            <a:r>
              <a:rPr sz="950" b="0" i="0">
                <a:solidFill>
                  <a:srgbClr val="1E1E24"/>
                </a:solidFill>
                <a:latin typeface="Times New Roman"/>
              </a:rPr>
              <a:t>named people decide whether the contribution is new and whether it is of interest to this community, under published criteria, and sign.</a:t>
            </a:r>
            <a:endParaRPr sz="950" b="0" i="0" dirty="0">
              <a:solidFill>
                <a:schemeClr val="tx1"/>
              </a:solidFill>
              <a:latin typeface="Times New Roman" panose="02020603050405020304" pitchFamily="18" charset="0"/>
              <a:cs typeface="Times New Roman" panose="02020603050405020304" pitchFamily="18" charset="0"/>
            </a:endParaRPr>
          </a:p>
        </p:txBody>
      </p:sp>
      <p:sp>
        <p:nvSpPr>
          <p:cNvPr id="42" name="S3:T3" descr="artifact"/>
          <p:cNvSpPr/>
          <p:nvPr/>
        </p:nvSpPr>
        <p:spPr>
          <a:xfrm>
            <a:off x="8321040" y="3950208"/>
            <a:ext cx="3504895" cy="914400"/>
          </a:xfrm>
          <a:prstGeom prst="rect">
            <a:avLst/>
          </a:prstGeom>
          <a:solidFill>
            <a:schemeClr val="accent1">
              <a:lumMod val="22000"/>
              <a:lumOff val="78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l">
              <a:spcAft>
                <a:spcPts val="0"/>
              </a:spcAft>
            </a:pPr>
            <a:r>
              <a:rPr sz="950" b="1" i="0">
                <a:solidFill>
                  <a:srgbClr val="1E1E24"/>
                </a:solidFill>
                <a:latin typeface="Times New Roman"/>
              </a:rPr>
              <a:t>Accountability — </a:t>
            </a:r>
            <a:r>
              <a:rPr sz="950" b="0" i="0">
                <a:solidFill>
                  <a:srgbClr val="1E1E24"/>
                </a:solidFill>
                <a:latin typeface="Times New Roman"/>
              </a:rPr>
              <a:t>people answer for decisions, not for findings. The mapping is published, departures are recorded, and the departure rate is public, so a journal that automates is visible.</a:t>
            </a:r>
            <a:endParaRPr sz="950" b="0" i="0" dirty="0">
              <a:solidFill>
                <a:schemeClr val="tx1"/>
              </a:solidFill>
              <a:latin typeface="Times New Roman" panose="02020603050405020304" pitchFamily="18" charset="0"/>
              <a:cs typeface="Times New Roman" panose="02020603050405020304" pitchFamily="18" charset="0"/>
            </a:endParaRPr>
          </a:p>
        </p:txBody>
      </p:sp>
      <p:cxnSp>
        <p:nvCxnSpPr>
          <p:cNvPr id="43" name="S3:T1&gt;T2"/>
          <p:cNvCxnSpPr>
            <a:stCxn id="40" idx="2"/>
            <a:endCxn id="41" idx="0"/>
          </p:cNvCxnSpPr>
          <p:nvPr/>
        </p:nvCxnSpPr>
        <p:spPr>
          <a:xfrm flipH="1">
            <a:off x="10073488" y="2450592"/>
            <a:ext cx="0" cy="292608"/>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S3:T2&gt;T3"/>
          <p:cNvCxnSpPr>
            <a:stCxn id="41" idx="2"/>
            <a:endCxn id="42" idx="0"/>
          </p:cNvCxnSpPr>
          <p:nvPr/>
        </p:nvCxnSpPr>
        <p:spPr>
          <a:xfrm flipH="1">
            <a:off x="10073488" y="3657600"/>
            <a:ext cx="0" cy="292608"/>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S3:T1&gt;T2:label"/>
          <p:cNvSpPr txBox="1"/>
          <p:nvPr/>
        </p:nvSpPr>
        <p:spPr>
          <a:xfrm>
            <a:off x="10164928" y="2496312"/>
            <a:ext cx="914400" cy="201168"/>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findings</a:t>
            </a:r>
          </a:p>
        </p:txBody>
      </p:sp>
      <p:sp>
        <p:nvSpPr>
          <p:cNvPr id="46" name="S3:T2&gt;T3:label"/>
          <p:cNvSpPr txBox="1"/>
          <p:nvPr/>
        </p:nvSpPr>
        <p:spPr>
          <a:xfrm>
            <a:off x="10164928" y="3703320"/>
            <a:ext cx="914400" cy="201168"/>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decisions</a:t>
            </a:r>
          </a:p>
        </p:txBody>
      </p:sp>
      <p:sp>
        <p:nvSpPr>
          <p:cNvPr id="47" name="S3:CMP" descr="note"/>
          <p:cNvSpPr/>
          <p:nvPr/>
        </p:nvSpPr>
        <p:spPr>
          <a:xfrm>
            <a:off x="8321040" y="4974336"/>
            <a:ext cx="3504895" cy="1133856"/>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l">
              <a:spcAft>
                <a:spcPts val="0"/>
              </a:spcAft>
            </a:pPr>
            <a:r>
              <a:rPr sz="950" b="1" i="0">
                <a:solidFill>
                  <a:srgbClr val="1E1E24"/>
                </a:solidFill>
                <a:latin typeface="Times New Roman"/>
              </a:rPr>
              <a:t>A desk rejection today: </a:t>
            </a:r>
            <a:r>
              <a:rPr sz="950" b="0" i="0">
                <a:solidFill>
                  <a:srgbClr val="1E1E24"/>
                </a:solidFill>
                <a:latin typeface="Times New Roman"/>
              </a:rPr>
              <a:t>rarely explained and difficult to contest.</a:t>
            </a:r>
          </a:p>
          <a:p>
            <a:pPr algn="l"/>
            <a:r>
              <a:rPr sz="950" b="1" i="0">
                <a:solidFill>
                  <a:srgbClr val="1E1E24"/>
                </a:solidFill>
                <a:latin typeface="Times New Roman"/>
              </a:rPr>
              <a:t>A return here: </a:t>
            </a:r>
            <a:r>
              <a:rPr sz="950" b="0" i="0">
                <a:solidFill>
                  <a:srgbClr val="1E1E24"/>
                </a:solidFill>
                <a:latin typeface="Times New Roman"/>
              </a:rPr>
              <a:t>a finding with a pointer, a published rule, and a name; the author holds their own report from the same checks, so a return rests on a finding they saw or on one marked as absent from their run.</a:t>
            </a:r>
          </a:p>
        </p:txBody>
      </p:sp>
      <p:sp>
        <p:nvSpPr>
          <p:cNvPr id="48" name="legend:role:journal" descr="frame"/>
          <p:cNvSpPr/>
          <p:nvPr/>
        </p:nvSpPr>
        <p:spPr>
          <a:xfrm>
            <a:off x="374904" y="6342110"/>
            <a:ext cx="146304" cy="146304"/>
          </a:xfrm>
          <a:prstGeom prst="rect">
            <a:avLst/>
          </a:prstGeom>
          <a:solidFill>
            <a:schemeClr val="accent1">
              <a:lumMod val="22000"/>
              <a:lumOff val="78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9" name="legend:role:journal:t"/>
          <p:cNvSpPr txBox="1"/>
          <p:nvPr/>
        </p:nvSpPr>
        <p:spPr>
          <a:xfrm>
            <a:off x="566928" y="6296390"/>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Journal</a:t>
            </a:r>
          </a:p>
        </p:txBody>
      </p:sp>
      <p:sp>
        <p:nvSpPr>
          <p:cNvPr id="50" name="legend:role:author" descr="frame"/>
          <p:cNvSpPr/>
          <p:nvPr/>
        </p:nvSpPr>
        <p:spPr>
          <a:xfrm>
            <a:off x="1132942" y="6342110"/>
            <a:ext cx="146304" cy="146304"/>
          </a:xfrm>
          <a:prstGeom prst="rect">
            <a:avLst/>
          </a:prstGeom>
          <a:solidFill>
            <a:schemeClr val="accent2">
              <a:lumMod val="22000"/>
              <a:lumOff val="78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1" name="legend:role:author:t"/>
          <p:cNvSpPr txBox="1"/>
          <p:nvPr/>
        </p:nvSpPr>
        <p:spPr>
          <a:xfrm>
            <a:off x="1324966" y="6296390"/>
            <a:ext cx="664769"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Author + AI</a:t>
            </a:r>
          </a:p>
        </p:txBody>
      </p:sp>
      <p:sp>
        <p:nvSpPr>
          <p:cNvPr id="52" name="legend:role:machine" descr="frame"/>
          <p:cNvSpPr/>
          <p:nvPr/>
        </p:nvSpPr>
        <p:spPr>
          <a:xfrm>
            <a:off x="2099462" y="6342110"/>
            <a:ext cx="146304" cy="146304"/>
          </a:xfrm>
          <a:prstGeom prst="rect">
            <a:avLst/>
          </a:prstGeom>
          <a:solidFill>
            <a:schemeClr val="accent3">
              <a:lumMod val="22000"/>
              <a:lumOff val="78000"/>
            </a:schemeClr>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3" name="legend:role:machine:t"/>
          <p:cNvSpPr txBox="1"/>
          <p:nvPr/>
        </p:nvSpPr>
        <p:spPr>
          <a:xfrm>
            <a:off x="2291486" y="6296390"/>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Machine</a:t>
            </a:r>
          </a:p>
        </p:txBody>
      </p:sp>
      <p:sp>
        <p:nvSpPr>
          <p:cNvPr id="54" name="legend:role:human" descr="frame"/>
          <p:cNvSpPr/>
          <p:nvPr/>
        </p:nvSpPr>
        <p:spPr>
          <a:xfrm>
            <a:off x="2857500" y="6342110"/>
            <a:ext cx="146304" cy="146304"/>
          </a:xfrm>
          <a:prstGeom prst="rect">
            <a:avLst/>
          </a:prstGeom>
          <a:solidFill>
            <a:schemeClr val="accent4">
              <a:lumMod val="22000"/>
              <a:lumOff val="78000"/>
            </a:schemeClr>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5" name="legend:role:human:t"/>
          <p:cNvSpPr txBox="1"/>
          <p:nvPr/>
        </p:nvSpPr>
        <p:spPr>
          <a:xfrm>
            <a:off x="3049524" y="6296390"/>
            <a:ext cx="716890"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Named people</a:t>
            </a:r>
          </a:p>
        </p:txBody>
      </p:sp>
      <p:sp>
        <p:nvSpPr>
          <p:cNvPr id="56" name="legend:state:built" descr="artifact"/>
          <p:cNvSpPr/>
          <p:nvPr/>
        </p:nvSpPr>
        <p:spPr>
          <a:xfrm>
            <a:off x="3985870" y="6337538"/>
            <a:ext cx="310896" cy="155448"/>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57" name="legend:state:built:t"/>
          <p:cNvSpPr txBox="1"/>
          <p:nvPr/>
        </p:nvSpPr>
        <p:spPr>
          <a:xfrm>
            <a:off x="4351630" y="6296390"/>
            <a:ext cx="873252" cy="237744"/>
          </a:xfrm>
          <a:prstGeom prst="rect">
            <a:avLst/>
          </a:prstGeom>
          <a:noFill/>
        </p:spPr>
        <p:txBody>
          <a:bodyPr wrap="square" lIns="0" tIns="0" rIns="0" bIns="0" anchor="ctr">
            <a:noAutofit/>
          </a:bodyPr>
          <a:lstStyle/>
          <a:p>
            <a:pPr algn="l">
              <a:spcAft>
                <a:spcPts val="0"/>
              </a:spcAft>
            </a:pPr>
            <a:r>
              <a:rPr sz="850" b="0" i="0">
                <a:solidFill>
                  <a:srgbClr val="1E1E24"/>
                </a:solidFill>
                <a:latin typeface="Times New Roman"/>
              </a:rPr>
              <a:t>runs in Mark 1</a:t>
            </a:r>
          </a:p>
        </p:txBody>
      </p:sp>
      <p:sp>
        <p:nvSpPr>
          <p:cNvPr id="58" name="legend:state:specified" descr="artifact"/>
          <p:cNvSpPr/>
          <p:nvPr/>
        </p:nvSpPr>
        <p:spPr>
          <a:xfrm>
            <a:off x="5334610" y="6337538"/>
            <a:ext cx="310896" cy="155448"/>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59" name="legend:state:specified:t"/>
          <p:cNvSpPr txBox="1"/>
          <p:nvPr/>
        </p:nvSpPr>
        <p:spPr>
          <a:xfrm>
            <a:off x="5700370" y="6296390"/>
            <a:ext cx="821131"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specified only</a:t>
            </a:r>
          </a:p>
        </p:txBody>
      </p:sp>
      <p:sp>
        <p:nvSpPr>
          <p:cNvPr id="63" name="legend:decision"/>
          <p:cNvSpPr/>
          <p:nvPr/>
        </p:nvSpPr>
        <p:spPr>
          <a:xfrm>
            <a:off x="7896758" y="6314678"/>
            <a:ext cx="237744" cy="201168"/>
          </a:xfrm>
          <a:prstGeom prst="diamond">
            <a:avLst/>
          </a:prstGeom>
          <a:solidFill>
            <a:schemeClr val="bg1"/>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4" name="legend:decision:t"/>
          <p:cNvSpPr txBox="1"/>
          <p:nvPr/>
        </p:nvSpPr>
        <p:spPr>
          <a:xfrm>
            <a:off x="8189366" y="6296390"/>
            <a:ext cx="1290218"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decision: a person only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365760" y="292608"/>
            <a:ext cx="11460175" cy="457200"/>
          </a:xfrm>
          <a:prstGeom prst="rect">
            <a:avLst/>
          </a:prstGeom>
          <a:noFill/>
        </p:spPr>
        <p:txBody>
          <a:bodyPr wrap="square" lIns="0" tIns="0" rIns="0" bIns="0" anchor="ctr">
            <a:noAutofit/>
          </a:bodyPr>
          <a:lstStyle/>
          <a:p>
            <a:pPr algn="l">
              <a:spcAft>
                <a:spcPts val="0"/>
              </a:spcAft>
            </a:pPr>
            <a:r>
              <a:rPr sz="2400" b="1" i="0">
                <a:solidFill>
                  <a:srgbClr val="1E1E24"/>
                </a:solidFill>
                <a:latin typeface="Times New Roman"/>
              </a:rPr>
              <a:t>Fig. 4 - The system: one paper's path</a:t>
            </a:r>
            <a:endParaRPr sz="2400" b="1" i="0" dirty="0">
              <a:solidFill>
                <a:schemeClr val="tx1"/>
              </a:solidFill>
              <a:latin typeface="Times New Roman" panose="02020603050405020304" pitchFamily="18" charset="0"/>
              <a:cs typeface="Times New Roman" panose="02020603050405020304" pitchFamily="18" charset="0"/>
            </a:endParaRPr>
          </a:p>
        </p:txBody>
      </p:sp>
      <p:sp>
        <p:nvSpPr>
          <p:cNvPr id="3" name="subtitle"/>
          <p:cNvSpPr txBox="1"/>
          <p:nvPr/>
        </p:nvSpPr>
        <p:spPr>
          <a:xfrm>
            <a:off x="378159" y="746127"/>
            <a:ext cx="11460175" cy="274320"/>
          </a:xfrm>
          <a:prstGeom prst="rect">
            <a:avLst/>
          </a:prstGeom>
          <a:noFill/>
        </p:spPr>
        <p:txBody>
          <a:bodyPr wrap="square" lIns="0" tIns="0" rIns="0" bIns="0" anchor="ctr">
            <a:noAutofit/>
          </a:bodyPr>
          <a:lstStyle/>
          <a:p>
            <a:pPr algn="l">
              <a:spcAft>
                <a:spcPts val="0"/>
              </a:spcAft>
            </a:pPr>
            <a:r>
              <a:rPr sz="1100" b="0" i="1">
                <a:solidFill>
                  <a:srgbClr val="1E1E24"/>
                </a:solidFill>
                <a:latin typeface="Times New Roman"/>
              </a:rPr>
              <a:t>A journal publishes its standard; AI keeps the record and checks it; named people decide, and sign; the journal publishes and certifies.</a:t>
            </a:r>
          </a:p>
        </p:txBody>
      </p:sp>
      <p:sp>
        <p:nvSpPr>
          <p:cNvPr id="4" name="S1:N1" descr="artifact"/>
          <p:cNvSpPr/>
          <p:nvPr/>
        </p:nvSpPr>
        <p:spPr>
          <a:xfrm>
            <a:off x="587351" y="1451107"/>
            <a:ext cx="2377440" cy="1143000"/>
          </a:xfrm>
          <a:prstGeom prst="rect">
            <a:avLst/>
          </a:prstGeom>
          <a:solidFill>
            <a:schemeClr val="accent1">
              <a:lumMod val="22000"/>
              <a:lumOff val="78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1000" b="1" i="0">
                <a:solidFill>
                  <a:srgbClr val="1E1E24"/>
                </a:solidFill>
                <a:latin typeface="Times New Roman"/>
              </a:rPr>
              <a:t>The journal publishes, versioned: </a:t>
            </a:r>
            <a:r>
              <a:rPr sz="1000" b="0" i="0">
                <a:solidFill>
                  <a:srgbClr val="1E1E24"/>
                </a:solidFill>
                <a:latin typeface="Times New Roman"/>
              </a:rPr>
              <a:t>the record protocol (a field spec shared across journals), the checks, the standard the checks apply, the mapping from findings to actions, and its community's interest criteria.</a:t>
            </a:r>
            <a:endParaRPr sz="1000" b="0" i="0" dirty="0">
              <a:solidFill>
                <a:srgbClr val="FF0000"/>
              </a:solidFill>
              <a:latin typeface="Times New Roman" panose="02020603050405020304" pitchFamily="18" charset="0"/>
              <a:cs typeface="Times New Roman" panose="02020603050405020304" pitchFamily="18" charset="0"/>
            </a:endParaRPr>
          </a:p>
        </p:txBody>
      </p:sp>
      <p:sp>
        <p:nvSpPr>
          <p:cNvPr id="5" name="S1:N2" descr="process"/>
          <p:cNvSpPr/>
          <p:nvPr/>
        </p:nvSpPr>
        <p:spPr>
          <a:xfrm>
            <a:off x="3421991" y="1451107"/>
            <a:ext cx="2377440" cy="1143000"/>
          </a:xfrm>
          <a:prstGeom prst="round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50" b="1" i="0">
                <a:solidFill>
                  <a:srgbClr val="1E1E24"/>
                </a:solidFill>
                <a:latin typeface="Times New Roman"/>
              </a:rPr>
              <a:t>The author works however they like. </a:t>
            </a:r>
            <a:r>
              <a:rPr sz="950" b="0" i="0">
                <a:solidFill>
                  <a:srgbClr val="1E1E24"/>
                </a:solidFill>
                <a:latin typeface="Times New Roman"/>
              </a:rPr>
              <a:t>AI keeps the research record as the work proceeds, and the working history accrues from the start. The AI appendix is the author's, written with any tool. How the author meets the standard is the author's business.</a:t>
            </a:r>
            <a:endParaRPr sz="1000" b="0" i="0" dirty="0">
              <a:solidFill>
                <a:srgbClr val="FF0000"/>
              </a:solidFill>
              <a:latin typeface="Times New Roman" panose="02020603050405020304" pitchFamily="18" charset="0"/>
              <a:cs typeface="Times New Roman" panose="02020603050405020304" pitchFamily="18" charset="0"/>
            </a:endParaRPr>
          </a:p>
        </p:txBody>
      </p:sp>
      <p:sp>
        <p:nvSpPr>
          <p:cNvPr id="6" name="S1:N3" descr="record"/>
          <p:cNvSpPr/>
          <p:nvPr/>
        </p:nvSpPr>
        <p:spPr>
          <a:xfrm>
            <a:off x="6256631" y="1451107"/>
            <a:ext cx="2642616" cy="1124712"/>
          </a:xfrm>
          <a:prstGeom prst="flowChartMultidocumen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00" b="1" i="0">
                <a:solidFill>
                  <a:srgbClr val="1E1E24"/>
                </a:solidFill>
                <a:latin typeface="Times New Roman"/>
              </a:rPr>
              <a:t>The research record: </a:t>
            </a:r>
            <a:r>
              <a:rPr sz="900" b="0" i="0">
                <a:solidFill>
                  <a:srgbClr val="1E1E24"/>
                </a:solidFill>
                <a:latin typeface="Times New Roman"/>
              </a:rPr>
              <a:t>the paper, the appendix, and the author's AI appendix; data, code, materials; provenance linking each result to what produced it; declarations of type, standard, and AI use.</a:t>
            </a:r>
            <a:endParaRPr sz="1000" b="0" i="0" dirty="0">
              <a:solidFill>
                <a:schemeClr val="tx1"/>
              </a:solidFill>
              <a:latin typeface="Times New Roman" panose="02020603050405020304" pitchFamily="18" charset="0"/>
              <a:cs typeface="Times New Roman" panose="02020603050405020304" pitchFamily="18" charset="0"/>
            </a:endParaRPr>
          </a:p>
        </p:txBody>
      </p:sp>
      <p:sp>
        <p:nvSpPr>
          <p:cNvPr id="7" name="S1:N4" descr="process"/>
          <p:cNvSpPr/>
          <p:nvPr/>
        </p:nvSpPr>
        <p:spPr>
          <a:xfrm>
            <a:off x="9091271" y="1451107"/>
            <a:ext cx="2377440" cy="1143000"/>
          </a:xfrm>
          <a:prstGeom prst="roundRect">
            <a:avLst/>
          </a:prstGeom>
          <a:solidFill>
            <a:schemeClr val="accent2">
              <a:lumMod val="22000"/>
              <a:lumOff val="78000"/>
            </a:schemeClr>
          </a:solidFill>
          <a:ln w="12700">
            <a:solidFill>
              <a:schemeClr val="accent2"/>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1000" b="1" i="0">
                <a:solidFill>
                  <a:srgbClr val="1E1E24"/>
                </a:solidFill>
                <a:latin typeface="Times New Roman"/>
              </a:rPr>
              <a:t>Submission: </a:t>
            </a:r>
            <a:r>
              <a:rPr sz="1000" b="0" i="0">
                <a:solidFill>
                  <a:srgbClr val="1E1E24"/>
                </a:solidFill>
                <a:latin typeface="Times New Roman"/>
              </a:rPr>
              <a:t>the record, with the author's own findings report from the published checks. Working history at the author's choice. The journal receives records the author has already checked, and compares its run to theirs.</a:t>
            </a:r>
            <a:endParaRPr sz="1000" i="0" dirty="0">
              <a:solidFill>
                <a:schemeClr val="tx1"/>
              </a:solidFill>
              <a:latin typeface="Times New Roman" panose="02020603050405020304" pitchFamily="18" charset="0"/>
              <a:cs typeface="Times New Roman" panose="02020603050405020304" pitchFamily="18" charset="0"/>
            </a:endParaRPr>
          </a:p>
        </p:txBody>
      </p:sp>
      <p:sp>
        <p:nvSpPr>
          <p:cNvPr id="9" name="S1:N5" descr="process"/>
          <p:cNvSpPr/>
          <p:nvPr/>
        </p:nvSpPr>
        <p:spPr>
          <a:xfrm>
            <a:off x="9091271" y="3371347"/>
            <a:ext cx="2377440" cy="1143000"/>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850" b="1" i="0">
                <a:solidFill>
                  <a:srgbClr val="1E1E24"/>
                </a:solidFill>
                <a:latin typeface="Times New Roman"/>
              </a:rPr>
              <a:t>Intake checks, re-run by the journal: </a:t>
            </a:r>
            <a:r>
              <a:rPr sz="850" b="0" i="0">
                <a:solidFill>
                  <a:srgbClr val="1E1E24"/>
                </a:solidFill>
                <a:latin typeface="Times New Roman"/>
              </a:rPr>
              <a:t>if no AI appendix arrived, the journal's generator produces one; form and correspondence, internal to the record (integrity); warrant against the standard, the literature, and re-execution (external). Output: findings with pointers, and an evidence map. Never a verdict.</a:t>
            </a:r>
            <a:endParaRPr sz="1000" i="0" dirty="0">
              <a:solidFill>
                <a:schemeClr val="tx1"/>
              </a:solidFill>
              <a:latin typeface="Times New Roman" panose="02020603050405020304" pitchFamily="18" charset="0"/>
              <a:cs typeface="Times New Roman" panose="02020603050405020304" pitchFamily="18" charset="0"/>
            </a:endParaRPr>
          </a:p>
        </p:txBody>
      </p:sp>
      <p:sp>
        <p:nvSpPr>
          <p:cNvPr id="10" name="S1:N6" descr="judgment"/>
          <p:cNvSpPr/>
          <p:nvPr/>
        </p:nvSpPr>
        <p:spPr>
          <a:xfrm>
            <a:off x="6219794" y="3366775"/>
            <a:ext cx="2377440" cy="1143000"/>
          </a:xfrm>
          <a:prstGeom prst="snip2Same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00" b="1" i="0">
                <a:solidFill>
                  <a:srgbClr val="1E1E24"/>
                </a:solidFill>
                <a:latin typeface="Times New Roman"/>
              </a:rPr>
              <a:t>Intake decision: </a:t>
            </a:r>
            <a:r>
              <a:rPr sz="900" b="0" i="0">
                <a:solidFill>
                  <a:srgbClr val="1E1E24"/>
                </a:solidFill>
                <a:latin typeface="Times New Roman"/>
              </a:rPr>
              <a:t>a named editor applies the published mapping — proceed to review, return for corrections, return without review, refer. Departures are recorded with their reason. The editor then signs whether the contribution is new, on the evidence map, after the author has answered it once.</a:t>
            </a:r>
            <a:endParaRPr sz="1000" i="0" dirty="0">
              <a:solidFill>
                <a:schemeClr val="tx1"/>
              </a:solidFill>
              <a:latin typeface="Times New Roman" panose="02020603050405020304" pitchFamily="18" charset="0"/>
              <a:cs typeface="Times New Roman" panose="02020603050405020304" pitchFamily="18" charset="0"/>
            </a:endParaRPr>
          </a:p>
        </p:txBody>
      </p:sp>
      <p:sp>
        <p:nvSpPr>
          <p:cNvPr id="11" name="S1:N7" descr="judgment"/>
          <p:cNvSpPr/>
          <p:nvPr/>
        </p:nvSpPr>
        <p:spPr>
          <a:xfrm>
            <a:off x="3421991" y="3371347"/>
            <a:ext cx="2377440" cy="1143000"/>
          </a:xfrm>
          <a:prstGeom prst="snip2SameRect">
            <a:avLst/>
          </a:prstGeom>
          <a:solidFill>
            <a:schemeClr val="accent4">
              <a:lumMod val="22000"/>
              <a:lumOff val="78000"/>
            </a:schemeClr>
          </a:solidFill>
          <a:ln w="12700">
            <a:solidFill>
              <a:schemeClr val="accent4"/>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50" b="1" i="0">
                <a:solidFill>
                  <a:srgbClr val="1E1E24"/>
                </a:solidFill>
                <a:latin typeface="Times New Roman"/>
              </a:rPr>
              <a:t>Review and interest: </a:t>
            </a:r>
            <a:r>
              <a:rPr sz="950" b="0" i="0">
                <a:solidFill>
                  <a:srgbClr val="1E1E24"/>
                </a:solidFill>
                <a:latin typeface="Times New Roman"/>
              </a:rPr>
              <a:t>reviewers receive the paper and appendix, the findings report, and the map; they judge, and do not verify. The editor and two named reviewers judge whether what is new is of interest to this community, under the published criteria.</a:t>
            </a:r>
            <a:endParaRPr sz="1000" i="0" dirty="0">
              <a:solidFill>
                <a:schemeClr val="tx1"/>
              </a:solidFill>
              <a:latin typeface="Times New Roman" panose="02020603050405020304" pitchFamily="18" charset="0"/>
              <a:cs typeface="Times New Roman" panose="02020603050405020304" pitchFamily="18" charset="0"/>
            </a:endParaRPr>
          </a:p>
        </p:txBody>
      </p:sp>
      <p:sp>
        <p:nvSpPr>
          <p:cNvPr id="13" name="S1:N8" descr="document"/>
          <p:cNvSpPr/>
          <p:nvPr/>
        </p:nvSpPr>
        <p:spPr>
          <a:xfrm>
            <a:off x="587351" y="3371347"/>
            <a:ext cx="2377440" cy="1143000"/>
          </a:xfrm>
          <a:prstGeom prst="flowChartDocument">
            <a:avLst/>
          </a:prstGeom>
          <a:solidFill>
            <a:schemeClr val="accent1">
              <a:lumMod val="22000"/>
              <a:lumOff val="78000"/>
            </a:schemeClr>
          </a:solidFill>
          <a:ln w="12700">
            <a:solidFill>
              <a:schemeClr val="accent1"/>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850" b="1" i="0">
                <a:solidFill>
                  <a:srgbClr val="1E1E24"/>
                </a:solidFill>
                <a:latin typeface="Times New Roman"/>
              </a:rPr>
              <a:t>Publication and certificate, or nothing: </a:t>
            </a:r>
            <a:r>
              <a:rPr sz="850" b="0" i="0">
                <a:solidFill>
                  <a:srgbClr val="1E1E24"/>
                </a:solidFill>
                <a:latin typeface="Times New Roman"/>
              </a:rPr>
              <a:t>the article — paper and appendix — with a DOI, and a signed certificate: meets standard vX; new, in this kind; of interest to this community; signed by these three named people. No partial certificate; nothing travels to another journal unless the author sends it, and reviewers' reports only with their consent.</a:t>
            </a:r>
            <a:endParaRPr sz="1000" i="0" dirty="0">
              <a:solidFill>
                <a:schemeClr val="tx1"/>
              </a:solidFill>
              <a:latin typeface="Times New Roman" panose="02020603050405020304" pitchFamily="18" charset="0"/>
              <a:cs typeface="Times New Roman" panose="02020603050405020304" pitchFamily="18" charset="0"/>
            </a:endParaRPr>
          </a:p>
        </p:txBody>
      </p:sp>
      <p:cxnSp>
        <p:nvCxnSpPr>
          <p:cNvPr id="14" name="S1:N1&gt;N2"/>
          <p:cNvCxnSpPr>
            <a:stCxn id="4" idx="3"/>
            <a:endCxn id="5" idx="1"/>
          </p:cNvCxnSpPr>
          <p:nvPr/>
        </p:nvCxnSpPr>
        <p:spPr>
          <a:xfrm>
            <a:off x="2964791" y="2022607"/>
            <a:ext cx="457200" cy="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S1:N1&gt;N2:label"/>
          <p:cNvSpPr txBox="1"/>
          <p:nvPr/>
        </p:nvSpPr>
        <p:spPr>
          <a:xfrm>
            <a:off x="2324711" y="1126179"/>
            <a:ext cx="1737360" cy="182880"/>
          </a:xfrm>
          <a:prstGeom prst="rect">
            <a:avLst/>
          </a:prstGeom>
          <a:noFill/>
        </p:spPr>
        <p:txBody>
          <a:bodyPr wrap="square" lIns="0" tIns="0" rIns="0" bIns="0" anchor="ctr">
            <a:noAutofit/>
          </a:bodyPr>
          <a:lstStyle/>
          <a:p>
            <a:pPr algn="ctr">
              <a:spcAft>
                <a:spcPts val="0"/>
              </a:spcAft>
            </a:pPr>
            <a:r>
              <a:rPr sz="850" b="0" i="0" dirty="0">
                <a:solidFill>
                  <a:schemeClr val="tx2"/>
                </a:solidFill>
                <a:latin typeface="Times New Roman" panose="02020603050405020304" pitchFamily="18" charset="0"/>
                <a:cs typeface="Times New Roman" panose="02020603050405020304" pitchFamily="18" charset="0"/>
              </a:rPr>
              <a:t>known before the work starts</a:t>
            </a:r>
          </a:p>
        </p:txBody>
      </p:sp>
      <p:cxnSp>
        <p:nvCxnSpPr>
          <p:cNvPr id="16" name="S1:N2&gt;N3"/>
          <p:cNvCxnSpPr>
            <a:cxnSpLocks/>
            <a:stCxn id="5" idx="3"/>
            <a:endCxn id="6" idx="1"/>
          </p:cNvCxnSpPr>
          <p:nvPr/>
        </p:nvCxnSpPr>
        <p:spPr>
          <a:xfrm flipV="1">
            <a:off x="5799431" y="2013463"/>
            <a:ext cx="457200" cy="9144"/>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S1:N2&gt;N3:label"/>
          <p:cNvSpPr txBox="1"/>
          <p:nvPr/>
        </p:nvSpPr>
        <p:spPr>
          <a:xfrm>
            <a:off x="5174438" y="1140211"/>
            <a:ext cx="1737360" cy="182880"/>
          </a:xfrm>
          <a:prstGeom prst="rect">
            <a:avLst/>
          </a:prstGeom>
          <a:noFill/>
        </p:spPr>
        <p:txBody>
          <a:bodyPr wrap="square" lIns="0" tIns="0" rIns="0" bIns="0" anchor="ctr">
            <a:noAutofit/>
          </a:bodyPr>
          <a:lstStyle/>
          <a:p>
            <a:pPr algn="ctr">
              <a:spcAft>
                <a:spcPts val="0"/>
              </a:spcAft>
            </a:pPr>
            <a:r>
              <a:rPr sz="850" b="0" i="0" dirty="0">
                <a:solidFill>
                  <a:schemeClr val="tx2"/>
                </a:solidFill>
                <a:latin typeface="Times New Roman" panose="02020603050405020304" pitchFamily="18" charset="0"/>
                <a:cs typeface="Times New Roman" panose="02020603050405020304" pitchFamily="18" charset="0"/>
              </a:rPr>
              <a:t>kept as the work happens</a:t>
            </a:r>
          </a:p>
        </p:txBody>
      </p:sp>
      <p:cxnSp>
        <p:nvCxnSpPr>
          <p:cNvPr id="18" name="S1:N3&gt;N4"/>
          <p:cNvCxnSpPr>
            <a:cxnSpLocks/>
            <a:stCxn id="6" idx="3"/>
            <a:endCxn id="7" idx="1"/>
          </p:cNvCxnSpPr>
          <p:nvPr/>
        </p:nvCxnSpPr>
        <p:spPr>
          <a:xfrm>
            <a:off x="8899247" y="2013463"/>
            <a:ext cx="192024" cy="9144"/>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S1:N4&gt;N5"/>
          <p:cNvCxnSpPr>
            <a:stCxn id="7" idx="2"/>
            <a:endCxn id="9" idx="0"/>
          </p:cNvCxnSpPr>
          <p:nvPr/>
        </p:nvCxnSpPr>
        <p:spPr>
          <a:xfrm>
            <a:off x="10279991" y="2594107"/>
            <a:ext cx="0" cy="77724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S1:N4&gt;N5:label"/>
          <p:cNvSpPr txBox="1"/>
          <p:nvPr/>
        </p:nvSpPr>
        <p:spPr>
          <a:xfrm>
            <a:off x="10371431" y="2822707"/>
            <a:ext cx="731520" cy="201168"/>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intake</a:t>
            </a:r>
          </a:p>
        </p:txBody>
      </p:sp>
      <p:cxnSp>
        <p:nvCxnSpPr>
          <p:cNvPr id="21" name="S1:N5&gt;N6"/>
          <p:cNvCxnSpPr>
            <a:cxnSpLocks/>
            <a:stCxn id="9" idx="1"/>
            <a:endCxn id="10" idx="0"/>
          </p:cNvCxnSpPr>
          <p:nvPr/>
        </p:nvCxnSpPr>
        <p:spPr>
          <a:xfrm flipH="1" flipV="1">
            <a:off x="8597234" y="3938275"/>
            <a:ext cx="494037" cy="4572"/>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S1:N5&gt;N6:label"/>
          <p:cNvSpPr txBox="1"/>
          <p:nvPr/>
        </p:nvSpPr>
        <p:spPr>
          <a:xfrm>
            <a:off x="7993991" y="4564639"/>
            <a:ext cx="1737360" cy="182880"/>
          </a:xfrm>
          <a:prstGeom prst="rect">
            <a:avLst/>
          </a:prstGeom>
          <a:noFill/>
        </p:spPr>
        <p:txBody>
          <a:bodyPr wrap="square" lIns="0" tIns="0" rIns="0" bIns="0" anchor="ctr">
            <a:noAutofit/>
          </a:bodyPr>
          <a:lstStyle/>
          <a:p>
            <a:pPr algn="ctr">
              <a:spcAft>
                <a:spcPts val="0"/>
              </a:spcAft>
            </a:pPr>
            <a:r>
              <a:rPr sz="850" b="0" i="0">
                <a:solidFill>
                  <a:srgbClr val="1E1E24"/>
                </a:solidFill>
                <a:latin typeface="Times New Roman"/>
              </a:rPr>
              <a:t>findings + evidence map</a:t>
            </a:r>
          </a:p>
        </p:txBody>
      </p:sp>
      <p:cxnSp>
        <p:nvCxnSpPr>
          <p:cNvPr id="23" name="S1:N6&gt;N7"/>
          <p:cNvCxnSpPr>
            <a:cxnSpLocks/>
            <a:stCxn id="10" idx="2"/>
            <a:endCxn id="11" idx="0"/>
          </p:cNvCxnSpPr>
          <p:nvPr/>
        </p:nvCxnSpPr>
        <p:spPr>
          <a:xfrm flipH="1">
            <a:off x="5799431" y="3938275"/>
            <a:ext cx="420363" cy="4572"/>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1:N6&gt;N7:label"/>
          <p:cNvSpPr txBox="1"/>
          <p:nvPr/>
        </p:nvSpPr>
        <p:spPr>
          <a:xfrm>
            <a:off x="5140932" y="4564639"/>
            <a:ext cx="1737360" cy="182880"/>
          </a:xfrm>
          <a:prstGeom prst="rect">
            <a:avLst/>
          </a:prstGeom>
          <a:noFill/>
        </p:spPr>
        <p:txBody>
          <a:bodyPr wrap="square" lIns="0" tIns="0" rIns="0" bIns="0" anchor="ctr">
            <a:noAutofit/>
          </a:bodyPr>
          <a:lstStyle/>
          <a:p>
            <a:pPr algn="ctr">
              <a:spcAft>
                <a:spcPts val="0"/>
              </a:spcAft>
            </a:pPr>
            <a:r>
              <a:rPr sz="850" b="0" i="0" dirty="0">
                <a:solidFill>
                  <a:schemeClr val="tx2"/>
                </a:solidFill>
                <a:latin typeface="Times New Roman" panose="02020603050405020304" pitchFamily="18" charset="0"/>
                <a:cs typeface="Times New Roman" panose="02020603050405020304" pitchFamily="18" charset="0"/>
              </a:rPr>
              <a:t>proceed to review</a:t>
            </a:r>
          </a:p>
        </p:txBody>
      </p:sp>
      <p:cxnSp>
        <p:nvCxnSpPr>
          <p:cNvPr id="25" name="S1:N7&gt;N8"/>
          <p:cNvCxnSpPr>
            <a:stCxn id="11" idx="1"/>
            <a:endCxn id="13" idx="3"/>
          </p:cNvCxnSpPr>
          <p:nvPr/>
        </p:nvCxnSpPr>
        <p:spPr>
          <a:xfrm flipH="1">
            <a:off x="2964791" y="3942847"/>
            <a:ext cx="457200" cy="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S1:N7&gt;N8:label"/>
          <p:cNvSpPr txBox="1"/>
          <p:nvPr/>
        </p:nvSpPr>
        <p:spPr>
          <a:xfrm>
            <a:off x="2324711" y="4564639"/>
            <a:ext cx="1737360" cy="182880"/>
          </a:xfrm>
          <a:prstGeom prst="rect">
            <a:avLst/>
          </a:prstGeom>
          <a:noFill/>
        </p:spPr>
        <p:txBody>
          <a:bodyPr wrap="square" lIns="0" tIns="0" rIns="0" bIns="0" anchor="ctr">
            <a:noAutofit/>
          </a:bodyPr>
          <a:lstStyle/>
          <a:p>
            <a:pPr algn="ctr">
              <a:spcAft>
                <a:spcPts val="0"/>
              </a:spcAft>
            </a:pPr>
            <a:r>
              <a:rPr sz="850" b="0" i="0">
                <a:solidFill>
                  <a:srgbClr val="1E1E24"/>
                </a:solidFill>
                <a:latin typeface="Times New Roman"/>
              </a:rPr>
              <a:t>publish + certify</a:t>
            </a:r>
          </a:p>
        </p:txBody>
      </p:sp>
      <p:cxnSp>
        <p:nvCxnSpPr>
          <p:cNvPr id="27" name="S1:N6&gt;N3"/>
          <p:cNvCxnSpPr>
            <a:cxnSpLocks/>
            <a:stCxn id="10" idx="3"/>
            <a:endCxn id="6" idx="2"/>
          </p:cNvCxnSpPr>
          <p:nvPr/>
        </p:nvCxnSpPr>
        <p:spPr>
          <a:xfrm flipH="1" flipV="1">
            <a:off x="7394179" y="2533226"/>
            <a:ext cx="14335" cy="833549"/>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S1:N6&gt;N3:label"/>
          <p:cNvSpPr txBox="1"/>
          <p:nvPr/>
        </p:nvSpPr>
        <p:spPr>
          <a:xfrm>
            <a:off x="7897099" y="2745000"/>
            <a:ext cx="1600200" cy="365760"/>
          </a:xfrm>
          <a:prstGeom prst="rect">
            <a:avLst/>
          </a:prstGeom>
          <a:noFill/>
        </p:spPr>
        <p:txBody>
          <a:bodyPr wrap="square" lIns="0" tIns="0" rIns="0" bIns="0" anchor="ctr">
            <a:noAutofit/>
          </a:bodyPr>
          <a:lstStyle/>
          <a:p>
            <a:pPr algn="l">
              <a:spcAft>
                <a:spcPts val="0"/>
              </a:spcAft>
            </a:pPr>
            <a:r>
              <a:rPr sz="850" b="0" i="0">
                <a:solidFill>
                  <a:srgbClr val="1E1E24"/>
                </a:solidFill>
                <a:latin typeface="Times New Roman"/>
              </a:rPr>
              <a:t>return for corrections (record fixed, no new work), or without review (strengthen the evidence or weaken the claims)</a:t>
            </a:r>
            <a:endParaRPr sz="850" b="0" i="0" dirty="0">
              <a:solidFill>
                <a:schemeClr val="tx2"/>
              </a:solidFill>
              <a:latin typeface="Times New Roman" panose="02020603050405020304" pitchFamily="18" charset="0"/>
              <a:cs typeface="Times New Roman" panose="02020603050405020304" pitchFamily="18" charset="0"/>
            </a:endParaRPr>
          </a:p>
        </p:txBody>
      </p:sp>
      <p:cxnSp>
        <p:nvCxnSpPr>
          <p:cNvPr id="29" name="S1:N7&gt;N2"/>
          <p:cNvCxnSpPr>
            <a:stCxn id="11" idx="0"/>
            <a:endCxn id="5" idx="2"/>
          </p:cNvCxnSpPr>
          <p:nvPr/>
        </p:nvCxnSpPr>
        <p:spPr>
          <a:xfrm flipV="1">
            <a:off x="4610711" y="2594107"/>
            <a:ext cx="0" cy="77724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S1:N7&gt;N2:label"/>
          <p:cNvSpPr txBox="1"/>
          <p:nvPr/>
        </p:nvSpPr>
        <p:spPr>
          <a:xfrm>
            <a:off x="4702151" y="2740411"/>
            <a:ext cx="2286000" cy="365760"/>
          </a:xfrm>
          <a:prstGeom prst="rect">
            <a:avLst/>
          </a:prstGeom>
          <a:noFill/>
        </p:spPr>
        <p:txBody>
          <a:bodyPr wrap="square" lIns="0" tIns="0" rIns="0" bIns="0" anchor="ctr">
            <a:noAutofit/>
          </a:bodyPr>
          <a:lstStyle/>
          <a:p>
            <a:pPr algn="l">
              <a:spcAft>
                <a:spcPts val="0"/>
              </a:spcAft>
            </a:pPr>
            <a:r>
              <a:rPr sz="850" b="0" i="0">
                <a:solidFill>
                  <a:srgbClr val="1E1E24"/>
                </a:solidFill>
                <a:latin typeface="Times New Roman"/>
              </a:rPr>
              <a:t>revise and resubmit: new work; each round a new submission against the same review history</a:t>
            </a:r>
          </a:p>
        </p:txBody>
      </p:sp>
      <p:sp>
        <p:nvSpPr>
          <p:cNvPr id="31" name="S1:OBS" descr="note"/>
          <p:cNvSpPr/>
          <p:nvPr/>
        </p:nvSpPr>
        <p:spPr>
          <a:xfrm>
            <a:off x="583236" y="2720320"/>
            <a:ext cx="3749040" cy="566928"/>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l">
              <a:spcAft>
                <a:spcPts val="0"/>
              </a:spcAft>
            </a:pPr>
            <a:r>
              <a:rPr sz="800" b="1" i="0">
                <a:solidFill>
                  <a:srgbClr val="1E1E24"/>
                </a:solidFill>
                <a:latin typeface="Times New Roman"/>
              </a:rPr>
              <a:t>Clean records travel by choice: </a:t>
            </a:r>
            <a:r>
              <a:rPr sz="800" b="0" i="0">
                <a:solidFill>
                  <a:srgbClr val="1E1E24"/>
                </a:solidFill>
                <a:latin typeface="Times New Roman"/>
              </a:rPr>
              <a:t>a submission arrives with the author's own findings report or it does not, and withholding it is read (Grossman 1981; Milgrom 1981). The working history, submitted by choice, is evidence of human involvement in the sense an authorship statement is.</a:t>
            </a:r>
            <a:endParaRPr sz="800" i="0" dirty="0">
              <a:solidFill>
                <a:schemeClr val="tx1"/>
              </a:solidFill>
              <a:latin typeface="Times New Roman" panose="02020603050405020304" pitchFamily="18" charset="0"/>
              <a:cs typeface="Times New Roman" panose="02020603050405020304" pitchFamily="18" charset="0"/>
            </a:endParaRPr>
          </a:p>
        </p:txBody>
      </p:sp>
      <p:sp>
        <p:nvSpPr>
          <p:cNvPr id="32" name="S1:caveats:head"/>
          <p:cNvSpPr txBox="1"/>
          <p:nvPr/>
        </p:nvSpPr>
        <p:spPr>
          <a:xfrm>
            <a:off x="347343" y="4905756"/>
            <a:ext cx="11460175" cy="228600"/>
          </a:xfrm>
          <a:prstGeom prst="rect">
            <a:avLst/>
          </a:prstGeom>
          <a:noFill/>
        </p:spPr>
        <p:txBody>
          <a:bodyPr wrap="square" lIns="0" tIns="0" rIns="0" bIns="0" anchor="ctr">
            <a:noAutofit/>
          </a:bodyPr>
          <a:lstStyle/>
          <a:p>
            <a:pPr algn="l">
              <a:spcAft>
                <a:spcPts val="0"/>
              </a:spcAft>
            </a:pPr>
            <a:r>
              <a:rPr sz="1000" b="1" i="0">
                <a:solidFill>
                  <a:srgbClr val="1E1E24"/>
                </a:solidFill>
                <a:latin typeface="Times New Roman"/>
              </a:rPr>
              <a:t>Limits, and what the design does about each.</a:t>
            </a:r>
            <a:r>
              <a:rPr sz="1000" b="0" i="0">
                <a:solidFill>
                  <a:srgbClr val="1E1E24"/>
                </a:solidFill>
                <a:latin typeface="Times New Roman"/>
              </a:rPr>
              <a:t/>
            </a:r>
            <a:endParaRPr sz="1000" i="0" dirty="0">
              <a:solidFill>
                <a:schemeClr val="accent5"/>
              </a:solidFill>
              <a:latin typeface="Times New Roman" panose="02020603050405020304" pitchFamily="18" charset="0"/>
              <a:cs typeface="Times New Roman" panose="02020603050405020304" pitchFamily="18" charset="0"/>
            </a:endParaRPr>
          </a:p>
        </p:txBody>
      </p:sp>
      <p:sp>
        <p:nvSpPr>
          <p:cNvPr id="33" name="S1:C1" descr="note"/>
          <p:cNvSpPr/>
          <p:nvPr/>
        </p:nvSpPr>
        <p:spPr>
          <a:xfrm>
            <a:off x="347343" y="5145786"/>
            <a:ext cx="1783080" cy="1092708"/>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lIns="54864" tIns="64008" rIns="54864" rtlCol="0" anchor="t">
            <a:noAutofit/>
          </a:bodyPr>
          <a:lstStyle/>
          <a:p>
            <a:pPr algn="l">
              <a:spcAft>
                <a:spcPts val="0"/>
              </a:spcAft>
            </a:pPr>
            <a:r>
              <a:rPr sz="900" b="1" i="0">
                <a:solidFill>
                  <a:srgbClr val="1E1E24"/>
                </a:solidFill>
                <a:latin typeface="Times New Roman"/>
              </a:rPr>
              <a:t>Integrity, warrant, truth: </a:t>
            </a:r>
            <a:r>
              <a:rPr sz="900" b="0" i="0">
                <a:solidFill>
                  <a:srgbClr val="1E1E24"/>
                </a:solidFill>
                <a:latin typeface="Times New Roman"/>
              </a:rPr>
              <a:t>an AI-written paper passes form and correspondence by construction; warrant reaches outside the record; data that never existed is beyond every level unless its source is public.</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34" name="S1:C2" descr="note"/>
          <p:cNvSpPr/>
          <p:nvPr/>
        </p:nvSpPr>
        <p:spPr>
          <a:xfrm>
            <a:off x="2282213" y="5145786"/>
            <a:ext cx="1783080" cy="1092708"/>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lIns="54864" tIns="64008" rIns="54864" rtlCol="0" anchor="t">
            <a:noAutofit/>
          </a:bodyPr>
          <a:lstStyle/>
          <a:p>
            <a:pPr algn="l">
              <a:spcAft>
                <a:spcPts val="0"/>
              </a:spcAft>
            </a:pPr>
            <a:r>
              <a:rPr sz="950" b="1" i="0">
                <a:solidFill>
                  <a:srgbClr val="1E1E24"/>
                </a:solidFill>
                <a:latin typeface="Times New Roman"/>
              </a:rPr>
              <a:t>Interest is human by authority, not capability: </a:t>
            </a:r>
            <a:r>
              <a:rPr sz="950" b="0" i="0">
                <a:solidFill>
                  <a:srgbClr val="1E1E24"/>
                </a:solidFill>
                <a:latin typeface="Times New Roman"/>
              </a:rPr>
              <a:t>what a community finds interesting is a fact about the community (Davis 1971). No advance in AI moves it.</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35" name="S1:C3" descr="note"/>
          <p:cNvSpPr/>
          <p:nvPr/>
        </p:nvSpPr>
        <p:spPr>
          <a:xfrm>
            <a:off x="4217084" y="5145786"/>
            <a:ext cx="1783080" cy="1092708"/>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lIns="54864" tIns="64008" rIns="54864" rtlCol="0" anchor="t">
            <a:noAutofit/>
          </a:bodyPr>
          <a:lstStyle/>
          <a:p>
            <a:pPr algn="l">
              <a:spcAft>
                <a:spcPts val="0"/>
              </a:spcAft>
            </a:pPr>
            <a:r>
              <a:rPr sz="900" b="1" i="0">
                <a:solidFill>
                  <a:srgbClr val="1E1E24"/>
                </a:solidFill>
                <a:latin typeface="Times New Roman"/>
              </a:rPr>
              <a:t>No pointer, no flag: </a:t>
            </a:r>
            <a:r>
              <a:rPr sz="900" b="0" i="0">
                <a:solidFill>
                  <a:srgbClr val="1E1E24"/>
                </a:solidFill>
                <a:latin typeface="Times New Roman"/>
              </a:rPr>
              <a:t>every finding links to the record and to the standard applied, versioned with the model that produced it, so it can be repeated and challenged.</a:t>
            </a:r>
            <a:endParaRPr sz="900" i="0" dirty="0">
              <a:solidFill>
                <a:schemeClr val="tx1"/>
              </a:solidFill>
              <a:latin typeface="Times New Roman" panose="02020603050405020304" pitchFamily="18" charset="0"/>
              <a:cs typeface="Times New Roman" panose="02020603050405020304" pitchFamily="18" charset="0"/>
            </a:endParaRPr>
          </a:p>
        </p:txBody>
      </p:sp>
      <p:sp>
        <p:nvSpPr>
          <p:cNvPr id="36" name="S1:C4" descr="note"/>
          <p:cNvSpPr/>
          <p:nvPr/>
        </p:nvSpPr>
        <p:spPr>
          <a:xfrm>
            <a:off x="6176644" y="5145786"/>
            <a:ext cx="1783080" cy="1092708"/>
          </a:xfrm>
          <a:prstGeom prst="rect">
            <a:avLst/>
          </a:prstGeom>
          <a:solidFill>
            <a:schemeClr val="bg1"/>
          </a:solidFill>
          <a:ln w="12700">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wrap="square" lIns="54864" tIns="64008" rIns="54864" rtlCol="0" anchor="t">
            <a:noAutofit/>
          </a:bodyPr>
          <a:lstStyle/>
          <a:p>
            <a:pPr algn="l">
              <a:spcAft>
                <a:spcPts val="0"/>
              </a:spcAft>
            </a:pPr>
            <a:r>
              <a:rPr sz="900" b="1" i="0">
                <a:solidFill>
                  <a:srgbClr val="1E1E24"/>
                </a:solidFill>
                <a:latin typeface="Times New Roman"/>
              </a:rPr>
              <a:t>The record cannot prove human direction: </a:t>
            </a:r>
            <a:r>
              <a:rPr sz="900" b="0" i="0">
                <a:solidFill>
                  <a:srgbClr val="1E1E24"/>
                </a:solidFill>
                <a:latin typeface="Times New Roman"/>
              </a:rPr>
              <a:t>anything checkable could be generated. The AI-use declaration and the working history rest on good faith and reputation, as authorship statements do.</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38" name="S1:C5" descr="note"/>
          <p:cNvSpPr/>
          <p:nvPr/>
        </p:nvSpPr>
        <p:spPr>
          <a:xfrm>
            <a:off x="8055982" y="5145786"/>
            <a:ext cx="1866713" cy="1092708"/>
          </a:xfrm>
          <a:prstGeom prst="rect">
            <a:avLst/>
          </a:prstGeom>
          <a:solidFill>
            <a:schemeClr val="bg1"/>
          </a:solidFill>
          <a:ln w="12700">
            <a:solidFill>
              <a:schemeClr val="accent5"/>
            </a:solidFill>
            <a:prstDash val="solid"/>
          </a:ln>
          <a:effectLst/>
        </p:spPr>
        <p:style>
          <a:lnRef idx="1">
            <a:schemeClr val="accent1"/>
          </a:lnRef>
          <a:fillRef idx="3">
            <a:schemeClr val="accent1"/>
          </a:fillRef>
          <a:effectRef idx="2">
            <a:schemeClr val="accent1"/>
          </a:effectRef>
          <a:fontRef idx="minor">
            <a:schemeClr val="lt1"/>
          </a:fontRef>
        </p:style>
        <p:txBody>
          <a:bodyPr wrap="square" lIns="54864" tIns="64008" rIns="54864" rtlCol="0" anchor="t">
            <a:noAutofit/>
          </a:bodyPr>
          <a:lstStyle/>
          <a:p>
            <a:pPr algn="l">
              <a:spcAft>
                <a:spcPts val="0"/>
              </a:spcAft>
            </a:pPr>
            <a:r>
              <a:rPr sz="950" b="1" i="0">
                <a:solidFill>
                  <a:srgbClr val="1E1E24"/>
                </a:solidFill>
                <a:latin typeface="Times New Roman"/>
              </a:rPr>
              <a:t>Nothing travels without the author: </a:t>
            </a:r>
            <a:r>
              <a:rPr sz="950" b="0" i="0">
                <a:solidFill>
                  <a:srgbClr val="1E1E24"/>
                </a:solidFill>
                <a:latin typeface="Times New Roman"/>
              </a:rPr>
              <a:t>each journal re-runs the checks and judges interest for its own community; review history goes to another journal only at the author's request, and reviewers' reports only with their consent.</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40" name="S1:C6" descr="note"/>
          <p:cNvSpPr/>
          <p:nvPr/>
        </p:nvSpPr>
        <p:spPr>
          <a:xfrm>
            <a:off x="10021695" y="5145786"/>
            <a:ext cx="1783080" cy="1092708"/>
          </a:xfrm>
          <a:prstGeom prst="rect">
            <a:avLst/>
          </a:prstGeom>
          <a:solidFill>
            <a:schemeClr val="bg1"/>
          </a:solidFill>
          <a:ln w="12700">
            <a:solidFill>
              <a:schemeClr val="accent5"/>
            </a:solidFill>
          </a:ln>
          <a:effectLst/>
        </p:spPr>
        <p:style>
          <a:lnRef idx="1">
            <a:schemeClr val="accent1"/>
          </a:lnRef>
          <a:fillRef idx="3">
            <a:schemeClr val="accent1"/>
          </a:fillRef>
          <a:effectRef idx="2">
            <a:schemeClr val="accent1"/>
          </a:effectRef>
          <a:fontRef idx="minor">
            <a:schemeClr val="lt1"/>
          </a:fontRef>
        </p:style>
        <p:txBody>
          <a:bodyPr wrap="square" lIns="54864" tIns="64008" rIns="54864" rtlCol="0" anchor="t">
            <a:noAutofit/>
          </a:bodyPr>
          <a:lstStyle/>
          <a:p>
            <a:pPr algn="l">
              <a:spcAft>
                <a:spcPts val="0"/>
              </a:spcAft>
            </a:pPr>
            <a:r>
              <a:rPr sz="950" b="1" i="0">
                <a:solidFill>
                  <a:srgbClr val="1E1E24"/>
                </a:solidFill>
                <a:latin typeface="Times New Roman"/>
              </a:rPr>
              <a:t>Deference: </a:t>
            </a:r>
            <a:r>
              <a:rPr sz="950" b="0" i="0">
                <a:solidFill>
                  <a:srgbClr val="1E1E24"/>
                </a:solidFill>
                <a:latin typeface="Times New Roman"/>
              </a:rPr>
              <a:t>if editors never depart from the mapping, the mapping decides. The published departure rate measures the editors; the guardrail cases measure the mapping.</a:t>
            </a:r>
            <a:endParaRPr sz="950" i="0" dirty="0">
              <a:solidFill>
                <a:schemeClr val="tx1"/>
              </a:solidFill>
              <a:latin typeface="Times New Roman" panose="02020603050405020304" pitchFamily="18" charset="0"/>
              <a:cs typeface="Times New Roman" panose="02020603050405020304" pitchFamily="18" charset="0"/>
            </a:endParaRPr>
          </a:p>
        </p:txBody>
      </p:sp>
      <p:sp>
        <p:nvSpPr>
          <p:cNvPr id="41" name="legend:role:journal" descr="frame"/>
          <p:cNvSpPr/>
          <p:nvPr/>
        </p:nvSpPr>
        <p:spPr>
          <a:xfrm>
            <a:off x="392735" y="6483096"/>
            <a:ext cx="146304" cy="146304"/>
          </a:xfrm>
          <a:prstGeom prst="rect">
            <a:avLst/>
          </a:prstGeom>
          <a:solidFill>
            <a:schemeClr val="accent1">
              <a:lumMod val="22000"/>
              <a:lumOff val="78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2" name="legend:role:journal:t"/>
          <p:cNvSpPr txBox="1"/>
          <p:nvPr/>
        </p:nvSpPr>
        <p:spPr>
          <a:xfrm>
            <a:off x="584759" y="6437376"/>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Journal</a:t>
            </a:r>
          </a:p>
        </p:txBody>
      </p:sp>
      <p:sp>
        <p:nvSpPr>
          <p:cNvPr id="43" name="legend:role:author" descr="frame"/>
          <p:cNvSpPr/>
          <p:nvPr/>
        </p:nvSpPr>
        <p:spPr>
          <a:xfrm>
            <a:off x="1150773" y="6483096"/>
            <a:ext cx="146304" cy="146304"/>
          </a:xfrm>
          <a:prstGeom prst="rect">
            <a:avLst/>
          </a:prstGeom>
          <a:solidFill>
            <a:schemeClr val="accent2">
              <a:lumMod val="22000"/>
              <a:lumOff val="78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4" name="legend:role:author:t"/>
          <p:cNvSpPr txBox="1"/>
          <p:nvPr/>
        </p:nvSpPr>
        <p:spPr>
          <a:xfrm>
            <a:off x="1342797" y="6437376"/>
            <a:ext cx="664769"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Author + AI</a:t>
            </a:r>
          </a:p>
        </p:txBody>
      </p:sp>
      <p:sp>
        <p:nvSpPr>
          <p:cNvPr id="45" name="legend:role:machine" descr="frame"/>
          <p:cNvSpPr/>
          <p:nvPr/>
        </p:nvSpPr>
        <p:spPr>
          <a:xfrm>
            <a:off x="2117293" y="6483096"/>
            <a:ext cx="146304" cy="146304"/>
          </a:xfrm>
          <a:prstGeom prst="rect">
            <a:avLst/>
          </a:prstGeom>
          <a:solidFill>
            <a:schemeClr val="accent3">
              <a:lumMod val="22000"/>
              <a:lumOff val="78000"/>
            </a:schemeClr>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6" name="legend:role:machine:t"/>
          <p:cNvSpPr txBox="1"/>
          <p:nvPr/>
        </p:nvSpPr>
        <p:spPr>
          <a:xfrm>
            <a:off x="2309317" y="6437376"/>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Machine</a:t>
            </a:r>
          </a:p>
        </p:txBody>
      </p:sp>
      <p:sp>
        <p:nvSpPr>
          <p:cNvPr id="47" name="legend:role:human" descr="frame"/>
          <p:cNvSpPr/>
          <p:nvPr/>
        </p:nvSpPr>
        <p:spPr>
          <a:xfrm>
            <a:off x="2875331" y="6483096"/>
            <a:ext cx="146304" cy="146304"/>
          </a:xfrm>
          <a:prstGeom prst="rect">
            <a:avLst/>
          </a:prstGeom>
          <a:solidFill>
            <a:schemeClr val="accent4">
              <a:lumMod val="22000"/>
              <a:lumOff val="78000"/>
            </a:schemeClr>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8" name="legend:role:human:t"/>
          <p:cNvSpPr txBox="1"/>
          <p:nvPr/>
        </p:nvSpPr>
        <p:spPr>
          <a:xfrm>
            <a:off x="3067355" y="6437376"/>
            <a:ext cx="716890"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Named people</a:t>
            </a:r>
          </a:p>
        </p:txBody>
      </p:sp>
      <p:sp>
        <p:nvSpPr>
          <p:cNvPr id="49" name="legend:state:built" descr="artifact"/>
          <p:cNvSpPr/>
          <p:nvPr/>
        </p:nvSpPr>
        <p:spPr>
          <a:xfrm>
            <a:off x="4003701" y="6478524"/>
            <a:ext cx="310896" cy="155448"/>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50" name="legend:state:built:t"/>
          <p:cNvSpPr txBox="1"/>
          <p:nvPr/>
        </p:nvSpPr>
        <p:spPr>
          <a:xfrm>
            <a:off x="4369461" y="6437376"/>
            <a:ext cx="873252" cy="237744"/>
          </a:xfrm>
          <a:prstGeom prst="rect">
            <a:avLst/>
          </a:prstGeom>
          <a:noFill/>
        </p:spPr>
        <p:txBody>
          <a:bodyPr wrap="square" lIns="0" tIns="0" rIns="0" bIns="0" anchor="ctr">
            <a:noAutofit/>
          </a:bodyPr>
          <a:lstStyle/>
          <a:p>
            <a:pPr algn="l">
              <a:spcAft>
                <a:spcPts val="0"/>
              </a:spcAft>
            </a:pPr>
            <a:r>
              <a:rPr sz="850" b="0" i="0">
                <a:solidFill>
                  <a:srgbClr val="1E1E24"/>
                </a:solidFill>
                <a:latin typeface="Times New Roman"/>
              </a:rPr>
              <a:t>runs in Mark 1</a:t>
            </a:r>
          </a:p>
        </p:txBody>
      </p:sp>
      <p:sp>
        <p:nvSpPr>
          <p:cNvPr id="51" name="legend:state:specified" descr="artifact"/>
          <p:cNvSpPr/>
          <p:nvPr/>
        </p:nvSpPr>
        <p:spPr>
          <a:xfrm>
            <a:off x="5352441" y="6478524"/>
            <a:ext cx="310896" cy="155448"/>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52" name="legend:state:specified:t"/>
          <p:cNvSpPr txBox="1"/>
          <p:nvPr/>
        </p:nvSpPr>
        <p:spPr>
          <a:xfrm>
            <a:off x="5718201" y="6437376"/>
            <a:ext cx="821131"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specified only</a:t>
            </a:r>
          </a:p>
        </p:txBody>
      </p:sp>
      <p:sp>
        <p:nvSpPr>
          <p:cNvPr id="53" name="legend:state:stretch" descr="artifact"/>
          <p:cNvSpPr/>
          <p:nvPr/>
        </p:nvSpPr>
        <p:spPr>
          <a:xfrm>
            <a:off x="6649060" y="6478524"/>
            <a:ext cx="310896" cy="155448"/>
          </a:xfrm>
          <a:prstGeom prst="rect">
            <a:avLst/>
          </a:prstGeom>
          <a:solidFill>
            <a:schemeClr val="bg1"/>
          </a:solidFill>
          <a:ln w="12700">
            <a:solidFill>
              <a:schemeClr val="accent3"/>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54" name="legend:state:stretch:t"/>
          <p:cNvSpPr txBox="1"/>
          <p:nvPr/>
        </p:nvSpPr>
        <p:spPr>
          <a:xfrm>
            <a:off x="7014820" y="6437376"/>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stretch</a:t>
            </a:r>
          </a:p>
        </p:txBody>
      </p:sp>
      <p:sp>
        <p:nvSpPr>
          <p:cNvPr id="58" name="legend:decision"/>
          <p:cNvSpPr/>
          <p:nvPr/>
        </p:nvSpPr>
        <p:spPr>
          <a:xfrm>
            <a:off x="8846363" y="6455664"/>
            <a:ext cx="237744" cy="201168"/>
          </a:xfrm>
          <a:prstGeom prst="diamond">
            <a:avLst/>
          </a:prstGeom>
          <a:solidFill>
            <a:schemeClr val="bg1"/>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9" name="legend:decision:t"/>
          <p:cNvSpPr txBox="1"/>
          <p:nvPr/>
        </p:nvSpPr>
        <p:spPr>
          <a:xfrm>
            <a:off x="9138971" y="6437376"/>
            <a:ext cx="1290218"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decision: a person only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S2a:lane:L4"/>
          <p:cNvGrpSpPr/>
          <p:nvPr/>
        </p:nvGrpSpPr>
        <p:grpSpPr>
          <a:xfrm>
            <a:off x="365760" y="5138928"/>
            <a:ext cx="11460175" cy="914400"/>
            <a:chOff x="365760" y="5138928"/>
            <a:chExt cx="11460175" cy="914400"/>
          </a:xfrm>
        </p:grpSpPr>
        <p:sp>
          <p:nvSpPr>
            <p:cNvPr id="13" name="S2a:lane:L4:bg" descr="frame"/>
            <p:cNvSpPr/>
            <p:nvPr/>
          </p:nvSpPr>
          <p:spPr>
            <a:xfrm>
              <a:off x="365760" y="5138928"/>
              <a:ext cx="11460175" cy="914400"/>
            </a:xfrm>
            <a:prstGeom prst="rect">
              <a:avLst/>
            </a:prstGeom>
            <a:solidFill>
              <a:schemeClr val="accent4">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 name="S2a:lane:L4:label"/>
            <p:cNvSpPr/>
            <p:nvPr/>
          </p:nvSpPr>
          <p:spPr>
            <a:xfrm>
              <a:off x="420624" y="5193792"/>
              <a:ext cx="667512" cy="804672"/>
            </a:xfrm>
            <a:prstGeom prst="round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spcAft>
                  <a:spcPts val="0"/>
                </a:spcAft>
              </a:pPr>
              <a:r>
                <a:rPr sz="1000" b="1" i="0">
                  <a:solidFill>
                    <a:schemeClr val="bg1"/>
                  </a:solidFill>
                  <a:latin typeface="Times New Roman" panose="02020603050405020304" pitchFamily="18" charset="0"/>
                  <a:cs typeface="Times New Roman" panose="02020603050405020304" pitchFamily="18" charset="0"/>
                </a:rPr>
                <a:t>Named people</a:t>
              </a:r>
            </a:p>
          </p:txBody>
        </p:sp>
      </p:grpSp>
      <p:grpSp>
        <p:nvGrpSpPr>
          <p:cNvPr id="9" name="S2a:lane:L3"/>
          <p:cNvGrpSpPr/>
          <p:nvPr/>
        </p:nvGrpSpPr>
        <p:grpSpPr>
          <a:xfrm>
            <a:off x="365760" y="3547872"/>
            <a:ext cx="11460175" cy="1536192"/>
            <a:chOff x="365760" y="3547872"/>
            <a:chExt cx="11460175" cy="1536192"/>
          </a:xfrm>
        </p:grpSpPr>
        <p:sp>
          <p:nvSpPr>
            <p:cNvPr id="10" name="S2a:lane:L3:bg" descr="frame"/>
            <p:cNvSpPr/>
            <p:nvPr/>
          </p:nvSpPr>
          <p:spPr>
            <a:xfrm>
              <a:off x="365760" y="3547872"/>
              <a:ext cx="11460175" cy="1536192"/>
            </a:xfrm>
            <a:prstGeom prst="rect">
              <a:avLst/>
            </a:prstGeom>
            <a:solidFill>
              <a:schemeClr val="accent3">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S2a:lane:L3:label"/>
            <p:cNvSpPr/>
            <p:nvPr/>
          </p:nvSpPr>
          <p:spPr>
            <a:xfrm>
              <a:off x="420624" y="3602736"/>
              <a:ext cx="667512" cy="1426464"/>
            </a:xfrm>
            <a:prstGeom prst="round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spcAft>
                  <a:spcPts val="0"/>
                </a:spcAft>
              </a:pPr>
              <a:r>
                <a:rPr sz="1000" b="1" i="0">
                  <a:solidFill>
                    <a:schemeClr val="bg1"/>
                  </a:solidFill>
                  <a:latin typeface="Times New Roman" panose="02020603050405020304" pitchFamily="18" charset="0"/>
                  <a:cs typeface="Times New Roman" panose="02020603050405020304" pitchFamily="18" charset="0"/>
                </a:rPr>
                <a:t>Machine checks</a:t>
              </a:r>
            </a:p>
          </p:txBody>
        </p:sp>
      </p:grpSp>
      <p:grpSp>
        <p:nvGrpSpPr>
          <p:cNvPr id="6" name="S2a:lane:L2"/>
          <p:cNvGrpSpPr/>
          <p:nvPr/>
        </p:nvGrpSpPr>
        <p:grpSpPr>
          <a:xfrm>
            <a:off x="365760" y="2029968"/>
            <a:ext cx="11460175" cy="1463040"/>
            <a:chOff x="365760" y="2029968"/>
            <a:chExt cx="11460175" cy="1463040"/>
          </a:xfrm>
        </p:grpSpPr>
        <p:sp>
          <p:nvSpPr>
            <p:cNvPr id="7" name="S2a:lane:L2:bg" descr="frame"/>
            <p:cNvSpPr/>
            <p:nvPr/>
          </p:nvSpPr>
          <p:spPr>
            <a:xfrm>
              <a:off x="365760" y="2029968"/>
              <a:ext cx="11460175" cy="1463040"/>
            </a:xfrm>
            <a:prstGeom prst="rect">
              <a:avLst/>
            </a:prstGeom>
            <a:solidFill>
              <a:schemeClr val="accent2">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S2a:lane:L2:label"/>
            <p:cNvSpPr/>
            <p:nvPr/>
          </p:nvSpPr>
          <p:spPr>
            <a:xfrm>
              <a:off x="420624" y="2084832"/>
              <a:ext cx="667512" cy="1353312"/>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spcAft>
                  <a:spcPts val="0"/>
                </a:spcAft>
              </a:pPr>
              <a:r>
                <a:rPr sz="1000" b="1" i="0">
                  <a:solidFill>
                    <a:schemeClr val="bg1"/>
                  </a:solidFill>
                  <a:latin typeface="Times New Roman" panose="02020603050405020304" pitchFamily="18" charset="0"/>
                  <a:cs typeface="Times New Roman" panose="02020603050405020304" pitchFamily="18" charset="0"/>
                </a:rPr>
                <a:t>Author + AI</a:t>
              </a:r>
            </a:p>
          </p:txBody>
        </p:sp>
      </p:grpSp>
      <p:grpSp>
        <p:nvGrpSpPr>
          <p:cNvPr id="3" name="S2a:lane:L1"/>
          <p:cNvGrpSpPr/>
          <p:nvPr/>
        </p:nvGrpSpPr>
        <p:grpSpPr>
          <a:xfrm>
            <a:off x="365760" y="1078992"/>
            <a:ext cx="11460175" cy="896112"/>
            <a:chOff x="365760" y="1078992"/>
            <a:chExt cx="11460175" cy="896112"/>
          </a:xfrm>
        </p:grpSpPr>
        <p:sp>
          <p:nvSpPr>
            <p:cNvPr id="4" name="S2a:lane:L1:bg" descr="frame"/>
            <p:cNvSpPr/>
            <p:nvPr/>
          </p:nvSpPr>
          <p:spPr>
            <a:xfrm>
              <a:off x="365760" y="1078992"/>
              <a:ext cx="11460175" cy="896112"/>
            </a:xfrm>
            <a:prstGeom prst="rect">
              <a:avLst/>
            </a:prstGeom>
            <a:solidFill>
              <a:schemeClr val="accent1">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S2a:lane:L1:label"/>
            <p:cNvSpPr/>
            <p:nvPr/>
          </p:nvSpPr>
          <p:spPr>
            <a:xfrm>
              <a:off x="420624" y="1133856"/>
              <a:ext cx="667512" cy="78638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spcAft>
                  <a:spcPts val="0"/>
                </a:spcAft>
              </a:pPr>
              <a:r>
                <a:rPr sz="1000" b="1" i="0">
                  <a:solidFill>
                    <a:schemeClr val="bg1"/>
                  </a:solidFill>
                  <a:latin typeface="Times New Roman" panose="02020603050405020304" pitchFamily="18" charset="0"/>
                  <a:cs typeface="Times New Roman" panose="02020603050405020304" pitchFamily="18" charset="0"/>
                </a:rPr>
                <a:t>Journal</a:t>
              </a:r>
            </a:p>
          </p:txBody>
        </p:sp>
      </p:grpSp>
      <p:sp>
        <p:nvSpPr>
          <p:cNvPr id="2" name="title"/>
          <p:cNvSpPr txBox="1"/>
          <p:nvPr/>
        </p:nvSpPr>
        <p:spPr>
          <a:xfrm>
            <a:off x="365760" y="292608"/>
            <a:ext cx="11460175" cy="457200"/>
          </a:xfrm>
          <a:prstGeom prst="rect">
            <a:avLst/>
          </a:prstGeom>
          <a:noFill/>
        </p:spPr>
        <p:txBody>
          <a:bodyPr wrap="square" lIns="0" tIns="0" rIns="0" bIns="0" anchor="ctr">
            <a:noAutofit/>
          </a:bodyPr>
          <a:lstStyle/>
          <a:p>
            <a:pPr algn="l">
              <a:spcAft>
                <a:spcPts val="0"/>
              </a:spcAft>
            </a:pPr>
            <a:r>
              <a:rPr sz="2400" b="1" i="0">
                <a:solidFill>
                  <a:srgbClr val="1E1E24"/>
                </a:solidFill>
                <a:latin typeface="Times New Roman"/>
              </a:rPr>
              <a:t>Fig. 4a - Algorithmic map: from the published objects to the findings report</a:t>
            </a:r>
            <a:endParaRPr sz="2400" b="1" i="0" dirty="0">
              <a:solidFill>
                <a:schemeClr val="tx1"/>
              </a:solidFill>
              <a:latin typeface="Times New Roman" panose="02020603050405020304" pitchFamily="18" charset="0"/>
              <a:cs typeface="Times New Roman" panose="02020603050405020304" pitchFamily="18" charset="0"/>
            </a:endParaRPr>
          </a:p>
        </p:txBody>
      </p:sp>
      <p:sp>
        <p:nvSpPr>
          <p:cNvPr id="15" name="colhdr:0"/>
          <p:cNvSpPr txBox="1"/>
          <p:nvPr/>
        </p:nvSpPr>
        <p:spPr>
          <a:xfrm>
            <a:off x="1261872" y="841248"/>
            <a:ext cx="1373298" cy="237744"/>
          </a:xfrm>
          <a:prstGeom prst="rect">
            <a:avLst/>
          </a:prstGeom>
          <a:noFill/>
        </p:spPr>
        <p:txBody>
          <a:bodyPr wrap="square" lIns="0" tIns="0" rIns="0" bIns="0" anchor="b">
            <a:noAutofit/>
          </a:bodyPr>
          <a:lstStyle/>
          <a:p>
            <a:pPr algn="ctr">
              <a:spcAft>
                <a:spcPts val="0"/>
              </a:spcAft>
            </a:pPr>
            <a:r>
              <a:rPr sz="850" b="0" i="1" dirty="0">
                <a:solidFill>
                  <a:schemeClr val="accent6"/>
                </a:solidFill>
                <a:latin typeface="Times New Roman" panose="02020603050405020304" pitchFamily="18" charset="0"/>
                <a:cs typeface="Times New Roman" panose="02020603050405020304" pitchFamily="18" charset="0"/>
              </a:rPr>
              <a:t>Before and during the work</a:t>
            </a:r>
          </a:p>
        </p:txBody>
      </p:sp>
      <p:sp>
        <p:nvSpPr>
          <p:cNvPr id="16" name="colhdr:1"/>
          <p:cNvSpPr txBox="1"/>
          <p:nvPr/>
        </p:nvSpPr>
        <p:spPr>
          <a:xfrm>
            <a:off x="2781474" y="841248"/>
            <a:ext cx="1373298" cy="237744"/>
          </a:xfrm>
          <a:prstGeom prst="rect">
            <a:avLst/>
          </a:prstGeom>
          <a:noFill/>
        </p:spPr>
        <p:txBody>
          <a:bodyPr wrap="square" lIns="0" tIns="0" rIns="0" bIns="0" anchor="b">
            <a:noAutofit/>
          </a:bodyPr>
          <a:lstStyle/>
          <a:p>
            <a:pPr algn="ctr">
              <a:spcAft>
                <a:spcPts val="0"/>
              </a:spcAft>
            </a:pPr>
            <a:r>
              <a:rPr sz="850" b="0" i="1">
                <a:solidFill>
                  <a:schemeClr val="accent6"/>
                </a:solidFill>
                <a:latin typeface="Times New Roman" panose="02020603050405020304" pitchFamily="18" charset="0"/>
                <a:cs typeface="Times New Roman" panose="02020603050405020304" pitchFamily="18" charset="0"/>
              </a:rPr>
              <a:t>The record</a:t>
            </a:r>
          </a:p>
        </p:txBody>
      </p:sp>
      <p:sp>
        <p:nvSpPr>
          <p:cNvPr id="17" name="colhdr:2"/>
          <p:cNvSpPr txBox="1"/>
          <p:nvPr/>
        </p:nvSpPr>
        <p:spPr>
          <a:xfrm>
            <a:off x="4301076" y="841248"/>
            <a:ext cx="1373298" cy="237744"/>
          </a:xfrm>
          <a:prstGeom prst="rect">
            <a:avLst/>
          </a:prstGeom>
          <a:noFill/>
        </p:spPr>
        <p:txBody>
          <a:bodyPr wrap="square" lIns="0" tIns="0" rIns="0" bIns="0" anchor="b">
            <a:noAutofit/>
          </a:bodyPr>
          <a:lstStyle/>
          <a:p>
            <a:pPr algn="ctr">
              <a:spcAft>
                <a:spcPts val="0"/>
              </a:spcAft>
            </a:pPr>
            <a:r>
              <a:rPr sz="850" b="0" i="1">
                <a:solidFill>
                  <a:schemeClr val="accent6"/>
                </a:solidFill>
                <a:latin typeface="Times New Roman" panose="02020603050405020304" pitchFamily="18" charset="0"/>
                <a:cs typeface="Times New Roman" panose="02020603050405020304" pitchFamily="18" charset="0"/>
              </a:rPr>
              <a:t>Submission</a:t>
            </a:r>
          </a:p>
        </p:txBody>
      </p:sp>
      <p:sp>
        <p:nvSpPr>
          <p:cNvPr id="18" name="colhdr:3"/>
          <p:cNvSpPr txBox="1"/>
          <p:nvPr/>
        </p:nvSpPr>
        <p:spPr>
          <a:xfrm>
            <a:off x="5820679" y="841248"/>
            <a:ext cx="1373298" cy="237744"/>
          </a:xfrm>
          <a:prstGeom prst="rect">
            <a:avLst/>
          </a:prstGeom>
          <a:noFill/>
        </p:spPr>
        <p:txBody>
          <a:bodyPr wrap="square" lIns="0" tIns="0" rIns="0" bIns="0" anchor="b">
            <a:noAutofit/>
          </a:bodyPr>
          <a:lstStyle/>
          <a:p>
            <a:pPr algn="ctr">
              <a:spcAft>
                <a:spcPts val="0"/>
              </a:spcAft>
            </a:pPr>
            <a:r>
              <a:rPr sz="850" b="0" i="1">
                <a:solidFill>
                  <a:schemeClr val="accent6"/>
                </a:solidFill>
                <a:latin typeface="Times New Roman" panose="02020603050405020304" pitchFamily="18" charset="0"/>
                <a:cs typeface="Times New Roman" panose="02020603050405020304" pitchFamily="18" charset="0"/>
              </a:rPr>
              <a:t>Level 1 · Form</a:t>
            </a:r>
          </a:p>
        </p:txBody>
      </p:sp>
      <p:sp>
        <p:nvSpPr>
          <p:cNvPr id="19" name="colhdr:4"/>
          <p:cNvSpPr txBox="1"/>
          <p:nvPr/>
        </p:nvSpPr>
        <p:spPr>
          <a:xfrm>
            <a:off x="7340281" y="841248"/>
            <a:ext cx="1373298" cy="237744"/>
          </a:xfrm>
          <a:prstGeom prst="rect">
            <a:avLst/>
          </a:prstGeom>
          <a:noFill/>
        </p:spPr>
        <p:txBody>
          <a:bodyPr wrap="square" lIns="0" tIns="0" rIns="0" bIns="0" anchor="b">
            <a:noAutofit/>
          </a:bodyPr>
          <a:lstStyle/>
          <a:p>
            <a:pPr algn="ctr">
              <a:spcAft>
                <a:spcPts val="0"/>
              </a:spcAft>
            </a:pPr>
            <a:r>
              <a:rPr sz="850" b="0" i="1">
                <a:solidFill>
                  <a:schemeClr val="accent6"/>
                </a:solidFill>
                <a:latin typeface="Times New Roman" panose="02020603050405020304" pitchFamily="18" charset="0"/>
                <a:cs typeface="Times New Roman" panose="02020603050405020304" pitchFamily="18" charset="0"/>
              </a:rPr>
              <a:t>Level 2 · Correspondence</a:t>
            </a:r>
          </a:p>
        </p:txBody>
      </p:sp>
      <p:sp>
        <p:nvSpPr>
          <p:cNvPr id="20" name="colhdr:5"/>
          <p:cNvSpPr txBox="1"/>
          <p:nvPr/>
        </p:nvSpPr>
        <p:spPr>
          <a:xfrm>
            <a:off x="8859883" y="841248"/>
            <a:ext cx="1373298" cy="237744"/>
          </a:xfrm>
          <a:prstGeom prst="rect">
            <a:avLst/>
          </a:prstGeom>
          <a:noFill/>
        </p:spPr>
        <p:txBody>
          <a:bodyPr wrap="square" lIns="0" tIns="0" rIns="0" bIns="0" anchor="b">
            <a:noAutofit/>
          </a:bodyPr>
          <a:lstStyle/>
          <a:p>
            <a:pPr algn="ctr">
              <a:spcAft>
                <a:spcPts val="0"/>
              </a:spcAft>
            </a:pPr>
            <a:r>
              <a:rPr sz="850" b="0" i="1">
                <a:solidFill>
                  <a:schemeClr val="accent6"/>
                </a:solidFill>
                <a:latin typeface="Times New Roman" panose="02020603050405020304" pitchFamily="18" charset="0"/>
                <a:cs typeface="Times New Roman" panose="02020603050405020304" pitchFamily="18" charset="0"/>
              </a:rPr>
              <a:t>Level 3 · Warrant</a:t>
            </a:r>
          </a:p>
        </p:txBody>
      </p:sp>
      <p:sp>
        <p:nvSpPr>
          <p:cNvPr id="21" name="colhdr:6"/>
          <p:cNvSpPr txBox="1"/>
          <p:nvPr/>
        </p:nvSpPr>
        <p:spPr>
          <a:xfrm>
            <a:off x="10379485" y="841248"/>
            <a:ext cx="1373298" cy="237744"/>
          </a:xfrm>
          <a:prstGeom prst="rect">
            <a:avLst/>
          </a:prstGeom>
          <a:noFill/>
        </p:spPr>
        <p:txBody>
          <a:bodyPr wrap="square" lIns="0" tIns="0" rIns="0" bIns="0" anchor="b">
            <a:noAutofit/>
          </a:bodyPr>
          <a:lstStyle/>
          <a:p>
            <a:pPr algn="ctr">
              <a:spcAft>
                <a:spcPts val="0"/>
              </a:spcAft>
            </a:pPr>
            <a:r>
              <a:rPr sz="850" b="0" i="1">
                <a:solidFill>
                  <a:schemeClr val="accent6"/>
                </a:solidFill>
                <a:latin typeface="Times New Roman" panose="02020603050405020304" pitchFamily="18" charset="0"/>
                <a:cs typeface="Times New Roman" panose="02020603050405020304" pitchFamily="18" charset="0"/>
              </a:rPr>
              <a:t>Findings → action</a:t>
            </a:r>
          </a:p>
        </p:txBody>
      </p:sp>
      <p:sp>
        <p:nvSpPr>
          <p:cNvPr id="22" name="S2a:J1" descr="artifact"/>
          <p:cNvSpPr/>
          <p:nvPr/>
        </p:nvSpPr>
        <p:spPr>
          <a:xfrm>
            <a:off x="1261872" y="1124712"/>
            <a:ext cx="1373298" cy="832104"/>
          </a:xfrm>
          <a:prstGeom prst="rect">
            <a:avLst/>
          </a:prstGeom>
          <a:solidFill>
            <a:schemeClr val="accent1">
              <a:lumMod val="22000"/>
              <a:lumOff val="78000"/>
            </a:schemeClr>
          </a:solidFill>
          <a:ln w="12700">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Publishes in advance, versioned: </a:t>
            </a:r>
            <a:r>
              <a:rPr sz="800" b="0" i="0">
                <a:solidFill>
                  <a:srgbClr val="1E1E24"/>
                </a:solidFill>
                <a:latin typeface="Times New Roman"/>
              </a:rPr>
              <a:t>the record protocol, the checks, the standard, the mapping from findings to actions, the interest criteria.</a:t>
            </a:r>
            <a:endParaRPr sz="750" i="0" dirty="0">
              <a:solidFill>
                <a:schemeClr val="tx1"/>
              </a:solidFill>
              <a:latin typeface="Times New Roman" panose="02020603050405020304" pitchFamily="18" charset="0"/>
              <a:cs typeface="Times New Roman" panose="02020603050405020304" pitchFamily="18" charset="0"/>
            </a:endParaRPr>
          </a:p>
        </p:txBody>
      </p:sp>
      <p:sp>
        <p:nvSpPr>
          <p:cNvPr id="23" name="S2a:J1:id"/>
          <p:cNvSpPr txBox="1"/>
          <p:nvPr/>
        </p:nvSpPr>
        <p:spPr>
          <a:xfrm>
            <a:off x="1307592" y="1152144"/>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J1</a:t>
            </a:r>
          </a:p>
        </p:txBody>
      </p:sp>
      <p:sp>
        <p:nvSpPr>
          <p:cNvPr id="24" name="S2a:J2" descr="artifact"/>
          <p:cNvSpPr/>
          <p:nvPr/>
        </p:nvSpPr>
        <p:spPr>
          <a:xfrm>
            <a:off x="4301076" y="1243584"/>
            <a:ext cx="7451707" cy="512064"/>
          </a:xfrm>
          <a:prstGeom prst="rect">
            <a:avLst/>
          </a:prstGeom>
          <a:solidFill>
            <a:schemeClr val="accent1">
              <a:lumMod val="22000"/>
              <a:lumOff val="78000"/>
            </a:schemeClr>
          </a:solidFill>
          <a:ln w="12700">
            <a:solidFill>
              <a:schemeClr val="accent1"/>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1000" b="1" i="0">
                <a:solidFill>
                  <a:srgbClr val="1E1E24"/>
                </a:solidFill>
                <a:latin typeface="Times New Roman"/>
              </a:rPr>
              <a:t>Review history: </a:t>
            </a:r>
            <a:r>
              <a:rPr sz="1000" b="0" i="0">
                <a:solidFill>
                  <a:srgbClr val="1E1E24"/>
                </a:solidFill>
                <a:latin typeface="Times New Roman"/>
              </a:rPr>
              <a:t>the journal witnesses the record from first submission through every review round, so nothing can be backdated; it records what changed and who changed it, author or AI.</a:t>
            </a:r>
            <a:endParaRPr sz="1000" i="0" dirty="0">
              <a:solidFill>
                <a:schemeClr val="tx1"/>
              </a:solidFill>
              <a:latin typeface="Times New Roman" panose="02020603050405020304" pitchFamily="18" charset="0"/>
              <a:cs typeface="Times New Roman" panose="02020603050405020304" pitchFamily="18" charset="0"/>
            </a:endParaRPr>
          </a:p>
        </p:txBody>
      </p:sp>
      <p:sp>
        <p:nvSpPr>
          <p:cNvPr id="26" name="S2a:J2:id"/>
          <p:cNvSpPr txBox="1"/>
          <p:nvPr/>
        </p:nvSpPr>
        <p:spPr>
          <a:xfrm>
            <a:off x="4346796" y="1271016"/>
            <a:ext cx="457200" cy="137160"/>
          </a:xfrm>
          <a:prstGeom prst="rect">
            <a:avLst/>
          </a:prstGeom>
          <a:noFill/>
        </p:spPr>
        <p:txBody>
          <a:bodyPr wrap="square" lIns="0" tIns="0" rIns="0" bIns="0" anchor="t">
            <a:noAutofit/>
          </a:bodyPr>
          <a:lstStyle/>
          <a:p>
            <a:pPr algn="l">
              <a:spcAft>
                <a:spcPts val="0"/>
              </a:spcAft>
            </a:pPr>
            <a:r>
              <a:rPr sz="700" b="0" i="0">
                <a:solidFill>
                  <a:schemeClr val="accent6"/>
                </a:solidFill>
                <a:latin typeface="Times New Roman" panose="02020603050405020304" pitchFamily="18" charset="0"/>
                <a:cs typeface="Times New Roman" panose="02020603050405020304" pitchFamily="18" charset="0"/>
              </a:rPr>
              <a:t>J2</a:t>
            </a:r>
          </a:p>
        </p:txBody>
      </p:sp>
      <p:sp>
        <p:nvSpPr>
          <p:cNvPr id="27" name="S2a:A1" descr="process"/>
          <p:cNvSpPr/>
          <p:nvPr/>
        </p:nvSpPr>
        <p:spPr>
          <a:xfrm>
            <a:off x="1261872" y="2240280"/>
            <a:ext cx="1373298" cy="1005840"/>
          </a:xfrm>
          <a:prstGeom prst="round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The author works however they like: </a:t>
            </a:r>
            <a:r>
              <a:rPr sz="800" b="0" i="0">
                <a:solidFill>
                  <a:srgbClr val="1E1E24"/>
                </a:solidFill>
                <a:latin typeface="Times New Roman"/>
              </a:rPr>
              <a:t>AI keeps the record to the protocol as the work proceeds. The working history accrues from the start.</a:t>
            </a:r>
            <a:endParaRPr sz="750" i="0" dirty="0">
              <a:solidFill>
                <a:schemeClr val="tx1"/>
              </a:solidFill>
              <a:latin typeface="Times New Roman" panose="02020603050405020304" pitchFamily="18" charset="0"/>
              <a:cs typeface="Times New Roman" panose="02020603050405020304" pitchFamily="18" charset="0"/>
            </a:endParaRPr>
          </a:p>
        </p:txBody>
      </p:sp>
      <p:sp>
        <p:nvSpPr>
          <p:cNvPr id="28" name="S2a:A1:id"/>
          <p:cNvSpPr txBox="1"/>
          <p:nvPr/>
        </p:nvSpPr>
        <p:spPr>
          <a:xfrm>
            <a:off x="1353312" y="2286000"/>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A1</a:t>
            </a:r>
          </a:p>
        </p:txBody>
      </p:sp>
      <p:sp>
        <p:nvSpPr>
          <p:cNvPr id="29" name="S2a:A2" descr="record"/>
          <p:cNvSpPr/>
          <p:nvPr/>
        </p:nvSpPr>
        <p:spPr>
          <a:xfrm>
            <a:off x="2781474" y="2057400"/>
            <a:ext cx="1373298" cy="1417320"/>
          </a:xfrm>
          <a:prstGeom prst="flowChartMultidocumen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750" b="1" i="0">
                <a:solidFill>
                  <a:srgbClr val="1E1E24"/>
                </a:solidFill>
                <a:latin typeface="Times New Roman"/>
              </a:rPr>
              <a:t>The research record: </a:t>
            </a:r>
            <a:r>
              <a:rPr sz="750" b="0" i="0">
                <a:solidFill>
                  <a:srgbClr val="1E1E24"/>
                </a:solidFill>
                <a:latin typeface="Times New Roman"/>
              </a:rPr>
              <a:t>the paper, the appendix, and the author's AI appendix; materials; provenance linking each result to what produced it; declarations (type, standard, AI use).</a:t>
            </a:r>
            <a:endParaRPr sz="750" i="0" dirty="0">
              <a:solidFill>
                <a:schemeClr val="tx1"/>
              </a:solidFill>
              <a:latin typeface="Times New Roman" panose="02020603050405020304" pitchFamily="18" charset="0"/>
              <a:cs typeface="Times New Roman" panose="02020603050405020304" pitchFamily="18" charset="0"/>
            </a:endParaRPr>
          </a:p>
        </p:txBody>
      </p:sp>
      <p:sp>
        <p:nvSpPr>
          <p:cNvPr id="30" name="S2a:A2:id"/>
          <p:cNvSpPr txBox="1"/>
          <p:nvPr/>
        </p:nvSpPr>
        <p:spPr>
          <a:xfrm>
            <a:off x="2799762" y="2066544"/>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A2</a:t>
            </a:r>
          </a:p>
        </p:txBody>
      </p:sp>
      <p:sp>
        <p:nvSpPr>
          <p:cNvPr id="31" name="S2a:A4" descr="process"/>
          <p:cNvSpPr/>
          <p:nvPr/>
        </p:nvSpPr>
        <p:spPr>
          <a:xfrm>
            <a:off x="4362693" y="2009457"/>
            <a:ext cx="1373298" cy="731520"/>
          </a:xfrm>
          <a:prstGeom prst="roundRect">
            <a:avLst/>
          </a:prstGeom>
          <a:solidFill>
            <a:schemeClr val="accent2">
              <a:lumMod val="22000"/>
              <a:lumOff val="78000"/>
            </a:schemeClr>
          </a:solidFill>
          <a:ln w="12700">
            <a:solidFill>
              <a:schemeClr val="accent2"/>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Submission: </a:t>
            </a:r>
            <a:r>
              <a:rPr sz="800" b="0" i="0">
                <a:solidFill>
                  <a:srgbClr val="1E1E24"/>
                </a:solidFill>
                <a:latin typeface="Times New Roman"/>
              </a:rPr>
              <a:t>the record, with the author's own findings report. Working history at the author's choice.</a:t>
            </a:r>
            <a:endParaRPr sz="750" i="0" dirty="0">
              <a:solidFill>
                <a:schemeClr val="tx1"/>
              </a:solidFill>
              <a:latin typeface="Times New Roman" panose="02020603050405020304" pitchFamily="18" charset="0"/>
              <a:cs typeface="Times New Roman" panose="02020603050405020304" pitchFamily="18" charset="0"/>
            </a:endParaRPr>
          </a:p>
        </p:txBody>
      </p:sp>
      <p:sp>
        <p:nvSpPr>
          <p:cNvPr id="33" name="S2a:A4:id"/>
          <p:cNvSpPr txBox="1"/>
          <p:nvPr/>
        </p:nvSpPr>
        <p:spPr>
          <a:xfrm>
            <a:off x="4454133" y="2055177"/>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A4</a:t>
            </a:r>
          </a:p>
        </p:txBody>
      </p:sp>
      <p:sp>
        <p:nvSpPr>
          <p:cNvPr id="34" name="S2a:A3" descr="process"/>
          <p:cNvSpPr/>
          <p:nvPr/>
        </p:nvSpPr>
        <p:spPr>
          <a:xfrm>
            <a:off x="4362693" y="2948239"/>
            <a:ext cx="1373298" cy="621792"/>
          </a:xfrm>
          <a:prstGeom prst="roundRect">
            <a:avLst/>
          </a:prstGeom>
          <a:solidFill>
            <a:schemeClr val="accent2">
              <a:lumMod val="22000"/>
              <a:lumOff val="78000"/>
            </a:schemeClr>
          </a:solidFill>
          <a:ln w="12700">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700" b="1" i="0">
                <a:solidFill>
                  <a:srgbClr val="1E1E24"/>
                </a:solidFill>
                <a:latin typeface="Times New Roman"/>
              </a:rPr>
              <a:t>Self-check: </a:t>
            </a:r>
            <a:r>
              <a:rPr sz="700" b="0" i="0">
                <a:solidFill>
                  <a:srgbClr val="1E1E24"/>
                </a:solidFill>
                <a:latin typeface="Times New Roman"/>
              </a:rPr>
              <a:t>the author runs the same checks first and attaches the report; the journal compares its own run.</a:t>
            </a:r>
            <a:endParaRPr sz="750" b="0" i="0" dirty="0">
              <a:solidFill>
                <a:schemeClr val="tx1"/>
              </a:solidFill>
              <a:latin typeface="Times New Roman" panose="02020603050405020304" pitchFamily="18" charset="0"/>
              <a:cs typeface="Times New Roman" panose="02020603050405020304" pitchFamily="18" charset="0"/>
            </a:endParaRPr>
          </a:p>
        </p:txBody>
      </p:sp>
      <p:sp>
        <p:nvSpPr>
          <p:cNvPr id="35" name="S2a:A3:id"/>
          <p:cNvSpPr txBox="1"/>
          <p:nvPr/>
        </p:nvSpPr>
        <p:spPr>
          <a:xfrm>
            <a:off x="4454133" y="2993959"/>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A3</a:t>
            </a:r>
          </a:p>
        </p:txBody>
      </p:sp>
      <p:sp>
        <p:nvSpPr>
          <p:cNvPr id="36" name="S2a:M1" descr="process"/>
          <p:cNvSpPr/>
          <p:nvPr/>
        </p:nvSpPr>
        <p:spPr>
          <a:xfrm>
            <a:off x="5820679" y="3566160"/>
            <a:ext cx="1373298" cy="1170432"/>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Level 1 · Form: </a:t>
            </a:r>
            <a:r>
              <a:rPr sz="800" b="0" i="0">
                <a:solidFill>
                  <a:srgbClr val="1E1E24"/>
                </a:solidFill>
                <a:latin typeface="Times New Roman"/>
              </a:rPr>
              <a:t>does the record conform to the published protocol: parts present, the paper's front notice, the AI appendix in the published form? Findings; nothing is rejected on form. Internal.</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37" name="S2a:M1:id"/>
          <p:cNvSpPr txBox="1"/>
          <p:nvPr/>
        </p:nvSpPr>
        <p:spPr>
          <a:xfrm>
            <a:off x="5912119" y="3611880"/>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M1</a:t>
            </a:r>
          </a:p>
        </p:txBody>
      </p:sp>
      <p:sp>
        <p:nvSpPr>
          <p:cNvPr id="38" name="S2a:M3" descr="process"/>
          <p:cNvSpPr/>
          <p:nvPr/>
        </p:nvSpPr>
        <p:spPr>
          <a:xfrm>
            <a:off x="7340281" y="3566160"/>
            <a:ext cx="1373298" cy="1170432"/>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18288" rtlCol="0" anchor="ctr">
            <a:noAutofit/>
          </a:bodyPr>
          <a:lstStyle/>
          <a:p>
            <a:pPr algn="ctr">
              <a:spcAft>
                <a:spcPts val="0"/>
              </a:spcAft>
            </a:pPr>
            <a:r>
              <a:rPr sz="800" b="1" i="0">
                <a:solidFill>
                  <a:srgbClr val="1E1E24"/>
                </a:solidFill>
                <a:latin typeface="Times New Roman"/>
              </a:rPr>
              <a:t>Level 2 · Correspondence: </a:t>
            </a:r>
            <a:r>
              <a:rPr sz="800" b="0" i="0">
                <a:solidFill>
                  <a:srgbClr val="1E1E24"/>
                </a:solidFill>
                <a:latin typeface="Times New Roman"/>
              </a:rPr>
              <a:t>does the paper match the appendix, and the appendix the record, read through the AI appendix? Internal: integrity.</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39" name="S2a:M3:id"/>
          <p:cNvSpPr txBox="1"/>
          <p:nvPr/>
        </p:nvSpPr>
        <p:spPr>
          <a:xfrm>
            <a:off x="7431721" y="3611880"/>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M3</a:t>
            </a:r>
          </a:p>
        </p:txBody>
      </p:sp>
      <p:sp>
        <p:nvSpPr>
          <p:cNvPr id="40" name="S2a:M4" descr="process"/>
          <p:cNvSpPr/>
          <p:nvPr/>
        </p:nvSpPr>
        <p:spPr>
          <a:xfrm>
            <a:off x="8859883" y="3566160"/>
            <a:ext cx="1327154" cy="1170432"/>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41" name="S2a:M4:id"/>
          <p:cNvSpPr txBox="1"/>
          <p:nvPr/>
        </p:nvSpPr>
        <p:spPr>
          <a:xfrm>
            <a:off x="8954850" y="3614922"/>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M4</a:t>
            </a:r>
          </a:p>
        </p:txBody>
      </p:sp>
      <p:sp>
        <p:nvSpPr>
          <p:cNvPr id="42" name="S2a:M4:title"/>
          <p:cNvSpPr txBox="1"/>
          <p:nvPr/>
        </p:nvSpPr>
        <p:spPr>
          <a:xfrm>
            <a:off x="8859883" y="3717917"/>
            <a:ext cx="1281858" cy="347472"/>
          </a:xfrm>
          <a:prstGeom prst="rect">
            <a:avLst/>
          </a:prstGeom>
          <a:noFill/>
        </p:spPr>
        <p:txBody>
          <a:bodyPr wrap="square" lIns="0" tIns="0" rIns="0" bIns="0" anchor="ctr">
            <a:noAutofit/>
          </a:bodyPr>
          <a:lstStyle/>
          <a:p>
            <a:pPr algn="ctr">
              <a:spcAft>
                <a:spcPts val="0"/>
              </a:spcAft>
            </a:pPr>
            <a:r>
              <a:rPr sz="900" b="1" i="0">
                <a:solidFill>
                  <a:srgbClr val="1E1E24"/>
                </a:solidFill>
                <a:latin typeface="Times New Roman"/>
              </a:rPr>
              <a:t>Level 3 · Warrant (SIEVE)</a:t>
            </a:r>
          </a:p>
        </p:txBody>
      </p:sp>
      <p:sp>
        <p:nvSpPr>
          <p:cNvPr id="43" name="S2a:M4:cell0" descr="artifact"/>
          <p:cNvSpPr/>
          <p:nvPr/>
        </p:nvSpPr>
        <p:spPr>
          <a:xfrm>
            <a:off x="8892311" y="4049387"/>
            <a:ext cx="613497" cy="173736"/>
          </a:xfrm>
          <a:prstGeom prst="rect">
            <a:avLst/>
          </a:prstGeom>
          <a:solidFill>
            <a:schemeClr val="accent3">
              <a:lumMod val="22000"/>
              <a:lumOff val="78000"/>
            </a:schemeClr>
          </a:solidFill>
          <a:ln w="635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spcAft>
                <a:spcPts val="0"/>
              </a:spcAft>
            </a:pPr>
            <a:r>
              <a:rPr sz="700" b="0" i="0">
                <a:solidFill>
                  <a:srgbClr val="1E1E24"/>
                </a:solidFill>
                <a:latin typeface="Times New Roman"/>
              </a:rPr>
              <a:t>contribution</a:t>
            </a:r>
          </a:p>
        </p:txBody>
      </p:sp>
      <p:sp>
        <p:nvSpPr>
          <p:cNvPr id="44" name="S2a:M4:cell1" descr="artifact"/>
          <p:cNvSpPr/>
          <p:nvPr/>
        </p:nvSpPr>
        <p:spPr>
          <a:xfrm>
            <a:off x="9542384" y="4049387"/>
            <a:ext cx="613497" cy="173736"/>
          </a:xfrm>
          <a:prstGeom prst="rect">
            <a:avLst/>
          </a:prstGeom>
          <a:solidFill>
            <a:srgbClr val="FFFFFF"/>
          </a:solidFill>
          <a:ln w="635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spcAft>
                <a:spcPts val="0"/>
              </a:spcAft>
            </a:pPr>
            <a:r>
              <a:rPr sz="700" b="0" i="0">
                <a:solidFill>
                  <a:srgbClr val="1E1E24"/>
                </a:solidFill>
                <a:latin typeface="Times New Roman"/>
              </a:rPr>
              <a:t>statistical</a:t>
            </a:r>
          </a:p>
        </p:txBody>
      </p:sp>
      <p:sp>
        <p:nvSpPr>
          <p:cNvPr id="45" name="S2a:M4:cell2" descr="artifact"/>
          <p:cNvSpPr/>
          <p:nvPr/>
        </p:nvSpPr>
        <p:spPr>
          <a:xfrm>
            <a:off x="8892311" y="4245983"/>
            <a:ext cx="613497" cy="173736"/>
          </a:xfrm>
          <a:prstGeom prst="rect">
            <a:avLst/>
          </a:prstGeom>
          <a:solidFill>
            <a:srgbClr val="FFFFFF"/>
          </a:solidFill>
          <a:ln w="635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spcAft>
                <a:spcPts val="0"/>
              </a:spcAft>
            </a:pPr>
            <a:r>
              <a:rPr sz="700" b="0" i="0">
                <a:solidFill>
                  <a:srgbClr val="1E1E24"/>
                </a:solidFill>
                <a:latin typeface="Times New Roman"/>
              </a:rPr>
              <a:t>internal</a:t>
            </a:r>
          </a:p>
        </p:txBody>
      </p:sp>
      <p:sp>
        <p:nvSpPr>
          <p:cNvPr id="46" name="S2a:M4:cell3" descr="artifact"/>
          <p:cNvSpPr/>
          <p:nvPr/>
        </p:nvSpPr>
        <p:spPr>
          <a:xfrm>
            <a:off x="9542384" y="4245983"/>
            <a:ext cx="613497" cy="173736"/>
          </a:xfrm>
          <a:prstGeom prst="rect">
            <a:avLst/>
          </a:prstGeom>
          <a:solidFill>
            <a:srgbClr val="FFFFFF"/>
          </a:solidFill>
          <a:ln w="635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spcAft>
                <a:spcPts val="0"/>
              </a:spcAft>
            </a:pPr>
            <a:r>
              <a:rPr sz="700" b="0" i="0">
                <a:solidFill>
                  <a:srgbClr val="1E1E24"/>
                </a:solidFill>
                <a:latin typeface="Times New Roman"/>
              </a:rPr>
              <a:t>construct</a:t>
            </a:r>
          </a:p>
        </p:txBody>
      </p:sp>
      <p:sp>
        <p:nvSpPr>
          <p:cNvPr id="47" name="S2a:M4:cell4" descr="artifact"/>
          <p:cNvSpPr/>
          <p:nvPr/>
        </p:nvSpPr>
        <p:spPr>
          <a:xfrm>
            <a:off x="8892311" y="4442579"/>
            <a:ext cx="613497" cy="173736"/>
          </a:xfrm>
          <a:prstGeom prst="rect">
            <a:avLst/>
          </a:prstGeom>
          <a:solidFill>
            <a:schemeClr val="accent3">
              <a:lumMod val="22000"/>
              <a:lumOff val="78000"/>
            </a:schemeClr>
          </a:solidFill>
          <a:ln w="635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spcAft>
                <a:spcPts val="0"/>
              </a:spcAft>
            </a:pPr>
            <a:r>
              <a:rPr sz="700" b="0" i="0">
                <a:solidFill>
                  <a:srgbClr val="1E1E24"/>
                </a:solidFill>
                <a:latin typeface="Times New Roman"/>
              </a:rPr>
              <a:t>soundness</a:t>
            </a:r>
          </a:p>
        </p:txBody>
      </p:sp>
      <p:sp>
        <p:nvSpPr>
          <p:cNvPr id="48" name="S2a:M4:cell5" descr="artifact"/>
          <p:cNvSpPr/>
          <p:nvPr/>
        </p:nvSpPr>
        <p:spPr>
          <a:xfrm>
            <a:off x="9542384" y="4442579"/>
            <a:ext cx="613497" cy="173736"/>
          </a:xfrm>
          <a:prstGeom prst="rect">
            <a:avLst/>
          </a:prstGeom>
          <a:solidFill>
            <a:srgbClr val="FFFFFF"/>
          </a:solidFill>
          <a:ln w="635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wrap="square" lIns="18288" tIns="0" rIns="18288" bIns="0" rtlCol="0" anchor="ctr">
            <a:noAutofit/>
          </a:bodyPr>
          <a:lstStyle/>
          <a:p>
            <a:pPr algn="ctr">
              <a:spcAft>
                <a:spcPts val="0"/>
              </a:spcAft>
            </a:pPr>
            <a:r>
              <a:rPr sz="700" b="0" i="0">
                <a:solidFill>
                  <a:srgbClr val="1E1E24"/>
                </a:solidFill>
                <a:latin typeface="Times New Roman"/>
              </a:rPr>
              <a:t>external</a:t>
            </a:r>
          </a:p>
        </p:txBody>
      </p:sp>
      <p:sp>
        <p:nvSpPr>
          <p:cNvPr id="49" name="S2a:M5" descr="document"/>
          <p:cNvSpPr/>
          <p:nvPr/>
        </p:nvSpPr>
        <p:spPr>
          <a:xfrm>
            <a:off x="10356413" y="3566160"/>
            <a:ext cx="1419442" cy="1371600"/>
          </a:xfrm>
          <a:prstGeom prst="flowChartDocument">
            <a:avLst/>
          </a:prstGeom>
          <a:solidFill>
            <a:schemeClr val="accent3">
              <a:lumMod val="22000"/>
              <a:lumOff val="78000"/>
            </a:schemeClr>
          </a:solidFill>
          <a:ln w="1270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Findings report: </a:t>
            </a:r>
            <a:r>
              <a:rPr sz="800" b="0" i="0">
                <a:solidFill>
                  <a:srgbClr val="1E1E24"/>
                </a:solidFill>
                <a:latin typeface="Times New Roman"/>
              </a:rPr>
              <a:t>each finding with a pointer to the record and to the standard applied, versioned with the model that produced it; plus the evidence map. Never a verdict.</a:t>
            </a:r>
            <a:endParaRPr sz="900" i="0" dirty="0">
              <a:solidFill>
                <a:schemeClr val="tx1"/>
              </a:solidFill>
              <a:latin typeface="Times New Roman" panose="02020603050405020304" pitchFamily="18" charset="0"/>
              <a:cs typeface="Times New Roman" panose="02020603050405020304" pitchFamily="18" charset="0"/>
            </a:endParaRPr>
          </a:p>
        </p:txBody>
      </p:sp>
      <p:sp>
        <p:nvSpPr>
          <p:cNvPr id="51" name="S2a:M5:id"/>
          <p:cNvSpPr txBox="1"/>
          <p:nvPr/>
        </p:nvSpPr>
        <p:spPr>
          <a:xfrm>
            <a:off x="10402133" y="3593592"/>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M5</a:t>
            </a:r>
          </a:p>
        </p:txBody>
      </p:sp>
      <p:sp>
        <p:nvSpPr>
          <p:cNvPr id="52" name="S2a:M2" descr="note"/>
          <p:cNvSpPr/>
          <p:nvPr/>
        </p:nvSpPr>
        <p:spPr>
          <a:xfrm>
            <a:off x="1261872" y="4745000"/>
            <a:ext cx="8971310" cy="320040"/>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0" tIns="0" rIns="45720" bIns="0" rtlCol="0" anchor="ctr">
            <a:noAutofit/>
          </a:bodyPr>
          <a:lstStyle/>
          <a:p>
            <a:pPr algn="ctr">
              <a:spcAft>
                <a:spcPts val="0"/>
              </a:spcAft>
            </a:pPr>
            <a:r>
              <a:rPr sz="900" b="0" i="0">
                <a:solidFill>
                  <a:srgbClr val="1E1E24"/>
                </a:solidFill>
                <a:latin typeface="Times New Roman"/>
              </a:rPr>
              <a:t>Checks differ by modality: formal built for Stage 1; empirical in Stage 2; simulation, qualitative, verbal theory, and survey/review specified. All three levels run on every submission, and the author runs them first.</a:t>
            </a:r>
            <a:endParaRPr sz="850" b="0" i="0" dirty="0">
              <a:solidFill>
                <a:schemeClr val="tx2"/>
              </a:solidFill>
              <a:latin typeface="Times New Roman" panose="02020603050405020304" pitchFamily="18" charset="0"/>
              <a:cs typeface="Times New Roman" panose="02020603050405020304" pitchFamily="18" charset="0"/>
            </a:endParaRPr>
          </a:p>
        </p:txBody>
      </p:sp>
      <p:sp>
        <p:nvSpPr>
          <p:cNvPr id="53" name="S2a:M2:id"/>
          <p:cNvSpPr txBox="1"/>
          <p:nvPr/>
        </p:nvSpPr>
        <p:spPr>
          <a:xfrm>
            <a:off x="1298448" y="4758717"/>
            <a:ext cx="457200" cy="137160"/>
          </a:xfrm>
          <a:prstGeom prst="rect">
            <a:avLst/>
          </a:prstGeom>
          <a:noFill/>
        </p:spPr>
        <p:txBody>
          <a:bodyPr wrap="square" lIns="0" tIns="0" rIns="0" bIns="0" anchor="t">
            <a:noAutofit/>
          </a:bodyPr>
          <a:lstStyle/>
          <a:p>
            <a:pPr algn="l">
              <a:spcAft>
                <a:spcPts val="0"/>
              </a:spcAft>
            </a:pPr>
            <a:r>
              <a:rPr sz="700" b="0" i="0">
                <a:solidFill>
                  <a:schemeClr val="accent6"/>
                </a:solidFill>
                <a:latin typeface="Times New Roman" panose="02020603050405020304" pitchFamily="18" charset="0"/>
                <a:cs typeface="Times New Roman" panose="02020603050405020304" pitchFamily="18" charset="0"/>
              </a:rPr>
              <a:t>M2</a:t>
            </a:r>
          </a:p>
        </p:txBody>
      </p:sp>
      <p:sp>
        <p:nvSpPr>
          <p:cNvPr id="54" name="S2a:H1" descr="judgment"/>
          <p:cNvSpPr/>
          <p:nvPr/>
        </p:nvSpPr>
        <p:spPr>
          <a:xfrm>
            <a:off x="10391428" y="5197567"/>
            <a:ext cx="1373298" cy="822960"/>
          </a:xfrm>
          <a:prstGeom prst="snip2Same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00" b="1" i="0">
                <a:solidFill>
                  <a:srgbClr val="1E1E24"/>
                </a:solidFill>
                <a:latin typeface="Times New Roman"/>
              </a:rPr>
              <a:t>Intake decision: </a:t>
            </a:r>
            <a:r>
              <a:rPr sz="900" b="0" i="0">
                <a:solidFill>
                  <a:srgbClr val="1E1E24"/>
                </a:solidFill>
                <a:latin typeface="Times New Roman"/>
              </a:rPr>
              <a:t>a named editor applies the published mapping to the findings report (Fig. 4b).</a:t>
            </a:r>
            <a:endParaRPr sz="900" i="0" dirty="0">
              <a:solidFill>
                <a:schemeClr val="tx1"/>
              </a:solidFill>
              <a:latin typeface="Times New Roman" panose="02020603050405020304" pitchFamily="18" charset="0"/>
              <a:cs typeface="Times New Roman" panose="02020603050405020304" pitchFamily="18" charset="0"/>
            </a:endParaRPr>
          </a:p>
        </p:txBody>
      </p:sp>
      <p:sp>
        <p:nvSpPr>
          <p:cNvPr id="55" name="S2a:H1:id"/>
          <p:cNvSpPr txBox="1"/>
          <p:nvPr/>
        </p:nvSpPr>
        <p:spPr>
          <a:xfrm>
            <a:off x="10494210" y="5197567"/>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H1</a:t>
            </a:r>
          </a:p>
        </p:txBody>
      </p:sp>
      <p:cxnSp>
        <p:nvCxnSpPr>
          <p:cNvPr id="56" name="S2a:J1&gt;A1"/>
          <p:cNvCxnSpPr>
            <a:stCxn id="22" idx="2"/>
            <a:endCxn id="27" idx="0"/>
          </p:cNvCxnSpPr>
          <p:nvPr/>
        </p:nvCxnSpPr>
        <p:spPr>
          <a:xfrm>
            <a:off x="1948521" y="1956816"/>
            <a:ext cx="0" cy="283464"/>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S2a:J1&gt;A1:label"/>
          <p:cNvSpPr txBox="1"/>
          <p:nvPr/>
        </p:nvSpPr>
        <p:spPr>
          <a:xfrm>
            <a:off x="658368" y="1938528"/>
            <a:ext cx="1234440" cy="182880"/>
          </a:xfrm>
          <a:prstGeom prst="rect">
            <a:avLst/>
          </a:prstGeom>
          <a:noFill/>
        </p:spPr>
        <p:txBody>
          <a:bodyPr wrap="square" lIns="0" tIns="0" rIns="0" bIns="0" anchor="ctr">
            <a:noAutofit/>
          </a:bodyPr>
          <a:lstStyle/>
          <a:p>
            <a:pPr algn="r">
              <a:spcAft>
                <a:spcPts val="0"/>
              </a:spcAft>
            </a:pPr>
            <a:r>
              <a:rPr sz="850" b="0" i="0">
                <a:solidFill>
                  <a:srgbClr val="1E1E24"/>
                </a:solidFill>
                <a:latin typeface="Times New Roman"/>
              </a:rPr>
              <a:t>known before the work</a:t>
            </a:r>
          </a:p>
        </p:txBody>
      </p:sp>
      <p:cxnSp>
        <p:nvCxnSpPr>
          <p:cNvPr id="58" name="S2a:A1&gt;A2"/>
          <p:cNvCxnSpPr>
            <a:stCxn id="27" idx="3"/>
            <a:endCxn id="29" idx="1"/>
          </p:cNvCxnSpPr>
          <p:nvPr/>
        </p:nvCxnSpPr>
        <p:spPr>
          <a:xfrm>
            <a:off x="2635170" y="2761488"/>
            <a:ext cx="146304" cy="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S2a:A2&gt;A4"/>
          <p:cNvCxnSpPr>
            <a:stCxn id="29" idx="3"/>
            <a:endCxn id="31" idx="1"/>
          </p:cNvCxnSpPr>
          <p:nvPr/>
        </p:nvCxnSpPr>
        <p:spPr>
          <a:xfrm flipV="1">
            <a:off x="4154772" y="2375217"/>
            <a:ext cx="207921" cy="386271"/>
          </a:xfrm>
          <a:prstGeom prst="bentConnector3">
            <a:avLst>
              <a:gd name="adj1" fmla="val 50000"/>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S2a:A2&gt;A3"/>
          <p:cNvCxnSpPr>
            <a:cxnSpLocks/>
            <a:stCxn id="29" idx="3"/>
            <a:endCxn id="34" idx="1"/>
          </p:cNvCxnSpPr>
          <p:nvPr/>
        </p:nvCxnSpPr>
        <p:spPr>
          <a:xfrm>
            <a:off x="4154772" y="2761488"/>
            <a:ext cx="207921" cy="497647"/>
          </a:xfrm>
          <a:prstGeom prst="bentConnector3">
            <a:avLst>
              <a:gd name="adj1" fmla="val 50000"/>
            </a:avLst>
          </a:prstGeom>
          <a:ln w="12700">
            <a:solidFill>
              <a:schemeClr val="tx2"/>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S2a:A3&gt;A4"/>
          <p:cNvCxnSpPr>
            <a:cxnSpLocks/>
            <a:stCxn id="34" idx="0"/>
            <a:endCxn id="31" idx="2"/>
          </p:cNvCxnSpPr>
          <p:nvPr/>
        </p:nvCxnSpPr>
        <p:spPr>
          <a:xfrm flipV="1">
            <a:off x="5049342" y="2740977"/>
            <a:ext cx="0" cy="207262"/>
          </a:xfrm>
          <a:prstGeom prst="line">
            <a:avLst/>
          </a:prstGeom>
          <a:ln w="12700">
            <a:solidFill>
              <a:schemeClr val="tx2"/>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62" name="S2a:A4&gt;J2"/>
          <p:cNvCxnSpPr>
            <a:stCxn id="31" idx="0"/>
            <a:endCxn id="24" idx="2"/>
          </p:cNvCxnSpPr>
          <p:nvPr/>
        </p:nvCxnSpPr>
        <p:spPr>
          <a:xfrm rot="5400000" flipH="1" flipV="1">
            <a:off x="6411232" y="393759"/>
            <a:ext cx="253809" cy="2977588"/>
          </a:xfrm>
          <a:prstGeom prst="bentConnector3">
            <a:avLst>
              <a:gd name="adj1" fmla="val 50000"/>
            </a:avLst>
          </a:prstGeom>
          <a:ln w="12700">
            <a:solidFill>
              <a:schemeClr val="tx2"/>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3" name="S2a:A4&gt;J2:label"/>
          <p:cNvSpPr txBox="1"/>
          <p:nvPr/>
        </p:nvSpPr>
        <p:spPr>
          <a:xfrm>
            <a:off x="5912968" y="1725930"/>
            <a:ext cx="2011680" cy="182880"/>
          </a:xfrm>
          <a:prstGeom prst="rect">
            <a:avLst/>
          </a:prstGeom>
          <a:noFill/>
        </p:spPr>
        <p:txBody>
          <a:bodyPr wrap="square" lIns="0" tIns="0" rIns="0" bIns="0" anchor="ctr">
            <a:noAutofit/>
          </a:bodyPr>
          <a:lstStyle/>
          <a:p>
            <a:pPr algn="ctr">
              <a:spcAft>
                <a:spcPts val="0"/>
              </a:spcAft>
            </a:pPr>
            <a:r>
              <a:rPr sz="800" b="0" i="0">
                <a:solidFill>
                  <a:srgbClr val="1E1E24"/>
                </a:solidFill>
                <a:latin typeface="Times New Roman"/>
              </a:rPr>
              <a:t>review history, from first submission</a:t>
            </a:r>
          </a:p>
        </p:txBody>
      </p:sp>
      <p:cxnSp>
        <p:nvCxnSpPr>
          <p:cNvPr id="64" name="S2a:A4&gt;M1"/>
          <p:cNvCxnSpPr>
            <a:cxnSpLocks/>
            <a:stCxn id="31" idx="3"/>
            <a:endCxn id="36" idx="0"/>
          </p:cNvCxnSpPr>
          <p:nvPr/>
        </p:nvCxnSpPr>
        <p:spPr>
          <a:xfrm>
            <a:off x="5735991" y="2375217"/>
            <a:ext cx="771337" cy="1190943"/>
          </a:xfrm>
          <a:prstGeom prst="bentConnector2">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S2a:A4&gt;M1:label"/>
          <p:cNvSpPr txBox="1"/>
          <p:nvPr/>
        </p:nvSpPr>
        <p:spPr>
          <a:xfrm>
            <a:off x="6004407" y="2889503"/>
            <a:ext cx="731520" cy="182880"/>
          </a:xfrm>
          <a:prstGeom prst="rect">
            <a:avLst/>
          </a:prstGeom>
          <a:noFill/>
        </p:spPr>
        <p:txBody>
          <a:bodyPr wrap="square" lIns="0" tIns="0" rIns="0" bIns="0" anchor="ctr">
            <a:noAutofit/>
          </a:bodyPr>
          <a:lstStyle/>
          <a:p>
            <a:pPr algn="l">
              <a:spcAft>
                <a:spcPts val="0"/>
              </a:spcAft>
            </a:pPr>
            <a:r>
              <a:rPr sz="850" b="0" i="0" dirty="0">
                <a:solidFill>
                  <a:schemeClr val="tx2"/>
                </a:solidFill>
                <a:latin typeface="Times New Roman" panose="02020603050405020304" pitchFamily="18" charset="0"/>
                <a:cs typeface="Times New Roman" panose="02020603050405020304" pitchFamily="18" charset="0"/>
              </a:rPr>
              <a:t>the record</a:t>
            </a:r>
          </a:p>
        </p:txBody>
      </p:sp>
      <p:cxnSp>
        <p:nvCxnSpPr>
          <p:cNvPr id="66" name="S2a:M1&gt;M3"/>
          <p:cNvCxnSpPr>
            <a:cxnSpLocks/>
            <a:stCxn id="36" idx="3"/>
            <a:endCxn id="38" idx="1"/>
          </p:cNvCxnSpPr>
          <p:nvPr/>
        </p:nvCxnSpPr>
        <p:spPr>
          <a:xfrm>
            <a:off x="7193977" y="4151376"/>
            <a:ext cx="146304" cy="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7" name="S2a:M3&gt;M4"/>
          <p:cNvCxnSpPr>
            <a:cxnSpLocks/>
            <a:stCxn id="38" idx="3"/>
            <a:endCxn id="40" idx="1"/>
          </p:cNvCxnSpPr>
          <p:nvPr/>
        </p:nvCxnSpPr>
        <p:spPr>
          <a:xfrm>
            <a:off x="8713579" y="4151376"/>
            <a:ext cx="146304" cy="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8" name="S2a:M4&gt;M5"/>
          <p:cNvCxnSpPr>
            <a:cxnSpLocks/>
            <a:stCxn id="40" idx="3"/>
            <a:endCxn id="49" idx="1"/>
          </p:cNvCxnSpPr>
          <p:nvPr/>
        </p:nvCxnSpPr>
        <p:spPr>
          <a:xfrm>
            <a:off x="10187037" y="4151376"/>
            <a:ext cx="169376" cy="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9" name="S2a:M5&gt;H1"/>
          <p:cNvCxnSpPr>
            <a:cxnSpLocks/>
            <a:stCxn id="49" idx="2"/>
            <a:endCxn id="54" idx="3"/>
          </p:cNvCxnSpPr>
          <p:nvPr/>
        </p:nvCxnSpPr>
        <p:spPr>
          <a:xfrm>
            <a:off x="11066134" y="4937760"/>
            <a:ext cx="11943" cy="265176"/>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 name="legend:role:journal" descr="frame"/>
          <p:cNvSpPr/>
          <p:nvPr/>
        </p:nvSpPr>
        <p:spPr>
          <a:xfrm>
            <a:off x="411611" y="6373368"/>
            <a:ext cx="146304" cy="146304"/>
          </a:xfrm>
          <a:prstGeom prst="rect">
            <a:avLst/>
          </a:prstGeom>
          <a:solidFill>
            <a:schemeClr val="accent1">
              <a:lumMod val="22000"/>
              <a:lumOff val="78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1" name="legend:role:journal:t"/>
          <p:cNvSpPr txBox="1"/>
          <p:nvPr/>
        </p:nvSpPr>
        <p:spPr>
          <a:xfrm>
            <a:off x="603635" y="6327648"/>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Journal</a:t>
            </a:r>
          </a:p>
        </p:txBody>
      </p:sp>
      <p:sp>
        <p:nvSpPr>
          <p:cNvPr id="72" name="legend:role:author" descr="frame"/>
          <p:cNvSpPr/>
          <p:nvPr/>
        </p:nvSpPr>
        <p:spPr>
          <a:xfrm>
            <a:off x="1169649" y="6373368"/>
            <a:ext cx="146304" cy="146304"/>
          </a:xfrm>
          <a:prstGeom prst="rect">
            <a:avLst/>
          </a:prstGeom>
          <a:solidFill>
            <a:schemeClr val="accent2">
              <a:lumMod val="22000"/>
              <a:lumOff val="78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3" name="legend:role:author:t"/>
          <p:cNvSpPr txBox="1"/>
          <p:nvPr/>
        </p:nvSpPr>
        <p:spPr>
          <a:xfrm>
            <a:off x="1361673" y="6327648"/>
            <a:ext cx="664769"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Author + AI</a:t>
            </a:r>
          </a:p>
        </p:txBody>
      </p:sp>
      <p:sp>
        <p:nvSpPr>
          <p:cNvPr id="74" name="legend:role:machine" descr="frame"/>
          <p:cNvSpPr/>
          <p:nvPr/>
        </p:nvSpPr>
        <p:spPr>
          <a:xfrm>
            <a:off x="2136169" y="6373368"/>
            <a:ext cx="146304" cy="146304"/>
          </a:xfrm>
          <a:prstGeom prst="rect">
            <a:avLst/>
          </a:prstGeom>
          <a:solidFill>
            <a:schemeClr val="accent3">
              <a:lumMod val="22000"/>
              <a:lumOff val="78000"/>
            </a:schemeClr>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5" name="legend:role:machine:t"/>
          <p:cNvSpPr txBox="1"/>
          <p:nvPr/>
        </p:nvSpPr>
        <p:spPr>
          <a:xfrm>
            <a:off x="2328193" y="6327648"/>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Machine</a:t>
            </a:r>
          </a:p>
        </p:txBody>
      </p:sp>
      <p:sp>
        <p:nvSpPr>
          <p:cNvPr id="76" name="legend:role:human" descr="frame"/>
          <p:cNvSpPr/>
          <p:nvPr/>
        </p:nvSpPr>
        <p:spPr>
          <a:xfrm>
            <a:off x="2894207" y="6373368"/>
            <a:ext cx="146304" cy="146304"/>
          </a:xfrm>
          <a:prstGeom prst="rect">
            <a:avLst/>
          </a:prstGeom>
          <a:solidFill>
            <a:schemeClr val="accent4">
              <a:lumMod val="22000"/>
              <a:lumOff val="78000"/>
            </a:schemeClr>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7" name="legend:role:human:t"/>
          <p:cNvSpPr txBox="1"/>
          <p:nvPr/>
        </p:nvSpPr>
        <p:spPr>
          <a:xfrm>
            <a:off x="3086231" y="6327648"/>
            <a:ext cx="716890"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Named people</a:t>
            </a:r>
          </a:p>
        </p:txBody>
      </p:sp>
      <p:sp>
        <p:nvSpPr>
          <p:cNvPr id="78" name="legend:state:built" descr="artifact"/>
          <p:cNvSpPr/>
          <p:nvPr/>
        </p:nvSpPr>
        <p:spPr>
          <a:xfrm>
            <a:off x="4022577" y="6368796"/>
            <a:ext cx="310896" cy="155448"/>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79" name="legend:state:built:t"/>
          <p:cNvSpPr txBox="1"/>
          <p:nvPr/>
        </p:nvSpPr>
        <p:spPr>
          <a:xfrm>
            <a:off x="4388337" y="6327648"/>
            <a:ext cx="873252" cy="237744"/>
          </a:xfrm>
          <a:prstGeom prst="rect">
            <a:avLst/>
          </a:prstGeom>
          <a:noFill/>
        </p:spPr>
        <p:txBody>
          <a:bodyPr wrap="square" lIns="0" tIns="0" rIns="0" bIns="0" anchor="ctr">
            <a:noAutofit/>
          </a:bodyPr>
          <a:lstStyle/>
          <a:p>
            <a:pPr algn="l">
              <a:spcAft>
                <a:spcPts val="0"/>
              </a:spcAft>
            </a:pPr>
            <a:r>
              <a:rPr sz="850" b="0" i="0">
                <a:solidFill>
                  <a:srgbClr val="1E1E24"/>
                </a:solidFill>
                <a:latin typeface="Times New Roman"/>
              </a:rPr>
              <a:t>runs in Mark 1</a:t>
            </a:r>
          </a:p>
        </p:txBody>
      </p:sp>
      <p:sp>
        <p:nvSpPr>
          <p:cNvPr id="80" name="legend:state:specified" descr="artifact"/>
          <p:cNvSpPr/>
          <p:nvPr/>
        </p:nvSpPr>
        <p:spPr>
          <a:xfrm>
            <a:off x="5371317" y="6368796"/>
            <a:ext cx="310896" cy="155448"/>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81" name="legend:state:specified:t"/>
          <p:cNvSpPr txBox="1"/>
          <p:nvPr/>
        </p:nvSpPr>
        <p:spPr>
          <a:xfrm>
            <a:off x="5737077" y="6327648"/>
            <a:ext cx="821131"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specified only</a:t>
            </a:r>
          </a:p>
        </p:txBody>
      </p:sp>
      <p:sp>
        <p:nvSpPr>
          <p:cNvPr id="82" name="legend:state:stretch" descr="artifact"/>
          <p:cNvSpPr/>
          <p:nvPr/>
        </p:nvSpPr>
        <p:spPr>
          <a:xfrm>
            <a:off x="6667936" y="6368796"/>
            <a:ext cx="310896" cy="155448"/>
          </a:xfrm>
          <a:prstGeom prst="rect">
            <a:avLst/>
          </a:prstGeom>
          <a:solidFill>
            <a:schemeClr val="bg1"/>
          </a:solidFill>
          <a:ln w="12700">
            <a:solidFill>
              <a:schemeClr val="accent3"/>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83" name="legend:state:stretch:t"/>
          <p:cNvSpPr txBox="1"/>
          <p:nvPr/>
        </p:nvSpPr>
        <p:spPr>
          <a:xfrm>
            <a:off x="7033696" y="6327648"/>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stretch</a:t>
            </a:r>
          </a:p>
        </p:txBody>
      </p:sp>
      <p:sp>
        <p:nvSpPr>
          <p:cNvPr id="89" name="legend:decision"/>
          <p:cNvSpPr/>
          <p:nvPr/>
        </p:nvSpPr>
        <p:spPr>
          <a:xfrm>
            <a:off x="8792087" y="6345936"/>
            <a:ext cx="237744" cy="201168"/>
          </a:xfrm>
          <a:prstGeom prst="diamond">
            <a:avLst/>
          </a:prstGeom>
          <a:solidFill>
            <a:schemeClr val="bg1"/>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0" name="legend:decision:t"/>
          <p:cNvSpPr txBox="1"/>
          <p:nvPr/>
        </p:nvSpPr>
        <p:spPr>
          <a:xfrm>
            <a:off x="9084695" y="6327648"/>
            <a:ext cx="1290218"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decision: a person only</a:t>
            </a:r>
          </a:p>
        </p:txBody>
      </p:sp>
      <p:sp>
        <p:nvSpPr>
          <p:cNvPr id="91" name="Rounded Rectangle 90"/>
          <p:cNvSpPr/>
          <p:nvPr/>
        </p:nvSpPr>
        <p:spPr>
          <a:xfrm>
            <a:off x="4361688" y="3639312"/>
            <a:ext cx="1371600" cy="896112"/>
          </a:xfrm>
          <a:prstGeom prst="roundRect">
            <a:avLst/>
          </a:prstGeom>
          <a:solidFill>
            <a:schemeClr val="accent3">
              <a:lumMod val="22000"/>
              <a:lumOff val="78000"/>
            </a:schemeClr>
          </a:solidFill>
          <a:ln w="12700">
            <a:solidFill>
              <a:schemeClr val="accent3"/>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lIns="64008" rIns="64008" tIns="155448" bIns="36576" wrap="square"/>
          <a:lstStyle/>
          <a:p>
            <a:pPr algn="ctr"/>
            <a:r>
              <a:rPr sz="750" b="1" i="0">
                <a:solidFill>
                  <a:srgbClr val="1E1E24"/>
                </a:solidFill>
                <a:latin typeface="Times New Roman"/>
              </a:rPr>
              <a:t>Fallback: </a:t>
            </a:r>
            <a:r>
              <a:rPr sz="750" b="0" i="0">
                <a:solidFill>
                  <a:srgbClr val="1E1E24"/>
                </a:solidFill>
                <a:latin typeface="Times New Roman"/>
              </a:rPr>
              <a:t>no AI appendix arrived, so the journal's reference generator produces one from the record; its version is reported.</a:t>
            </a:r>
          </a:p>
        </p:txBody>
      </p:sp>
      <p:sp>
        <p:nvSpPr>
          <p:cNvPr id="92" name="TextBox 91"/>
          <p:cNvSpPr txBox="1"/>
          <p:nvPr/>
        </p:nvSpPr>
        <p:spPr>
          <a:xfrm>
            <a:off x="4453128" y="3685032"/>
            <a:ext cx="457200" cy="137160"/>
          </a:xfrm>
          <a:prstGeom prst="rect">
            <a:avLst/>
          </a:prstGeom>
          <a:noFill/>
        </p:spPr>
        <p:txBody>
          <a:bodyPr wrap="square" lIns="27432" rIns="27432" tIns="18288" bIns="18288" anchor="t">
            <a:spAutoFit/>
          </a:bodyPr>
          <a:lstStyle/>
          <a:p>
            <a:pPr algn="l"/>
            <a:r>
              <a:rPr sz="700" b="0" i="0">
                <a:solidFill>
                  <a:srgbClr val="5C6068"/>
                </a:solidFill>
                <a:latin typeface="Times New Roman"/>
              </a:rPr>
              <a:t>M0</a:t>
            </a:r>
          </a:p>
        </p:txBody>
      </p:sp>
      <p:cxnSp>
        <p:nvCxnSpPr>
          <p:cNvPr id="93" name="Connector 92"/>
          <p:cNvCxnSpPr/>
          <p:nvPr/>
        </p:nvCxnSpPr>
        <p:spPr>
          <a:xfrm>
            <a:off x="5733288" y="4087368"/>
            <a:ext cx="91440" cy="0"/>
          </a:xfrm>
          <a:prstGeom prst="line">
            <a:avLst/>
          </a:prstGeom>
          <a:ln w="15875">
            <a:solidFill>
              <a:srgbClr val="1E1E24"/>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S2b:lane:L4"/>
          <p:cNvGrpSpPr/>
          <p:nvPr/>
        </p:nvGrpSpPr>
        <p:grpSpPr>
          <a:xfrm>
            <a:off x="365760" y="4471416"/>
            <a:ext cx="11460175" cy="1600200"/>
            <a:chOff x="365760" y="4471416"/>
            <a:chExt cx="11460175" cy="1600200"/>
          </a:xfrm>
        </p:grpSpPr>
        <p:sp>
          <p:nvSpPr>
            <p:cNvPr id="13" name="S2b:lane:L4:bg" descr="frame"/>
            <p:cNvSpPr/>
            <p:nvPr/>
          </p:nvSpPr>
          <p:spPr>
            <a:xfrm>
              <a:off x="365760" y="4471416"/>
              <a:ext cx="11460175" cy="1600200"/>
            </a:xfrm>
            <a:prstGeom prst="rect">
              <a:avLst/>
            </a:prstGeom>
            <a:solidFill>
              <a:schemeClr val="accent4">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 name="S2b:lane:L4:label"/>
            <p:cNvSpPr/>
            <p:nvPr/>
          </p:nvSpPr>
          <p:spPr>
            <a:xfrm>
              <a:off x="420624" y="4526280"/>
              <a:ext cx="667512" cy="1490472"/>
            </a:xfrm>
            <a:prstGeom prst="round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spcAft>
                  <a:spcPts val="0"/>
                </a:spcAft>
              </a:pPr>
              <a:r>
                <a:rPr sz="1000" b="1" i="0">
                  <a:solidFill>
                    <a:schemeClr val="bg1"/>
                  </a:solidFill>
                  <a:latin typeface="Times New Roman" panose="02020603050405020304" pitchFamily="18" charset="0"/>
                  <a:cs typeface="Times New Roman" panose="02020603050405020304" pitchFamily="18" charset="0"/>
                </a:rPr>
                <a:t>Named people</a:t>
              </a:r>
            </a:p>
          </p:txBody>
        </p:sp>
      </p:grpSp>
      <p:grpSp>
        <p:nvGrpSpPr>
          <p:cNvPr id="9" name="S2b:lane:L3"/>
          <p:cNvGrpSpPr/>
          <p:nvPr/>
        </p:nvGrpSpPr>
        <p:grpSpPr>
          <a:xfrm>
            <a:off x="365760" y="3493008"/>
            <a:ext cx="11460175" cy="914400"/>
            <a:chOff x="365760" y="3493008"/>
            <a:chExt cx="11460175" cy="914400"/>
          </a:xfrm>
        </p:grpSpPr>
        <p:sp>
          <p:nvSpPr>
            <p:cNvPr id="10" name="S2b:lane:L3:bg" descr="frame"/>
            <p:cNvSpPr/>
            <p:nvPr/>
          </p:nvSpPr>
          <p:spPr>
            <a:xfrm>
              <a:off x="365760" y="3493008"/>
              <a:ext cx="11460175" cy="914400"/>
            </a:xfrm>
            <a:prstGeom prst="rect">
              <a:avLst/>
            </a:prstGeom>
            <a:solidFill>
              <a:schemeClr val="accent3">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1" name="S2b:lane:L3:label"/>
            <p:cNvSpPr/>
            <p:nvPr/>
          </p:nvSpPr>
          <p:spPr>
            <a:xfrm>
              <a:off x="420624" y="3547872"/>
              <a:ext cx="667512" cy="804672"/>
            </a:xfrm>
            <a:prstGeom prst="round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spcAft>
                  <a:spcPts val="0"/>
                </a:spcAft>
              </a:pPr>
              <a:r>
                <a:rPr sz="1000" b="1" i="0">
                  <a:solidFill>
                    <a:schemeClr val="bg1"/>
                  </a:solidFill>
                  <a:latin typeface="Times New Roman" panose="02020603050405020304" pitchFamily="18" charset="0"/>
                  <a:cs typeface="Times New Roman" panose="02020603050405020304" pitchFamily="18" charset="0"/>
                </a:rPr>
                <a:t>Machine checks</a:t>
              </a:r>
            </a:p>
          </p:txBody>
        </p:sp>
      </p:grpSp>
      <p:grpSp>
        <p:nvGrpSpPr>
          <p:cNvPr id="6" name="S2b:lane:L2"/>
          <p:cNvGrpSpPr/>
          <p:nvPr/>
        </p:nvGrpSpPr>
        <p:grpSpPr>
          <a:xfrm>
            <a:off x="365760" y="2240280"/>
            <a:ext cx="11460175" cy="1188720"/>
            <a:chOff x="365760" y="2240280"/>
            <a:chExt cx="11460175" cy="1188720"/>
          </a:xfrm>
        </p:grpSpPr>
        <p:sp>
          <p:nvSpPr>
            <p:cNvPr id="7" name="S2b:lane:L2:bg" descr="frame"/>
            <p:cNvSpPr/>
            <p:nvPr/>
          </p:nvSpPr>
          <p:spPr>
            <a:xfrm>
              <a:off x="365760" y="2240280"/>
              <a:ext cx="11460175" cy="1188720"/>
            </a:xfrm>
            <a:prstGeom prst="rect">
              <a:avLst/>
            </a:prstGeom>
            <a:solidFill>
              <a:schemeClr val="accent2">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 name="S2b:lane:L2:label"/>
            <p:cNvSpPr/>
            <p:nvPr/>
          </p:nvSpPr>
          <p:spPr>
            <a:xfrm>
              <a:off x="420624" y="2295144"/>
              <a:ext cx="667512" cy="1078992"/>
            </a:xfrm>
            <a:prstGeom prst="round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spcAft>
                  <a:spcPts val="0"/>
                </a:spcAft>
              </a:pPr>
              <a:r>
                <a:rPr sz="1000" b="1" i="0">
                  <a:solidFill>
                    <a:schemeClr val="bg1"/>
                  </a:solidFill>
                  <a:latin typeface="Times New Roman" panose="02020603050405020304" pitchFamily="18" charset="0"/>
                  <a:cs typeface="Times New Roman" panose="02020603050405020304" pitchFamily="18" charset="0"/>
                </a:rPr>
                <a:t>Author + AI</a:t>
              </a:r>
            </a:p>
          </p:txBody>
        </p:sp>
      </p:grpSp>
      <p:grpSp>
        <p:nvGrpSpPr>
          <p:cNvPr id="3" name="S2b:lane:L1"/>
          <p:cNvGrpSpPr/>
          <p:nvPr/>
        </p:nvGrpSpPr>
        <p:grpSpPr>
          <a:xfrm>
            <a:off x="365760" y="1078992"/>
            <a:ext cx="11460175" cy="1097280"/>
            <a:chOff x="365760" y="1078992"/>
            <a:chExt cx="11460175" cy="1097280"/>
          </a:xfrm>
        </p:grpSpPr>
        <p:sp>
          <p:nvSpPr>
            <p:cNvPr id="4" name="S2b:lane:L1:bg" descr="frame"/>
            <p:cNvSpPr/>
            <p:nvPr/>
          </p:nvSpPr>
          <p:spPr>
            <a:xfrm>
              <a:off x="365760" y="1078992"/>
              <a:ext cx="11460175" cy="1097280"/>
            </a:xfrm>
            <a:prstGeom prst="rect">
              <a:avLst/>
            </a:prstGeom>
            <a:solidFill>
              <a:schemeClr val="accent1">
                <a:lumMod val="7000"/>
                <a:lumOff val="9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S2b:lane:L1:label"/>
            <p:cNvSpPr/>
            <p:nvPr/>
          </p:nvSpPr>
          <p:spPr>
            <a:xfrm>
              <a:off x="420624" y="1133856"/>
              <a:ext cx="667512" cy="98755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noAutofit/>
            </a:bodyPr>
            <a:lstStyle/>
            <a:p>
              <a:pPr algn="ctr">
                <a:spcAft>
                  <a:spcPts val="0"/>
                </a:spcAft>
              </a:pPr>
              <a:r>
                <a:rPr sz="1000" b="1" i="0">
                  <a:solidFill>
                    <a:schemeClr val="bg1"/>
                  </a:solidFill>
                  <a:latin typeface="Times New Roman" panose="02020603050405020304" pitchFamily="18" charset="0"/>
                  <a:cs typeface="Times New Roman" panose="02020603050405020304" pitchFamily="18" charset="0"/>
                </a:rPr>
                <a:t>Journal</a:t>
              </a:r>
            </a:p>
          </p:txBody>
        </p:sp>
      </p:grpSp>
      <p:sp>
        <p:nvSpPr>
          <p:cNvPr id="2" name="title"/>
          <p:cNvSpPr txBox="1"/>
          <p:nvPr/>
        </p:nvSpPr>
        <p:spPr>
          <a:xfrm>
            <a:off x="365760" y="292608"/>
            <a:ext cx="11460175" cy="457200"/>
          </a:xfrm>
          <a:prstGeom prst="rect">
            <a:avLst/>
          </a:prstGeom>
          <a:noFill/>
        </p:spPr>
        <p:txBody>
          <a:bodyPr wrap="square" lIns="0" tIns="0" rIns="0" bIns="0" anchor="ctr">
            <a:noAutofit/>
          </a:bodyPr>
          <a:lstStyle/>
          <a:p>
            <a:pPr algn="l">
              <a:spcAft>
                <a:spcPts val="0"/>
              </a:spcAft>
            </a:pPr>
            <a:r>
              <a:rPr sz="2400" b="1" i="0">
                <a:solidFill>
                  <a:srgbClr val="1E1E24"/>
                </a:solidFill>
                <a:latin typeface="Times New Roman"/>
              </a:rPr>
              <a:t>Fig. 4b - Algorithmic map: from the findings report to publication</a:t>
            </a:r>
            <a:endParaRPr sz="2400" b="1" i="0" dirty="0">
              <a:solidFill>
                <a:schemeClr val="tx1"/>
              </a:solidFill>
              <a:latin typeface="Times New Roman" panose="02020603050405020304" pitchFamily="18" charset="0"/>
              <a:cs typeface="Times New Roman" panose="02020603050405020304" pitchFamily="18" charset="0"/>
            </a:endParaRPr>
          </a:p>
        </p:txBody>
      </p:sp>
      <p:sp>
        <p:nvSpPr>
          <p:cNvPr id="15" name="colhdr:0"/>
          <p:cNvSpPr txBox="1"/>
          <p:nvPr/>
        </p:nvSpPr>
        <p:spPr>
          <a:xfrm>
            <a:off x="1261872" y="841248"/>
            <a:ext cx="1373298" cy="237744"/>
          </a:xfrm>
          <a:prstGeom prst="rect">
            <a:avLst/>
          </a:prstGeom>
          <a:noFill/>
        </p:spPr>
        <p:txBody>
          <a:bodyPr wrap="square" lIns="0" tIns="0" rIns="0" bIns="0" anchor="b">
            <a:noAutofit/>
          </a:bodyPr>
          <a:lstStyle/>
          <a:p>
            <a:pPr algn="ctr">
              <a:spcAft>
                <a:spcPts val="0"/>
              </a:spcAft>
            </a:pPr>
            <a:r>
              <a:rPr sz="900" b="0" i="1">
                <a:solidFill>
                  <a:srgbClr val="5C6068"/>
                </a:solidFill>
                <a:latin typeface="Times New Roman"/>
              </a:rPr>
              <a:t>From Fig. 4a: the findings</a:t>
            </a:r>
          </a:p>
        </p:txBody>
      </p:sp>
      <p:sp>
        <p:nvSpPr>
          <p:cNvPr id="16" name="colhdr:1"/>
          <p:cNvSpPr txBox="1"/>
          <p:nvPr/>
        </p:nvSpPr>
        <p:spPr>
          <a:xfrm>
            <a:off x="2781474" y="841248"/>
            <a:ext cx="1373298" cy="237744"/>
          </a:xfrm>
          <a:prstGeom prst="rect">
            <a:avLst/>
          </a:prstGeom>
          <a:noFill/>
        </p:spPr>
        <p:txBody>
          <a:bodyPr wrap="square" lIns="0" tIns="0" rIns="0" bIns="0" anchor="b">
            <a:noAutofit/>
          </a:bodyPr>
          <a:lstStyle/>
          <a:p>
            <a:pPr algn="ctr">
              <a:spcAft>
                <a:spcPts val="0"/>
              </a:spcAft>
            </a:pPr>
            <a:r>
              <a:rPr sz="900" b="0" i="1">
                <a:solidFill>
                  <a:srgbClr val="5C6068"/>
                </a:solidFill>
                <a:latin typeface="Times New Roman"/>
              </a:rPr>
              <a:t>Depart from the mapping?</a:t>
            </a:r>
          </a:p>
        </p:txBody>
      </p:sp>
      <p:sp>
        <p:nvSpPr>
          <p:cNvPr id="17" name="colhdr:2"/>
          <p:cNvSpPr txBox="1"/>
          <p:nvPr/>
        </p:nvSpPr>
        <p:spPr>
          <a:xfrm>
            <a:off x="4295926" y="835992"/>
            <a:ext cx="1373298" cy="237744"/>
          </a:xfrm>
          <a:prstGeom prst="rect">
            <a:avLst/>
          </a:prstGeom>
          <a:noFill/>
        </p:spPr>
        <p:txBody>
          <a:bodyPr wrap="square" lIns="0" tIns="0" rIns="0" bIns="0" anchor="b">
            <a:noAutofit/>
          </a:bodyPr>
          <a:lstStyle/>
          <a:p>
            <a:pPr algn="ctr">
              <a:spcAft>
                <a:spcPts val="0"/>
              </a:spcAft>
            </a:pPr>
            <a:r>
              <a:rPr sz="900" b="0" i="1">
                <a:solidFill>
                  <a:srgbClr val="5C6068"/>
                </a:solidFill>
                <a:latin typeface="Times New Roman"/>
              </a:rPr>
              <a:t>Standard action, signed</a:t>
            </a:r>
          </a:p>
        </p:txBody>
      </p:sp>
      <p:sp>
        <p:nvSpPr>
          <p:cNvPr id="18" name="colhdr:3"/>
          <p:cNvSpPr txBox="1"/>
          <p:nvPr/>
        </p:nvSpPr>
        <p:spPr>
          <a:xfrm>
            <a:off x="5830979" y="854788"/>
            <a:ext cx="1373298" cy="237744"/>
          </a:xfrm>
          <a:prstGeom prst="rect">
            <a:avLst/>
          </a:prstGeom>
          <a:noFill/>
        </p:spPr>
        <p:txBody>
          <a:bodyPr wrap="square" lIns="0" tIns="0" rIns="0" bIns="0" anchor="b">
            <a:noAutofit/>
          </a:bodyPr>
          <a:lstStyle/>
          <a:p>
            <a:pPr algn="ctr">
              <a:spcAft>
                <a:spcPts val="0"/>
              </a:spcAft>
            </a:pPr>
            <a:r>
              <a:rPr sz="900" b="0" i="1">
                <a:solidFill>
                  <a:srgbClr val="5C6068"/>
                </a:solidFill>
                <a:latin typeface="Times New Roman"/>
              </a:rPr>
              <a:t>New, then review</a:t>
            </a:r>
          </a:p>
        </p:txBody>
      </p:sp>
      <p:sp>
        <p:nvSpPr>
          <p:cNvPr id="19" name="colhdr:4"/>
          <p:cNvSpPr txBox="1"/>
          <p:nvPr/>
        </p:nvSpPr>
        <p:spPr>
          <a:xfrm>
            <a:off x="7340281" y="841248"/>
            <a:ext cx="1373298" cy="237744"/>
          </a:xfrm>
          <a:prstGeom prst="rect">
            <a:avLst/>
          </a:prstGeom>
          <a:noFill/>
        </p:spPr>
        <p:txBody>
          <a:bodyPr wrap="square" lIns="0" tIns="0" rIns="0" bIns="0" anchor="b">
            <a:noAutofit/>
          </a:bodyPr>
          <a:lstStyle/>
          <a:p>
            <a:pPr algn="ctr">
              <a:spcAft>
                <a:spcPts val="0"/>
              </a:spcAft>
            </a:pPr>
            <a:r>
              <a:rPr sz="900" b="0" i="1">
                <a:solidFill>
                  <a:srgbClr val="5C6068"/>
                </a:solidFill>
                <a:latin typeface="Times New Roman"/>
              </a:rPr>
              <a:t>Interest</a:t>
            </a:r>
          </a:p>
        </p:txBody>
      </p:sp>
      <p:sp>
        <p:nvSpPr>
          <p:cNvPr id="20" name="colhdr:5"/>
          <p:cNvSpPr txBox="1"/>
          <p:nvPr/>
        </p:nvSpPr>
        <p:spPr>
          <a:xfrm>
            <a:off x="8859883" y="841248"/>
            <a:ext cx="1373298" cy="237744"/>
          </a:xfrm>
          <a:prstGeom prst="rect">
            <a:avLst/>
          </a:prstGeom>
          <a:noFill/>
        </p:spPr>
        <p:txBody>
          <a:bodyPr wrap="square" lIns="0" tIns="0" rIns="0" bIns="0" anchor="b">
            <a:noAutofit/>
          </a:bodyPr>
          <a:lstStyle/>
          <a:p>
            <a:pPr algn="ctr">
              <a:spcAft>
                <a:spcPts val="0"/>
              </a:spcAft>
            </a:pPr>
            <a:r>
              <a:rPr sz="900" b="0" i="1">
                <a:solidFill>
                  <a:srgbClr val="5C6068"/>
                </a:solidFill>
                <a:latin typeface="Times New Roman"/>
              </a:rPr>
              <a:t>Publish and certify</a:t>
            </a:r>
          </a:p>
        </p:txBody>
      </p:sp>
      <p:sp>
        <p:nvSpPr>
          <p:cNvPr id="21" name="colhdr:6"/>
          <p:cNvSpPr txBox="1"/>
          <p:nvPr/>
        </p:nvSpPr>
        <p:spPr>
          <a:xfrm>
            <a:off x="10379485" y="841248"/>
            <a:ext cx="1373298" cy="237744"/>
          </a:xfrm>
          <a:prstGeom prst="rect">
            <a:avLst/>
          </a:prstGeom>
          <a:noFill/>
        </p:spPr>
        <p:txBody>
          <a:bodyPr wrap="square" lIns="0" tIns="0" rIns="0" bIns="0" anchor="b">
            <a:noAutofit/>
          </a:bodyPr>
          <a:lstStyle/>
          <a:p>
            <a:pPr algn="ctr">
              <a:spcAft>
                <a:spcPts val="0"/>
              </a:spcAft>
            </a:pPr>
            <a:r>
              <a:rPr sz="900" b="0" i="1">
                <a:solidFill>
                  <a:srgbClr val="5C6068"/>
                </a:solidFill>
                <a:latin typeface="Times New Roman"/>
              </a:rPr>
              <a:t>Outcomes</a:t>
            </a:r>
          </a:p>
        </p:txBody>
      </p:sp>
      <p:sp>
        <p:nvSpPr>
          <p:cNvPr id="22" name="S2b:J2" descr="artifact"/>
          <p:cNvSpPr/>
          <p:nvPr/>
        </p:nvSpPr>
        <p:spPr>
          <a:xfrm>
            <a:off x="1261872" y="1344168"/>
            <a:ext cx="7726679" cy="512064"/>
          </a:xfrm>
          <a:prstGeom prst="rect">
            <a:avLst/>
          </a:prstGeom>
          <a:solidFill>
            <a:schemeClr val="accent1">
              <a:lumMod val="22000"/>
              <a:lumOff val="78000"/>
            </a:schemeClr>
          </a:solidFill>
          <a:ln w="12700">
            <a:solidFill>
              <a:schemeClr val="accent1"/>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1000" b="1" i="0">
                <a:solidFill>
                  <a:srgbClr val="1E1E24"/>
                </a:solidFill>
                <a:latin typeface="Times New Roman"/>
              </a:rPr>
              <a:t>Review history: </a:t>
            </a:r>
            <a:r>
              <a:rPr sz="1000" b="0" i="0">
                <a:solidFill>
                  <a:srgbClr val="1E1E24"/>
                </a:solidFill>
                <a:latin typeface="Times New Roman"/>
              </a:rPr>
              <a:t>the journal witnesses the record from first submission through every review round, so nothing can be backdated; it records what changed and who changed it, author or AI. It stays with the journal.</a:t>
            </a:r>
          </a:p>
        </p:txBody>
      </p:sp>
      <p:sp>
        <p:nvSpPr>
          <p:cNvPr id="24" name="S2b:J2:id"/>
          <p:cNvSpPr txBox="1"/>
          <p:nvPr/>
        </p:nvSpPr>
        <p:spPr>
          <a:xfrm>
            <a:off x="1307592" y="1371600"/>
            <a:ext cx="457200" cy="137160"/>
          </a:xfrm>
          <a:prstGeom prst="rect">
            <a:avLst/>
          </a:prstGeom>
          <a:noFill/>
        </p:spPr>
        <p:txBody>
          <a:bodyPr wrap="square" lIns="0" tIns="0" rIns="0" bIns="0" anchor="t">
            <a:noAutofit/>
          </a:bodyPr>
          <a:lstStyle/>
          <a:p>
            <a:pPr algn="l">
              <a:spcAft>
                <a:spcPts val="0"/>
              </a:spcAft>
            </a:pPr>
            <a:r>
              <a:rPr sz="700" b="0" i="0">
                <a:solidFill>
                  <a:schemeClr val="accent6"/>
                </a:solidFill>
                <a:latin typeface="Times New Roman" panose="02020603050405020304" pitchFamily="18" charset="0"/>
                <a:cs typeface="Times New Roman" panose="02020603050405020304" pitchFamily="18" charset="0"/>
              </a:rPr>
              <a:t>J2</a:t>
            </a:r>
          </a:p>
        </p:txBody>
      </p:sp>
      <p:sp>
        <p:nvSpPr>
          <p:cNvPr id="25" name="S2b:J3" descr="document"/>
          <p:cNvSpPr/>
          <p:nvPr/>
        </p:nvSpPr>
        <p:spPr>
          <a:xfrm>
            <a:off x="10469880" y="1097280"/>
            <a:ext cx="1353312" cy="1060704"/>
          </a:xfrm>
          <a:prstGeom prst="flowChartDocument">
            <a:avLst/>
          </a:prstGeom>
          <a:solidFill>
            <a:schemeClr val="accent1">
              <a:lumMod val="22000"/>
              <a:lumOff val="78000"/>
            </a:schemeClr>
          </a:solidFill>
          <a:ln w="12700">
            <a:solidFill>
              <a:schemeClr val="accent1"/>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700" b="1" i="0">
                <a:solidFill>
                  <a:srgbClr val="1E1E24"/>
                </a:solidFill>
                <a:latin typeface="Times New Roman"/>
              </a:rPr>
              <a:t>Certificate: </a:t>
            </a:r>
            <a:r>
              <a:rPr sz="700" b="0" i="0">
                <a:solidFill>
                  <a:srgbClr val="1E1E24"/>
                </a:solidFill>
                <a:latin typeface="Times New Roman"/>
              </a:rPr>
              <a:t>standard, check, model, and generator versions; data tier; new, in this kind, with the map; of interest to this community; signed by three named people.</a:t>
            </a:r>
            <a:endParaRPr sz="800" i="0" dirty="0">
              <a:solidFill>
                <a:schemeClr val="tx1"/>
              </a:solidFill>
              <a:latin typeface="Times New Roman" panose="02020603050405020304" pitchFamily="18" charset="0"/>
              <a:cs typeface="Times New Roman" panose="02020603050405020304" pitchFamily="18" charset="0"/>
            </a:endParaRPr>
          </a:p>
        </p:txBody>
      </p:sp>
      <p:sp>
        <p:nvSpPr>
          <p:cNvPr id="26" name="S2b:J3:id"/>
          <p:cNvSpPr txBox="1"/>
          <p:nvPr/>
        </p:nvSpPr>
        <p:spPr>
          <a:xfrm>
            <a:off x="10515600" y="1124712"/>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J3</a:t>
            </a:r>
          </a:p>
        </p:txBody>
      </p:sp>
      <p:sp>
        <p:nvSpPr>
          <p:cNvPr id="27" name="S2b:A5" descr="process"/>
          <p:cNvSpPr/>
          <p:nvPr/>
        </p:nvSpPr>
        <p:spPr>
          <a:xfrm>
            <a:off x="8859883" y="2267712"/>
            <a:ext cx="1373298" cy="1133856"/>
          </a:xfrm>
          <a:prstGeom prst="roundRect">
            <a:avLst/>
          </a:prstGeom>
          <a:solidFill>
            <a:schemeClr val="accent2">
              <a:lumMod val="22000"/>
              <a:lumOff val="78000"/>
            </a:schemeClr>
          </a:solidFill>
          <a:ln w="12700">
            <a:solidFill>
              <a:schemeClr val="accent2"/>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Back to the author: </a:t>
            </a:r>
            <a:r>
              <a:rPr sz="800" b="0" i="0">
                <a:solidFill>
                  <a:srgbClr val="1E1E24"/>
                </a:solidFill>
                <a:latin typeface="Times New Roman"/>
              </a:rPr>
              <a:t>corrections (record fixed, no new work, checks re-run) or revise and resubmit (new work; each round a new submission against the same review history, Fig. 4a).</a:t>
            </a:r>
            <a:endParaRPr sz="900" i="0" dirty="0">
              <a:solidFill>
                <a:schemeClr val="tx1"/>
              </a:solidFill>
              <a:latin typeface="Times New Roman" panose="02020603050405020304" pitchFamily="18" charset="0"/>
              <a:cs typeface="Times New Roman" panose="02020603050405020304" pitchFamily="18" charset="0"/>
            </a:endParaRPr>
          </a:p>
        </p:txBody>
      </p:sp>
      <p:sp>
        <p:nvSpPr>
          <p:cNvPr id="28" name="S2b:A5:id"/>
          <p:cNvSpPr txBox="1"/>
          <p:nvPr/>
        </p:nvSpPr>
        <p:spPr>
          <a:xfrm>
            <a:off x="8951323" y="2313432"/>
            <a:ext cx="457200" cy="137160"/>
          </a:xfrm>
          <a:prstGeom prst="rect">
            <a:avLst/>
          </a:prstGeom>
          <a:noFill/>
        </p:spPr>
        <p:txBody>
          <a:bodyPr wrap="square" lIns="0" tIns="0" rIns="0" bIns="0" anchor="t">
            <a:noAutofit/>
          </a:bodyPr>
          <a:lstStyle/>
          <a:p>
            <a:pPr algn="l">
              <a:spcAft>
                <a:spcPts val="0"/>
              </a:spcAft>
            </a:pPr>
            <a:r>
              <a:rPr sz="700" b="0" i="0">
                <a:solidFill>
                  <a:schemeClr val="accent6"/>
                </a:solidFill>
                <a:latin typeface="Times New Roman" panose="02020603050405020304" pitchFamily="18" charset="0"/>
                <a:cs typeface="Times New Roman" panose="02020603050405020304" pitchFamily="18" charset="0"/>
              </a:rPr>
              <a:t>A5</a:t>
            </a:r>
          </a:p>
        </p:txBody>
      </p:sp>
      <p:sp>
        <p:nvSpPr>
          <p:cNvPr id="29" name="S2b:M5" descr="document"/>
          <p:cNvSpPr/>
          <p:nvPr/>
        </p:nvSpPr>
        <p:spPr>
          <a:xfrm>
            <a:off x="1261872" y="3540328"/>
            <a:ext cx="1373298" cy="803072"/>
          </a:xfrm>
          <a:prstGeom prst="flowChartDocumen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Findings report (Fig. 4a): </a:t>
            </a:r>
            <a:r>
              <a:rPr sz="800" b="0" i="0">
                <a:solidFill>
                  <a:srgbClr val="1E1E24"/>
                </a:solidFill>
                <a:latin typeface="Times New Roman"/>
              </a:rPr>
              <a:t>findings with pointers, and the evidence map. No decision.</a:t>
            </a:r>
            <a:endParaRPr sz="800" i="0" dirty="0">
              <a:solidFill>
                <a:schemeClr val="tx1"/>
              </a:solidFill>
              <a:latin typeface="Times New Roman" panose="02020603050405020304" pitchFamily="18" charset="0"/>
              <a:cs typeface="Times New Roman" panose="02020603050405020304" pitchFamily="18" charset="0"/>
            </a:endParaRPr>
          </a:p>
        </p:txBody>
      </p:sp>
      <p:sp>
        <p:nvSpPr>
          <p:cNvPr id="30" name="S2b:M5:id"/>
          <p:cNvSpPr txBox="1"/>
          <p:nvPr/>
        </p:nvSpPr>
        <p:spPr>
          <a:xfrm>
            <a:off x="1307592" y="3567760"/>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M5</a:t>
            </a:r>
          </a:p>
        </p:txBody>
      </p:sp>
      <p:sp>
        <p:nvSpPr>
          <p:cNvPr id="31" name="S2b:E1" descr="process"/>
          <p:cNvSpPr/>
          <p:nvPr/>
        </p:nvSpPr>
        <p:spPr>
          <a:xfrm>
            <a:off x="5824728" y="3511296"/>
            <a:ext cx="1373298" cy="832104"/>
          </a:xfrm>
          <a:prstGeom prst="round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750" b="1" i="0">
                <a:solidFill>
                  <a:srgbClr val="1E1E24"/>
                </a:solidFill>
                <a:latin typeface="Times New Roman"/>
              </a:rPr>
              <a:t>Evidence map: </a:t>
            </a:r>
            <a:r>
              <a:rPr sz="750" b="0" i="0">
                <a:solidFill>
                  <a:srgbClr val="1E1E24"/>
                </a:solidFill>
                <a:latin typeface="Times New Roman"/>
              </a:rPr>
              <a:t>the contribution claim against the literature the corpus covers: nearest prior work, what the paper adds, of which kind.</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32" name="S2b:E1:id"/>
          <p:cNvSpPr txBox="1"/>
          <p:nvPr/>
        </p:nvSpPr>
        <p:spPr>
          <a:xfrm>
            <a:off x="5916168" y="3557016"/>
            <a:ext cx="457200" cy="137160"/>
          </a:xfrm>
          <a:prstGeom prst="rect">
            <a:avLst/>
          </a:prstGeom>
          <a:noFill/>
        </p:spPr>
        <p:txBody>
          <a:bodyPr wrap="square" lIns="0" tIns="0" rIns="0" bIns="0" anchor="t">
            <a:noAutofit/>
          </a:bodyPr>
          <a:lstStyle/>
          <a:p>
            <a:pPr algn="ctr">
              <a:spcAft>
                <a:spcPts val="0"/>
              </a:spcAft>
            </a:pPr>
            <a:r>
              <a:rPr sz="700" b="0" i="0">
                <a:solidFill>
                  <a:srgbClr val="1E1E24"/>
                </a:solidFill>
                <a:latin typeface="Times New Roman"/>
              </a:rPr>
              <a:t>M6</a:t>
            </a:r>
          </a:p>
        </p:txBody>
      </p:sp>
      <p:sp>
        <p:nvSpPr>
          <p:cNvPr id="33" name="S2b:H1" descr="judgment"/>
          <p:cNvSpPr/>
          <p:nvPr/>
        </p:nvSpPr>
        <p:spPr>
          <a:xfrm>
            <a:off x="1261872" y="4535424"/>
            <a:ext cx="1373298" cy="1239012"/>
          </a:xfrm>
          <a:prstGeom prst="snip2Same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900" b="1" i="0">
                <a:solidFill>
                  <a:srgbClr val="1E1E24"/>
                </a:solidFill>
                <a:latin typeface="Times New Roman"/>
              </a:rPr>
              <a:t>Editor reads the findings: </a:t>
            </a:r>
            <a:r>
              <a:rPr sz="900" b="0" i="0">
                <a:solidFill>
                  <a:srgbClr val="1E1E24"/>
                </a:solidFill>
                <a:latin typeface="Times New Roman"/>
              </a:rPr>
              <a:t>a named editor applies the published mapping to the findings report.</a:t>
            </a:r>
          </a:p>
        </p:txBody>
      </p:sp>
      <p:sp>
        <p:nvSpPr>
          <p:cNvPr id="34" name="S2b:H1:id"/>
          <p:cNvSpPr txBox="1"/>
          <p:nvPr/>
        </p:nvSpPr>
        <p:spPr>
          <a:xfrm>
            <a:off x="1436457" y="4567428"/>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H1</a:t>
            </a:r>
          </a:p>
        </p:txBody>
      </p:sp>
      <p:sp>
        <p:nvSpPr>
          <p:cNvPr id="35" name="S2b:D2" descr="decision"/>
          <p:cNvSpPr/>
          <p:nvPr/>
        </p:nvSpPr>
        <p:spPr>
          <a:xfrm>
            <a:off x="2798329" y="4726313"/>
            <a:ext cx="1373298" cy="914400"/>
          </a:xfrm>
          <a:prstGeom prst="diamond">
            <a:avLst/>
          </a:prstGeom>
          <a:solidFill>
            <a:schemeClr val="bg1"/>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850" b="0" i="0">
                <a:solidFill>
                  <a:srgbClr val="1E1E24"/>
                </a:solidFill>
                <a:latin typeface="Times New Roman"/>
              </a:rPr>
              <a:t>Does the editor depart from the standard action?</a:t>
            </a:r>
            <a:endParaRPr sz="900" b="0" i="0" dirty="0">
              <a:solidFill>
                <a:schemeClr val="tx1"/>
              </a:solidFill>
              <a:latin typeface="Times New Roman" panose="02020603050405020304" pitchFamily="18" charset="0"/>
              <a:cs typeface="Times New Roman" panose="02020603050405020304" pitchFamily="18" charset="0"/>
            </a:endParaRPr>
          </a:p>
        </p:txBody>
      </p:sp>
      <p:sp>
        <p:nvSpPr>
          <p:cNvPr id="36" name="S2b:D2:id"/>
          <p:cNvSpPr txBox="1"/>
          <p:nvPr/>
        </p:nvSpPr>
        <p:spPr>
          <a:xfrm>
            <a:off x="2908037" y="4821174"/>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D2</a:t>
            </a:r>
          </a:p>
        </p:txBody>
      </p:sp>
      <p:sp>
        <p:nvSpPr>
          <p:cNvPr id="37" name="S2b:H2" descr="process"/>
          <p:cNvSpPr/>
          <p:nvPr/>
        </p:nvSpPr>
        <p:spPr>
          <a:xfrm>
            <a:off x="4301076" y="4517136"/>
            <a:ext cx="1373298" cy="1325880"/>
          </a:xfrm>
          <a:prstGeom prst="roundRect">
            <a:avLst/>
          </a:prstGeom>
          <a:solidFill>
            <a:schemeClr val="accent4">
              <a:lumMod val="22000"/>
              <a:lumOff val="78000"/>
            </a:schemeClr>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Standard action, signed: </a:t>
            </a:r>
            <a:r>
              <a:rPr sz="800" b="0" i="0">
                <a:solidFill>
                  <a:srgbClr val="1E1E24"/>
                </a:solidFill>
                <a:latin typeface="Times New Roman"/>
              </a:rPr>
              <a:t>proceed to review; return for corrections; return without review (strengthen the evidence or weaken the claims); refer (a specialist applies the mapping, then back to this step).</a:t>
            </a:r>
            <a:endParaRPr sz="900" i="0" dirty="0">
              <a:solidFill>
                <a:schemeClr val="tx1"/>
              </a:solidFill>
              <a:latin typeface="Times New Roman" panose="02020603050405020304" pitchFamily="18" charset="0"/>
              <a:cs typeface="Times New Roman" panose="02020603050405020304" pitchFamily="18" charset="0"/>
            </a:endParaRPr>
          </a:p>
        </p:txBody>
      </p:sp>
      <p:sp>
        <p:nvSpPr>
          <p:cNvPr id="38" name="S2b:H2:id"/>
          <p:cNvSpPr txBox="1"/>
          <p:nvPr/>
        </p:nvSpPr>
        <p:spPr>
          <a:xfrm>
            <a:off x="4392516" y="4562856"/>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H2</a:t>
            </a:r>
          </a:p>
        </p:txBody>
      </p:sp>
      <p:sp>
        <p:nvSpPr>
          <p:cNvPr id="39" name="S2b:H5" descr="process"/>
          <p:cNvSpPr/>
          <p:nvPr/>
        </p:nvSpPr>
        <p:spPr>
          <a:xfrm>
            <a:off x="5820679" y="4517136"/>
            <a:ext cx="1373298" cy="1325880"/>
          </a:xfrm>
          <a:prstGeom prst="roundRect">
            <a:avLst/>
          </a:prstGeom>
          <a:solidFill>
            <a:schemeClr val="bg1"/>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45720" tIns="155448" rIns="45720" bIns="27432" rtlCol="0" anchor="ctr">
            <a:noAutofit/>
          </a:bodyPr>
          <a:lstStyle/>
          <a:p>
            <a:pPr algn="ctr">
              <a:spcAft>
                <a:spcPts val="0"/>
              </a:spcAft>
            </a:pPr>
            <a:r>
              <a:rPr sz="800" b="1" i="0">
                <a:solidFill>
                  <a:srgbClr val="1E1E24"/>
                </a:solidFill>
                <a:latin typeface="Times New Roman"/>
              </a:rPr>
              <a:t>New, signed: </a:t>
            </a:r>
            <a:r>
              <a:rPr sz="800" b="0" i="0">
                <a:solidFill>
                  <a:srgbClr val="1E1E24"/>
                </a:solidFill>
                <a:latin typeface="Times New Roman"/>
              </a:rPr>
              <a:t>one editor, on the evidence map, after the author answers it once; not new → returned with the map. Then review rounds: reviewers receive the paper and appendix, findings, and map; they judge, and do not verify.</a:t>
            </a:r>
            <a:endParaRPr sz="1000" i="0" dirty="0">
              <a:solidFill>
                <a:schemeClr val="tx1"/>
              </a:solidFill>
              <a:latin typeface="Times New Roman" panose="02020603050405020304" pitchFamily="18" charset="0"/>
              <a:cs typeface="Times New Roman" panose="02020603050405020304" pitchFamily="18" charset="0"/>
            </a:endParaRPr>
          </a:p>
        </p:txBody>
      </p:sp>
      <p:sp>
        <p:nvSpPr>
          <p:cNvPr id="40" name="S2b:H5:id"/>
          <p:cNvSpPr txBox="1"/>
          <p:nvPr/>
        </p:nvSpPr>
        <p:spPr>
          <a:xfrm>
            <a:off x="5912119" y="4562856"/>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H5</a:t>
            </a:r>
          </a:p>
        </p:txBody>
      </p:sp>
      <p:sp>
        <p:nvSpPr>
          <p:cNvPr id="41" name="S2b:W" descr="judgment"/>
          <p:cNvSpPr/>
          <p:nvPr/>
        </p:nvSpPr>
        <p:spPr>
          <a:xfrm>
            <a:off x="7367293" y="4535424"/>
            <a:ext cx="1373298" cy="1281490"/>
          </a:xfrm>
          <a:prstGeom prst="snip2SameRect">
            <a:avLst/>
          </a:prstGeom>
          <a:solidFill>
            <a:schemeClr val="accent4">
              <a:lumMod val="22000"/>
              <a:lumOff val="78000"/>
            </a:schemeClr>
          </a:solidFill>
          <a:ln w="12700">
            <a:solidFill>
              <a:schemeClr val="accent4"/>
            </a:solidFill>
            <a:prstDash val="solid"/>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r>
              <a:rPr sz="850" b="1" i="0">
                <a:solidFill>
                  <a:srgbClr val="1E1E24"/>
                </a:solidFill>
                <a:latin typeface="Times New Roman"/>
              </a:rPr>
              <a:t>Interest, signed: </a:t>
            </a:r>
            <a:r>
              <a:rPr sz="850" b="0" i="0">
                <a:solidFill>
                  <a:srgbClr val="1E1E24"/>
                </a:solidFill>
                <a:latin typeface="Times New Roman"/>
              </a:rPr>
              <a:t>the editor and two named reviewers judge whether what is new is of interest to this community, under the published criteria.</a:t>
            </a:r>
            <a:endParaRPr sz="1000" i="0" dirty="0">
              <a:solidFill>
                <a:schemeClr val="tx1"/>
              </a:solidFill>
              <a:latin typeface="Times New Roman" panose="02020603050405020304" pitchFamily="18" charset="0"/>
              <a:cs typeface="Times New Roman" panose="02020603050405020304" pitchFamily="18" charset="0"/>
            </a:endParaRPr>
          </a:p>
        </p:txBody>
      </p:sp>
      <p:sp>
        <p:nvSpPr>
          <p:cNvPr id="43" name="S2b:W:id"/>
          <p:cNvSpPr txBox="1"/>
          <p:nvPr/>
        </p:nvSpPr>
        <p:spPr>
          <a:xfrm>
            <a:off x="7518331" y="4622665"/>
            <a:ext cx="457200" cy="137160"/>
          </a:xfrm>
          <a:prstGeom prst="rect">
            <a:avLst/>
          </a:prstGeom>
          <a:noFill/>
        </p:spPr>
        <p:txBody>
          <a:bodyPr wrap="square" lIns="0" tIns="0" rIns="0" bIns="0" anchor="t">
            <a:noAutofit/>
          </a:bodyPr>
          <a:lstStyle/>
          <a:p>
            <a:pPr algn="ctr">
              <a:spcAft>
                <a:spcPts val="0"/>
              </a:spcAft>
            </a:pPr>
            <a:r>
              <a:rPr sz="700" b="0" i="0">
                <a:solidFill>
                  <a:srgbClr val="1E1E24"/>
                </a:solidFill>
                <a:latin typeface="Times New Roman"/>
              </a:rPr>
              <a:t>H3</a:t>
            </a:r>
          </a:p>
        </p:txBody>
      </p:sp>
      <p:sp>
        <p:nvSpPr>
          <p:cNvPr id="44" name="S2b:D3" descr="decision"/>
          <p:cNvSpPr/>
          <p:nvPr/>
        </p:nvSpPr>
        <p:spPr>
          <a:xfrm>
            <a:off x="8881501" y="4720372"/>
            <a:ext cx="1373298" cy="914400"/>
          </a:xfrm>
          <a:prstGeom prst="diamond">
            <a:avLst/>
          </a:prstGeom>
          <a:solidFill>
            <a:schemeClr val="bg1"/>
          </a:solidFill>
          <a:ln w="12700">
            <a:solidFill>
              <a:schemeClr val="accent4"/>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noAutofit/>
          </a:bodyPr>
          <a:lstStyle/>
          <a:p>
            <a:pPr algn="ctr">
              <a:spcAft>
                <a:spcPts val="0"/>
              </a:spcAft>
            </a:pPr>
            <a:r>
              <a:rPr sz="800" b="0" i="0">
                <a:solidFill>
                  <a:srgbClr val="1E1E24"/>
                </a:solidFill>
                <a:latin typeface="Times New Roman"/>
              </a:rPr>
              <a:t>Publish and certify, or nothing?</a:t>
            </a:r>
            <a:endParaRPr sz="800" b="0" i="0" dirty="0">
              <a:solidFill>
                <a:schemeClr val="tx1"/>
              </a:solidFill>
              <a:latin typeface="Times New Roman" panose="02020603050405020304" pitchFamily="18" charset="0"/>
              <a:cs typeface="Times New Roman" panose="02020603050405020304" pitchFamily="18" charset="0"/>
            </a:endParaRPr>
          </a:p>
        </p:txBody>
      </p:sp>
      <p:sp>
        <p:nvSpPr>
          <p:cNvPr id="45" name="S2b:D3:id"/>
          <p:cNvSpPr txBox="1"/>
          <p:nvPr/>
        </p:nvSpPr>
        <p:spPr>
          <a:xfrm>
            <a:off x="9019054" y="4814860"/>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D3</a:t>
            </a:r>
          </a:p>
        </p:txBody>
      </p:sp>
      <p:sp>
        <p:nvSpPr>
          <p:cNvPr id="46" name="S2b:T1" descr="terminal"/>
          <p:cNvSpPr/>
          <p:nvPr/>
        </p:nvSpPr>
        <p:spPr>
          <a:xfrm>
            <a:off x="10461781" y="4543725"/>
            <a:ext cx="1373298" cy="1264888"/>
          </a:xfrm>
          <a:prstGeom prst="flowChartTerminator">
            <a:avLst/>
          </a:prstGeom>
          <a:solidFill>
            <a:schemeClr val="accent2">
              <a:lumMod val="22000"/>
              <a:lumOff val="78000"/>
            </a:schemeClr>
          </a:solidFill>
          <a:ln w="12700">
            <a:solidFill>
              <a:schemeClr val="accent2"/>
            </a:solidFill>
            <a:prstDash val="solid"/>
          </a:ln>
          <a:effectLst/>
        </p:spPr>
        <p:style>
          <a:lnRef idx="1">
            <a:schemeClr val="accent1"/>
          </a:lnRef>
          <a:fillRef idx="3">
            <a:schemeClr val="accent1"/>
          </a:fillRef>
          <a:effectRef idx="2">
            <a:schemeClr val="accent1"/>
          </a:effectRef>
          <a:fontRef idx="minor">
            <a:schemeClr val="lt1"/>
          </a:fontRef>
        </p:style>
        <p:txBody>
          <a:bodyPr wrap="square" lIns="18288" tIns="27432" rIns="18288" bIns="27432" rtlCol="0" anchor="ctr">
            <a:noAutofit/>
          </a:bodyPr>
          <a:lstStyle/>
          <a:p>
            <a:pPr algn="ctr">
              <a:spcAft>
                <a:spcPts val="0"/>
              </a:spcAft>
            </a:pPr>
            <a:r>
              <a:rPr sz="850" b="1" i="0">
                <a:solidFill>
                  <a:srgbClr val="1E1E24"/>
                </a:solidFill>
                <a:latin typeface="Times New Roman"/>
              </a:rPr>
              <a:t>Returned: </a:t>
            </a:r>
            <a:r>
              <a:rPr sz="850" b="0" i="0">
                <a:solidFill>
                  <a:srgbClr val="1E1E24"/>
                </a:solidFill>
                <a:latin typeface="Times New Roman"/>
              </a:rPr>
              <a:t>the record goes back unchanged. Findings, map, and review history stay with the journal and travel only at the author's request, and reviewers' reports only with their consent.</a:t>
            </a:r>
            <a:endParaRPr sz="1000" i="0" dirty="0">
              <a:solidFill>
                <a:schemeClr val="tx1"/>
              </a:solidFill>
              <a:latin typeface="Times New Roman" panose="02020603050405020304" pitchFamily="18" charset="0"/>
              <a:cs typeface="Times New Roman" panose="02020603050405020304" pitchFamily="18" charset="0"/>
            </a:endParaRPr>
          </a:p>
        </p:txBody>
      </p:sp>
      <p:sp>
        <p:nvSpPr>
          <p:cNvPr id="48" name="S2b:T1:id"/>
          <p:cNvSpPr txBox="1"/>
          <p:nvPr/>
        </p:nvSpPr>
        <p:spPr>
          <a:xfrm>
            <a:off x="10653805" y="4573508"/>
            <a:ext cx="457200" cy="137160"/>
          </a:xfrm>
          <a:prstGeom prst="rect">
            <a:avLst/>
          </a:prstGeom>
          <a:noFill/>
        </p:spPr>
        <p:txBody>
          <a:bodyPr wrap="square" lIns="0" tIns="0" rIns="0" bIns="0" anchor="t">
            <a:noAutofit/>
          </a:bodyPr>
          <a:lstStyle/>
          <a:p>
            <a:pPr algn="l">
              <a:spcAft>
                <a:spcPts val="0"/>
              </a:spcAft>
            </a:pPr>
            <a:r>
              <a:rPr sz="700" b="0" i="0" dirty="0">
                <a:solidFill>
                  <a:schemeClr val="accent6"/>
                </a:solidFill>
                <a:latin typeface="Times New Roman" panose="02020603050405020304" pitchFamily="18" charset="0"/>
                <a:cs typeface="Times New Roman" panose="02020603050405020304" pitchFamily="18" charset="0"/>
              </a:rPr>
              <a:t>T1</a:t>
            </a:r>
          </a:p>
        </p:txBody>
      </p:sp>
      <p:sp>
        <p:nvSpPr>
          <p:cNvPr id="49" name="S2b:D2:no"/>
          <p:cNvSpPr txBox="1"/>
          <p:nvPr/>
        </p:nvSpPr>
        <p:spPr>
          <a:xfrm>
            <a:off x="3560000" y="4400000"/>
            <a:ext cx="720000" cy="329184"/>
          </a:xfrm>
          <a:prstGeom prst="rect">
            <a:avLst/>
          </a:prstGeom>
          <a:noFill/>
        </p:spPr>
        <p:txBody>
          <a:bodyPr wrap="square" lIns="0" tIns="0" rIns="0" bIns="0" anchor="ctr">
            <a:noAutofit/>
          </a:bodyPr>
          <a:lstStyle/>
          <a:p>
            <a:pPr algn="l">
              <a:spcAft>
                <a:spcPts val="0"/>
              </a:spcAft>
            </a:pPr>
            <a:r>
              <a:rPr sz="800" b="0" i="0">
                <a:solidFill>
                  <a:srgbClr val="1E1E24"/>
                </a:solidFill>
                <a:latin typeface="Times New Roman"/>
              </a:rPr>
              <a:t>no → standard action</a:t>
            </a:r>
            <a:endParaRPr sz="850" b="0" i="0" dirty="0">
              <a:solidFill>
                <a:schemeClr val="tx2"/>
              </a:solidFill>
              <a:latin typeface="Times New Roman" panose="02020603050405020304" pitchFamily="18" charset="0"/>
              <a:cs typeface="Times New Roman" panose="02020603050405020304" pitchFamily="18" charset="0"/>
            </a:endParaRPr>
          </a:p>
        </p:txBody>
      </p:sp>
      <p:sp>
        <p:nvSpPr>
          <p:cNvPr id="50" name="S2b:D2:yes"/>
          <p:cNvSpPr txBox="1"/>
          <p:nvPr/>
        </p:nvSpPr>
        <p:spPr>
          <a:xfrm>
            <a:off x="1900000" y="3000000"/>
            <a:ext cx="1500000" cy="329184"/>
          </a:xfrm>
          <a:prstGeom prst="rect">
            <a:avLst/>
          </a:prstGeom>
          <a:noFill/>
        </p:spPr>
        <p:txBody>
          <a:bodyPr wrap="square" lIns="0" tIns="0" rIns="0" bIns="0" anchor="t">
            <a:noAutofit/>
          </a:bodyPr>
          <a:lstStyle/>
          <a:p>
            <a:pPr algn="r">
              <a:spcAft>
                <a:spcPts val="0"/>
              </a:spcAft>
            </a:pPr>
            <a:r>
              <a:rPr sz="800" b="0" i="0">
                <a:solidFill>
                  <a:srgbClr val="1E1E24"/>
                </a:solidFill>
                <a:latin typeface="Times New Roman"/>
              </a:rPr>
              <a:t>yes → the reason is recorded in the review history; the departure rate is published</a:t>
            </a:r>
            <a:endParaRPr sz="850" b="0" i="0" dirty="0">
              <a:solidFill>
                <a:schemeClr val="tx2"/>
              </a:solidFill>
              <a:latin typeface="Times New Roman" panose="02020603050405020304" pitchFamily="18" charset="0"/>
              <a:cs typeface="Times New Roman" panose="02020603050405020304" pitchFamily="18" charset="0"/>
            </a:endParaRPr>
          </a:p>
        </p:txBody>
      </p:sp>
      <p:cxnSp>
        <p:nvCxnSpPr>
          <p:cNvPr id="51" name="S2b:M5&gt;H1"/>
          <p:cNvCxnSpPr>
            <a:cxnSpLocks/>
            <a:stCxn id="29" idx="2"/>
            <a:endCxn id="33" idx="3"/>
          </p:cNvCxnSpPr>
          <p:nvPr/>
        </p:nvCxnSpPr>
        <p:spPr>
          <a:xfrm>
            <a:off x="1948521" y="4290308"/>
            <a:ext cx="0" cy="245116"/>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S2b:H1&gt;D2"/>
          <p:cNvCxnSpPr>
            <a:cxnSpLocks/>
            <a:endCxn id="35" idx="1"/>
          </p:cNvCxnSpPr>
          <p:nvPr/>
        </p:nvCxnSpPr>
        <p:spPr>
          <a:xfrm flipV="1">
            <a:off x="2628940" y="5183513"/>
            <a:ext cx="169389" cy="6858"/>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S2b:D2&gt;H2"/>
          <p:cNvCxnSpPr>
            <a:cxnSpLocks/>
            <a:stCxn id="35" idx="3"/>
            <a:endCxn id="37" idx="1"/>
          </p:cNvCxnSpPr>
          <p:nvPr/>
        </p:nvCxnSpPr>
        <p:spPr>
          <a:xfrm flipV="1">
            <a:off x="4171627" y="5180076"/>
            <a:ext cx="129449" cy="3437"/>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S2b:H2&gt;H5"/>
          <p:cNvCxnSpPr>
            <a:cxnSpLocks/>
            <a:stCxn id="37" idx="3"/>
            <a:endCxn id="39" idx="1"/>
          </p:cNvCxnSpPr>
          <p:nvPr/>
        </p:nvCxnSpPr>
        <p:spPr>
          <a:xfrm>
            <a:off x="5674374" y="5180076"/>
            <a:ext cx="146305" cy="0"/>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5" name="S2b:H2&gt;A5"/>
          <p:cNvCxnSpPr>
            <a:cxnSpLocks/>
            <a:stCxn id="37" idx="0"/>
            <a:endCxn id="27" idx="1"/>
          </p:cNvCxnSpPr>
          <p:nvPr/>
        </p:nvCxnSpPr>
        <p:spPr>
          <a:xfrm rot="5400000" flipH="1" flipV="1">
            <a:off x="6082556" y="1739809"/>
            <a:ext cx="1682496" cy="3872158"/>
          </a:xfrm>
          <a:prstGeom prst="bentConnector2">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S2b:H2&gt;A5:label"/>
          <p:cNvSpPr txBox="1"/>
          <p:nvPr/>
        </p:nvSpPr>
        <p:spPr>
          <a:xfrm>
            <a:off x="7377706" y="2587752"/>
            <a:ext cx="1371600" cy="182880"/>
          </a:xfrm>
          <a:prstGeom prst="rect">
            <a:avLst/>
          </a:prstGeom>
          <a:noFill/>
        </p:spPr>
        <p:txBody>
          <a:bodyPr wrap="square" lIns="0" tIns="0" rIns="0" bIns="0" anchor="ctr">
            <a:noAutofit/>
          </a:bodyPr>
          <a:lstStyle/>
          <a:p>
            <a:pPr algn="ctr">
              <a:spcAft>
                <a:spcPts val="0"/>
              </a:spcAft>
            </a:pPr>
            <a:r>
              <a:rPr sz="800" b="0" i="0">
                <a:solidFill>
                  <a:srgbClr val="1E1E24"/>
                </a:solidFill>
                <a:latin typeface="Times New Roman"/>
              </a:rPr>
              <a:t>return (corrections, or without review)</a:t>
            </a:r>
            <a:endParaRPr sz="850" b="0" i="0" dirty="0">
              <a:solidFill>
                <a:schemeClr val="tx2"/>
              </a:solidFill>
              <a:latin typeface="Times New Roman" panose="02020603050405020304" pitchFamily="18" charset="0"/>
              <a:cs typeface="Times New Roman" panose="02020603050405020304" pitchFamily="18" charset="0"/>
            </a:endParaRPr>
          </a:p>
        </p:txBody>
      </p:sp>
      <p:cxnSp>
        <p:nvCxnSpPr>
          <p:cNvPr id="57" name="S2b:H5&gt;W"/>
          <p:cNvCxnSpPr>
            <a:cxnSpLocks/>
            <a:stCxn id="39" idx="3"/>
            <a:endCxn id="41" idx="2"/>
          </p:cNvCxnSpPr>
          <p:nvPr/>
        </p:nvCxnSpPr>
        <p:spPr>
          <a:xfrm flipV="1">
            <a:off x="7193977" y="5176169"/>
            <a:ext cx="173316" cy="3907"/>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S2b:E1&gt;W:label"/>
          <p:cNvSpPr txBox="1"/>
          <p:nvPr/>
        </p:nvSpPr>
        <p:spPr>
          <a:xfrm>
            <a:off x="6582388" y="4337110"/>
            <a:ext cx="1280160" cy="182880"/>
          </a:xfrm>
          <a:prstGeom prst="rect">
            <a:avLst/>
          </a:prstGeom>
          <a:noFill/>
        </p:spPr>
        <p:txBody>
          <a:bodyPr wrap="square" lIns="0" tIns="0" rIns="0" bIns="0" anchor="ctr">
            <a:noAutofit/>
          </a:bodyPr>
          <a:lstStyle/>
          <a:p>
            <a:pPr algn="l">
              <a:spcAft>
                <a:spcPts val="0"/>
              </a:spcAft>
            </a:pPr>
            <a:r>
              <a:rPr sz="800" b="0" i="0">
                <a:solidFill>
                  <a:srgbClr val="1E1E24"/>
                </a:solidFill>
                <a:latin typeface="Times New Roman"/>
              </a:rPr>
              <a:t>the map: input, not judgment</a:t>
            </a:r>
          </a:p>
        </p:txBody>
      </p:sp>
      <p:cxnSp>
        <p:nvCxnSpPr>
          <p:cNvPr id="60" name="S2b:W&gt;D3"/>
          <p:cNvCxnSpPr>
            <a:cxnSpLocks/>
            <a:stCxn id="41" idx="0"/>
            <a:endCxn id="44" idx="1"/>
          </p:cNvCxnSpPr>
          <p:nvPr/>
        </p:nvCxnSpPr>
        <p:spPr>
          <a:xfrm>
            <a:off x="8740591" y="5176169"/>
            <a:ext cx="140910" cy="1403"/>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S2b:D3&gt;A5"/>
          <p:cNvCxnSpPr>
            <a:cxnSpLocks/>
            <a:stCxn id="44" idx="0"/>
            <a:endCxn id="27" idx="2"/>
          </p:cNvCxnSpPr>
          <p:nvPr/>
        </p:nvCxnSpPr>
        <p:spPr>
          <a:xfrm flipH="1" flipV="1">
            <a:off x="9546532" y="3401568"/>
            <a:ext cx="21618" cy="1318804"/>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S2b:D3&gt;A5:label"/>
          <p:cNvSpPr txBox="1"/>
          <p:nvPr/>
        </p:nvSpPr>
        <p:spPr>
          <a:xfrm>
            <a:off x="9637972" y="3984498"/>
            <a:ext cx="548640" cy="182880"/>
          </a:xfrm>
          <a:prstGeom prst="rect">
            <a:avLst/>
          </a:prstGeom>
          <a:noFill/>
        </p:spPr>
        <p:txBody>
          <a:bodyPr wrap="square" lIns="0" tIns="0" rIns="0" bIns="0" anchor="ctr">
            <a:noAutofit/>
          </a:bodyPr>
          <a:lstStyle/>
          <a:p>
            <a:pPr algn="l">
              <a:spcAft>
                <a:spcPts val="0"/>
              </a:spcAft>
            </a:pPr>
            <a:r>
              <a:rPr sz="800" b="0" i="0">
                <a:solidFill>
                  <a:srgbClr val="1E1E24"/>
                </a:solidFill>
                <a:latin typeface="Times New Roman"/>
              </a:rPr>
              <a:t>revise</a:t>
            </a:r>
          </a:p>
        </p:txBody>
      </p:sp>
      <p:cxnSp>
        <p:nvCxnSpPr>
          <p:cNvPr id="63" name="S2b:D3&gt;T1"/>
          <p:cNvCxnSpPr>
            <a:cxnSpLocks/>
            <a:stCxn id="44" idx="3"/>
            <a:endCxn id="46" idx="1"/>
          </p:cNvCxnSpPr>
          <p:nvPr/>
        </p:nvCxnSpPr>
        <p:spPr>
          <a:xfrm flipV="1">
            <a:off x="10254799" y="5176169"/>
            <a:ext cx="206982" cy="1403"/>
          </a:xfrm>
          <a:prstGeom prst="line">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4" name="S2b:D3&gt;J3"/>
          <p:cNvCxnSpPr>
            <a:cxnSpLocks/>
            <a:stCxn id="44" idx="3"/>
            <a:endCxn id="25" idx="1"/>
          </p:cNvCxnSpPr>
          <p:nvPr/>
        </p:nvCxnSpPr>
        <p:spPr>
          <a:xfrm flipV="1">
            <a:off x="10254799" y="1627632"/>
            <a:ext cx="197838" cy="3549940"/>
          </a:xfrm>
          <a:prstGeom prst="bentConnector3">
            <a:avLst>
              <a:gd name="adj1" fmla="val 50000"/>
            </a:avLst>
          </a:prstGeom>
          <a:ln w="15875">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S2b:D3&gt;J3:label"/>
          <p:cNvSpPr txBox="1"/>
          <p:nvPr/>
        </p:nvSpPr>
        <p:spPr>
          <a:xfrm>
            <a:off x="10387584" y="3540328"/>
            <a:ext cx="914400" cy="182880"/>
          </a:xfrm>
          <a:prstGeom prst="rect">
            <a:avLst/>
          </a:prstGeom>
          <a:noFill/>
        </p:spPr>
        <p:txBody>
          <a:bodyPr wrap="square" lIns="0" tIns="0" rIns="0" bIns="0" anchor="ctr">
            <a:noAutofit/>
          </a:bodyPr>
          <a:lstStyle/>
          <a:p>
            <a:pPr algn="l">
              <a:spcAft>
                <a:spcPts val="0"/>
              </a:spcAft>
            </a:pPr>
            <a:r>
              <a:rPr sz="800" b="0" i="0">
                <a:solidFill>
                  <a:srgbClr val="1E1E24"/>
                </a:solidFill>
                <a:latin typeface="Times New Roman"/>
              </a:rPr>
              <a:t>publish + certify</a:t>
            </a:r>
          </a:p>
        </p:txBody>
      </p:sp>
      <p:sp>
        <p:nvSpPr>
          <p:cNvPr id="66" name="legend:role:journal" descr="frame"/>
          <p:cNvSpPr/>
          <p:nvPr/>
        </p:nvSpPr>
        <p:spPr>
          <a:xfrm>
            <a:off x="365760" y="6190488"/>
            <a:ext cx="146304" cy="146304"/>
          </a:xfrm>
          <a:prstGeom prst="rect">
            <a:avLst/>
          </a:prstGeom>
          <a:solidFill>
            <a:schemeClr val="accent1">
              <a:lumMod val="22000"/>
              <a:lumOff val="78000"/>
            </a:schemeClr>
          </a:solidFill>
          <a:ln w="952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7" name="legend:role:journal:t"/>
          <p:cNvSpPr txBox="1"/>
          <p:nvPr/>
        </p:nvSpPr>
        <p:spPr>
          <a:xfrm>
            <a:off x="557784" y="6144768"/>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Journal</a:t>
            </a:r>
          </a:p>
        </p:txBody>
      </p:sp>
      <p:sp>
        <p:nvSpPr>
          <p:cNvPr id="68" name="legend:role:author" descr="frame"/>
          <p:cNvSpPr/>
          <p:nvPr/>
        </p:nvSpPr>
        <p:spPr>
          <a:xfrm>
            <a:off x="1123798" y="6190488"/>
            <a:ext cx="146304" cy="146304"/>
          </a:xfrm>
          <a:prstGeom prst="rect">
            <a:avLst/>
          </a:prstGeom>
          <a:solidFill>
            <a:schemeClr val="accent2">
              <a:lumMod val="22000"/>
              <a:lumOff val="78000"/>
            </a:schemeClr>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9" name="legend:role:author:t"/>
          <p:cNvSpPr txBox="1"/>
          <p:nvPr/>
        </p:nvSpPr>
        <p:spPr>
          <a:xfrm>
            <a:off x="1315822" y="6144768"/>
            <a:ext cx="664769"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Author + AI</a:t>
            </a:r>
          </a:p>
        </p:txBody>
      </p:sp>
      <p:sp>
        <p:nvSpPr>
          <p:cNvPr id="70" name="legend:role:machine" descr="frame"/>
          <p:cNvSpPr/>
          <p:nvPr/>
        </p:nvSpPr>
        <p:spPr>
          <a:xfrm>
            <a:off x="2090318" y="6190488"/>
            <a:ext cx="146304" cy="146304"/>
          </a:xfrm>
          <a:prstGeom prst="rect">
            <a:avLst/>
          </a:prstGeom>
          <a:solidFill>
            <a:schemeClr val="accent3">
              <a:lumMod val="22000"/>
              <a:lumOff val="78000"/>
            </a:schemeClr>
          </a:solidFill>
          <a:ln w="9525">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1" name="legend:role:machine:t"/>
          <p:cNvSpPr txBox="1"/>
          <p:nvPr/>
        </p:nvSpPr>
        <p:spPr>
          <a:xfrm>
            <a:off x="2282342" y="6144768"/>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Machine</a:t>
            </a:r>
          </a:p>
        </p:txBody>
      </p:sp>
      <p:sp>
        <p:nvSpPr>
          <p:cNvPr id="72" name="legend:role:human" descr="frame"/>
          <p:cNvSpPr/>
          <p:nvPr/>
        </p:nvSpPr>
        <p:spPr>
          <a:xfrm>
            <a:off x="2848356" y="6190488"/>
            <a:ext cx="146304" cy="146304"/>
          </a:xfrm>
          <a:prstGeom prst="rect">
            <a:avLst/>
          </a:prstGeom>
          <a:solidFill>
            <a:schemeClr val="accent4">
              <a:lumMod val="22000"/>
              <a:lumOff val="78000"/>
            </a:schemeClr>
          </a:solidFill>
          <a:ln w="9525">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3" name="legend:role:human:t"/>
          <p:cNvSpPr txBox="1"/>
          <p:nvPr/>
        </p:nvSpPr>
        <p:spPr>
          <a:xfrm>
            <a:off x="3040380" y="6144768"/>
            <a:ext cx="716890"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Named people</a:t>
            </a:r>
          </a:p>
        </p:txBody>
      </p:sp>
      <p:sp>
        <p:nvSpPr>
          <p:cNvPr id="74" name="legend:state:built" descr="artifact"/>
          <p:cNvSpPr/>
          <p:nvPr/>
        </p:nvSpPr>
        <p:spPr>
          <a:xfrm>
            <a:off x="3976726" y="6185916"/>
            <a:ext cx="310896" cy="155448"/>
          </a:xfrm>
          <a:prstGeom prst="rect">
            <a:avLst/>
          </a:prstGeom>
          <a:solidFill>
            <a:schemeClr val="accent3">
              <a:lumMod val="22000"/>
              <a:lumOff val="78000"/>
            </a:schemeClr>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75" name="legend:state:built:t"/>
          <p:cNvSpPr txBox="1"/>
          <p:nvPr/>
        </p:nvSpPr>
        <p:spPr>
          <a:xfrm>
            <a:off x="4342486" y="6144768"/>
            <a:ext cx="873252" cy="237744"/>
          </a:xfrm>
          <a:prstGeom prst="rect">
            <a:avLst/>
          </a:prstGeom>
          <a:noFill/>
        </p:spPr>
        <p:txBody>
          <a:bodyPr wrap="square" lIns="0" tIns="0" rIns="0" bIns="0" anchor="ctr">
            <a:noAutofit/>
          </a:bodyPr>
          <a:lstStyle/>
          <a:p>
            <a:pPr algn="l">
              <a:spcAft>
                <a:spcPts val="0"/>
              </a:spcAft>
            </a:pPr>
            <a:r>
              <a:rPr sz="850" b="0" i="0">
                <a:solidFill>
                  <a:srgbClr val="1E1E24"/>
                </a:solidFill>
                <a:latin typeface="Times New Roman"/>
              </a:rPr>
              <a:t>runs in Mark 1</a:t>
            </a:r>
          </a:p>
        </p:txBody>
      </p:sp>
      <p:sp>
        <p:nvSpPr>
          <p:cNvPr id="76" name="legend:state:specified" descr="artifact"/>
          <p:cNvSpPr/>
          <p:nvPr/>
        </p:nvSpPr>
        <p:spPr>
          <a:xfrm>
            <a:off x="5325466" y="6185916"/>
            <a:ext cx="310896" cy="155448"/>
          </a:xfrm>
          <a:prstGeom prst="rect">
            <a:avLst/>
          </a:prstGeom>
          <a:solidFill>
            <a:schemeClr val="bg1"/>
          </a:solidFill>
          <a:ln w="12700">
            <a:solidFill>
              <a:schemeClr val="accent3"/>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77" name="legend:state:specified:t"/>
          <p:cNvSpPr txBox="1"/>
          <p:nvPr/>
        </p:nvSpPr>
        <p:spPr>
          <a:xfrm>
            <a:off x="5691226" y="6144768"/>
            <a:ext cx="821131"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specified only</a:t>
            </a:r>
          </a:p>
        </p:txBody>
      </p:sp>
      <p:sp>
        <p:nvSpPr>
          <p:cNvPr id="78" name="legend:state:stretch" descr="artifact"/>
          <p:cNvSpPr/>
          <p:nvPr/>
        </p:nvSpPr>
        <p:spPr>
          <a:xfrm>
            <a:off x="6622085" y="6185916"/>
            <a:ext cx="310896" cy="155448"/>
          </a:xfrm>
          <a:prstGeom prst="rect">
            <a:avLst/>
          </a:prstGeom>
          <a:solidFill>
            <a:schemeClr val="bg1"/>
          </a:solidFill>
          <a:ln w="12700">
            <a:solidFill>
              <a:schemeClr val="accent3"/>
            </a:solidFill>
            <a:prstDash val="dash"/>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noAutofit/>
          </a:bodyPr>
          <a:lstStyle/>
          <a:p>
            <a:pPr algn="ctr">
              <a:spcAft>
                <a:spcPts val="0"/>
              </a:spcAft>
            </a:pPr>
            <a:endParaRPr>
              <a:latin typeface="Times New Roman" panose="02020603050405020304" pitchFamily="18" charset="0"/>
              <a:cs typeface="Times New Roman" panose="02020603050405020304" pitchFamily="18" charset="0"/>
            </a:endParaRPr>
          </a:p>
        </p:txBody>
      </p:sp>
      <p:sp>
        <p:nvSpPr>
          <p:cNvPr id="79" name="legend:state:stretch:t"/>
          <p:cNvSpPr txBox="1"/>
          <p:nvPr/>
        </p:nvSpPr>
        <p:spPr>
          <a:xfrm>
            <a:off x="6987845" y="6144768"/>
            <a:ext cx="456286"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stretch</a:t>
            </a:r>
          </a:p>
        </p:txBody>
      </p:sp>
      <p:sp>
        <p:nvSpPr>
          <p:cNvPr id="83" name="legend:decision"/>
          <p:cNvSpPr/>
          <p:nvPr/>
        </p:nvSpPr>
        <p:spPr>
          <a:xfrm>
            <a:off x="8819388" y="6163056"/>
            <a:ext cx="237744" cy="201168"/>
          </a:xfrm>
          <a:prstGeom prst="diamond">
            <a:avLst/>
          </a:prstGeom>
          <a:solidFill>
            <a:schemeClr val="bg1"/>
          </a:solidFill>
          <a:ln>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84" name="legend:decision:t"/>
          <p:cNvSpPr txBox="1"/>
          <p:nvPr/>
        </p:nvSpPr>
        <p:spPr>
          <a:xfrm>
            <a:off x="9111996" y="6144768"/>
            <a:ext cx="1290218" cy="237744"/>
          </a:xfrm>
          <a:prstGeom prst="rect">
            <a:avLst/>
          </a:prstGeom>
          <a:noFill/>
        </p:spPr>
        <p:txBody>
          <a:bodyPr wrap="square" lIns="0" tIns="0" rIns="0" bIns="0" anchor="ctr">
            <a:noAutofit/>
          </a:bodyPr>
          <a:lstStyle/>
          <a:p>
            <a:pPr algn="l">
              <a:spcAft>
                <a:spcPts val="0"/>
              </a:spcAft>
            </a:pPr>
            <a:r>
              <a:rPr sz="850" b="0" i="0">
                <a:solidFill>
                  <a:schemeClr val="tx2"/>
                </a:solidFill>
                <a:latin typeface="Times New Roman" panose="02020603050405020304" pitchFamily="18" charset="0"/>
                <a:cs typeface="Times New Roman" panose="02020603050405020304" pitchFamily="18" charset="0"/>
              </a:rPr>
              <a:t>decision: a person only</a:t>
            </a:r>
          </a:p>
        </p:txBody>
      </p:sp>
      <p:cxnSp>
        <p:nvCxnSpPr>
          <p:cNvPr id="85" name="S2b:D2&gt;J2"/>
          <p:cNvCxnSpPr>
            <a:stCxn id="35" idx="0"/>
          </p:cNvCxnSpPr>
          <p:nvPr/>
        </p:nvCxnSpPr>
        <p:spPr>
          <a:xfrm flipV="1">
            <a:off x="3484978" y="1856232"/>
            <a:ext cx="0" cy="2870081"/>
          </a:xfrm>
          <a:prstGeom prst="line">
            <a:avLst/>
          </a:prstGeom>
          <a:ln w="9525">
            <a:solidFill>
              <a:schemeClr val="tx2"/>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86" name="S2b:A5&gt;J2"/>
          <p:cNvCxnSpPr>
            <a:stCxn id="27" idx="0"/>
          </p:cNvCxnSpPr>
          <p:nvPr/>
        </p:nvCxnSpPr>
        <p:spPr>
          <a:xfrm flipV="1">
            <a:off x="8924544" y="1856232"/>
            <a:ext cx="0" cy="411480"/>
          </a:xfrm>
          <a:prstGeom prst="line">
            <a:avLst/>
          </a:prstGeom>
          <a:ln w="9525">
            <a:solidFill>
              <a:schemeClr val="tx2"/>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87" name="S2b:A5&gt;J2:label"/>
          <p:cNvSpPr txBox="1"/>
          <p:nvPr/>
        </p:nvSpPr>
        <p:spPr>
          <a:xfrm>
            <a:off x="7315200" y="1900000"/>
            <a:ext cx="1550000" cy="182880"/>
          </a:xfrm>
          <a:prstGeom prst="rect">
            <a:avLst/>
          </a:prstGeom>
          <a:noFill/>
        </p:spPr>
        <p:txBody>
          <a:bodyPr wrap="square" lIns="0" tIns="0" rIns="0" bIns="0" anchor="ctr">
            <a:noAutofit/>
          </a:bodyPr>
          <a:lstStyle/>
          <a:p>
            <a:pPr algn="r">
              <a:spcAft>
                <a:spcPts val="0"/>
              </a:spcAft>
            </a:pPr>
            <a:r>
              <a:rPr sz="850" b="0" i="0">
                <a:solidFill>
                  <a:schemeClr val="tx2"/>
                </a:solidFill>
                <a:latin typeface="Times New Roman" panose="02020603050405020304" pitchFamily="18" charset="0"/>
                <a:cs typeface="Times New Roman" panose="02020603050405020304" pitchFamily="18" charset="0"/>
              </a:rPr>
              <a:t>each round is recorded</a:t>
            </a:r>
          </a:p>
        </p:txBody>
      </p:sp>
      <p:sp>
        <p:nvSpPr>
          <p:cNvPr id="88" name="S2b:D3&gt;T1:label"/>
          <p:cNvSpPr txBox="1"/>
          <p:nvPr/>
        </p:nvSpPr>
        <p:spPr>
          <a:xfrm>
            <a:off x="10003536" y="4809744"/>
            <a:ext cx="338328" cy="170000"/>
          </a:xfrm>
          <a:prstGeom prst="rect">
            <a:avLst/>
          </a:prstGeom>
          <a:noFill/>
        </p:spPr>
        <p:txBody>
          <a:bodyPr wrap="square" lIns="0" tIns="0" rIns="0" bIns="0" anchor="ctr">
            <a:noAutofit/>
          </a:bodyPr>
          <a:lstStyle/>
          <a:p>
            <a:pPr algn="r">
              <a:spcAft>
                <a:spcPts val="0"/>
              </a:spcAft>
            </a:pPr>
            <a:r>
              <a:rPr sz="750" b="0" i="0">
                <a:solidFill>
                  <a:srgbClr val="1E1E24"/>
                </a:solidFill>
                <a:latin typeface="Times New Roman"/>
              </a:rPr>
              <a:t>nothing</a:t>
            </a:r>
          </a:p>
        </p:txBody>
      </p:sp>
      <p:cxnSp>
        <p:nvCxnSpPr>
          <p:cNvPr id="89" name="Connector 88"/>
          <p:cNvCxnSpPr/>
          <p:nvPr/>
        </p:nvCxnSpPr>
        <p:spPr>
          <a:xfrm>
            <a:off x="6510528" y="4343400"/>
            <a:ext cx="0" cy="173736"/>
          </a:xfrm>
          <a:prstGeom prst="line">
            <a:avLst/>
          </a:prstGeom>
          <a:ln w="12700">
            <a:solidFill>
              <a:srgbClr val="9A9EA6"/>
            </a:solidFill>
            <a:prstDash val="sysDot"/>
          </a:ln>
        </p:spPr>
        <p:style>
          <a:lnRef idx="2">
            <a:schemeClr val="accent1"/>
          </a:lnRef>
          <a:fillRef idx="0">
            <a:schemeClr val="accent1"/>
          </a:fillRef>
          <a:effectRef idx="1">
            <a:schemeClr val="accent1"/>
          </a:effectRef>
          <a:fontRef idx="minor">
            <a:schemeClr val="tx1"/>
          </a:fontRef>
        </p:style>
      </p:cxnSp>
      <p:sp>
        <p:nvSpPr>
          <p:cNvPr id="90" name="Document 89"/>
          <p:cNvSpPr/>
          <p:nvPr/>
        </p:nvSpPr>
        <p:spPr>
          <a:xfrm>
            <a:off x="9079992" y="1097280"/>
            <a:ext cx="1316736" cy="1060704"/>
          </a:xfrm>
          <a:prstGeom prst="flowChartDocument">
            <a:avLst/>
          </a:prstGeom>
          <a:solidFill>
            <a:schemeClr val="accent1">
              <a:lumMod val="22000"/>
              <a:lumOff val="78000"/>
            </a:schemeClr>
          </a:solidFill>
          <a:ln w="12700">
            <a:solidFill>
              <a:schemeClr val="accent1"/>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lIns="64008" rIns="64008" tIns="155448" bIns="36576" wrap="square"/>
          <a:lstStyle/>
          <a:p>
            <a:pPr algn="ctr"/>
            <a:r>
              <a:rPr sz="700" b="1" i="0">
                <a:solidFill>
                  <a:srgbClr val="1E1E24"/>
                </a:solidFill>
                <a:latin typeface="Times New Roman"/>
              </a:rPr>
              <a:t>Publication: </a:t>
            </a:r>
            <a:r>
              <a:rPr sz="700" b="0" i="0">
                <a:solidFill>
                  <a:srgbClr val="1E1E24"/>
                </a:solidFill>
                <a:latin typeface="Times New Roman"/>
              </a:rPr>
              <a:t>the article — paper and appendix — as the journal's version of record, with a DOI; the record linked at its tier. Issued with the certificate, never without it.</a:t>
            </a:r>
          </a:p>
        </p:txBody>
      </p:sp>
      <p:sp>
        <p:nvSpPr>
          <p:cNvPr id="91" name="TextBox 90"/>
          <p:cNvSpPr txBox="1"/>
          <p:nvPr/>
        </p:nvSpPr>
        <p:spPr>
          <a:xfrm>
            <a:off x="9125712" y="1124712"/>
            <a:ext cx="457200" cy="137160"/>
          </a:xfrm>
          <a:prstGeom prst="rect">
            <a:avLst/>
          </a:prstGeom>
          <a:noFill/>
        </p:spPr>
        <p:txBody>
          <a:bodyPr wrap="square" lIns="27432" rIns="27432" tIns="18288" bIns="18288" anchor="t">
            <a:spAutoFit/>
          </a:bodyPr>
          <a:lstStyle/>
          <a:p>
            <a:pPr algn="l"/>
            <a:r>
              <a:rPr sz="700" b="0" i="0">
                <a:solidFill>
                  <a:srgbClr val="5C6068"/>
                </a:solidFill>
                <a:latin typeface="Times New Roman"/>
              </a:rPr>
              <a:t>J4</a:t>
            </a:r>
          </a:p>
        </p:txBody>
      </p:sp>
    </p:spTree>
  </p:cSld>
  <p:clrMapOvr>
    <a:masterClrMapping/>
  </p:clrMapOvr>
</p:sld>
</file>

<file path=ppt/theme/theme1.xml><?xml version="1.0" encoding="utf-8"?>
<a:theme xmlns:a="http://schemas.openxmlformats.org/drawingml/2006/main" name="DRT system diagrams">
  <a:themeElements>
    <a:clrScheme name="DRT system diagrams">
      <a:dk1>
        <a:srgbClr val="1E1E24"/>
      </a:dk1>
      <a:lt1>
        <a:srgbClr val="FFFFFF"/>
      </a:lt1>
      <a:dk2>
        <a:srgbClr val="3C4048"/>
      </a:dk2>
      <a:lt2>
        <a:srgbClr val="F2F3F5"/>
      </a:lt2>
      <a:accent1>
        <a:srgbClr val="34435E"/>
      </a:accent1>
      <a:accent2>
        <a:srgbClr val="BF8F2E"/>
      </a:accent2>
      <a:accent3>
        <a:srgbClr val="1C7C8C"/>
      </a:accent3>
      <a:accent4>
        <a:srgbClr val="7B3B5E"/>
      </a:accent4>
      <a:accent5>
        <a:srgbClr val="E09F3E"/>
      </a:accent5>
      <a:accent6>
        <a:srgbClr val="8A8F98"/>
      </a:accent6>
      <a:hlink>
        <a:srgbClr val="1C7C8C"/>
      </a:hlink>
      <a:folHlink>
        <a:srgbClr val="7B3B5E"/>
      </a:folHlink>
    </a:clrScheme>
    <a:fontScheme name="DRT system diagrams">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640</TotalTime>
  <Words>2703</Words>
  <Application>Microsoft Office PowerPoint</Application>
  <PresentationFormat>Widescreen</PresentationFormat>
  <Paragraphs>280</Paragraphs>
  <Slides>6</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Arial</vt:lpstr>
      <vt:lpstr>Calibri</vt:lpstr>
      <vt:lpstr>Cambria</vt:lpstr>
      <vt:lpstr>Times New Roman</vt:lpstr>
      <vt:lpstr>DRT system diagrams</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K1nslay3r</dc:creator>
  <cp:keywords/>
  <dc:description>generated using python-pptx</dc:description>
  <cp:lastModifiedBy>Dimitrija Kalanoski</cp:lastModifiedBy>
  <cp:revision>13</cp:revision>
  <dcterms:created xsi:type="dcterms:W3CDTF">2013-01-27T09:14:16Z</dcterms:created>
  <dcterms:modified xsi:type="dcterms:W3CDTF">2026-10-14T16:20:51Z</dcterms:modified>
  <cp:category/>
</cp:coreProperties>
</file>